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embeddedFontLst>
    <p:embeddedFont>
      <p:font typeface="JetBrains Mono" panose="02000009000000000000" pitchFamily="49" charset="0"/>
      <p:regular r:id="rId45"/>
      <p:bold r:id="rId46"/>
    </p:embeddedFont>
    <p:embeddedFont>
      <p:font typeface="Rubik" pitchFamily="34" charset="0"/>
      <p:regular r:id="rId47"/>
      <p:bold r:id="rId4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 Id="rId45" Type="http://schemas.openxmlformats.org/officeDocument/2006/relationships/font" Target="fonts/font1.fntdata"/><Relationship Id="rId46" Type="http://schemas.openxmlformats.org/officeDocument/2006/relationships/font" Target="fonts/font2.fntdata"/><Relationship Id="rId47" Type="http://schemas.openxmlformats.org/officeDocument/2006/relationships/font" Target="fonts/font3.fntdata"/><Relationship Id="rId48"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(2 min). Mostrar la aplicación terminada funcionando: GUI.py con tres masas, pestaña Animación y luego Modos normales. Objetivo de la clase: al terminar, cada estudiante entiende la física del problema, la arquitectura del código y cómo convertirlo en una librería que cualquiera instala con pip install. Antes de clase, cada estudiante descomprime el proyecto y, dentro de su carpeta, ejecuta: python -m venv .venv, activa el entorno con .venv\Scripts\Activate.ps1 y ejecuta python -m pip install -e ".[gui,dev]". La diapositiva de la etapa 7 «Instalar el proyecto como un profesional» explica estos comandos.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(1 min). Cada etapa termina con un archivo o un resultado concreto. Recomendación: entregar el proyecto completo al inicio y construirlo «en vivo» por etapas, copiando cada bloque de código cuando aparezca en pantalla; quien se atrase puede tomar el archivo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1, 0:00 a 0:05. Dibujar en el tablero la cadena y deducir la fuerza sobre la masa i: el resorte de la izquierda la jala hacia la izquierda si xᵢ &gt; xᵢ₋₁ y el de la derecha hacia la derecha si xᵢ₊₁ &gt; xᵢ. Convención del código: la lista de constantes siempre tiene N + 1 valores (pared–m₁, m₁–m₂, …, mₙ–pared); poner 0 en un extremo lo deja libre. Pregunta para el grupo: ¿qué pasa si ambos extremos son libres? (aparece un modo de frecuencia cero: traslación rígida).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1, 0:05 a 0:11. Construir K fila por fila a partir de la ecuación de la diapositiva anterior. Hacer notar que K es tridiagonal y simétrica, y que M es diagonal y positiva. Ventaja de la transformación con M a la −½: sólo se necesita NumPy (sin SciPy) y los modos quedan normalizados respecto a la masa, Φᵀ M Φ = I, lo que simplifica la solución exacta en la etapa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1, 0:11 a 0:15. Resolver en el tablero el determinante de K − ω²M para 2×2 y llegar a estas dos frecuencias. Mensaje clave: antes de programar, tener casos con respuesta conocida. Estos números se usarán como prueba automática. Cualquier condición inicial es una superposición de los dos modos; si se excita uno solo, el sistema oscila con una única frecuencia (botón «Excitar modo» de la GUI).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2, 0:15 a 0:20. Preguntar: si mañana queremos una versión web o un notebook de Jupyter, ¿qué archivos habría que reescribir? Con esta separación, sólo la interfaz. Esta es también la razón por la que podemos publicar la lógica en PyPI sin arrastrar tkinter ni matplotlib como dependencias obligatorias: la única dependencia del paquete es NumPy.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2, 0:20 a 0:22. Plantear el problema antes de mostrar el patrón. La tarea es siempre la misma (obtener x(t) a partir del sistema y de x0, v0), pero hay cuatro formas de hacerla: una exacta y tres numéricas. Preguntar al grupo cómo lo organizarían. Lo natural es la cadena de if/elif de la izquierda: funciona, pero cada método nuevo obliga a abrir y modificar la misma función, la GUI necesita conocer la lista de nombres, y un error en un método puede romper los otros. A la derecha, cada método es una clase y cambiarlo es una sola asignación. Esa es la idea del patrón Strategy: separar el «qué» (resolver) del «cómo» (el algoritmo).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2, 0:22 a 0:26. Analogía: el Simulador es un GPS y las estrategias son las rutas (más rápida, sin peajes, a pie): el destino es el mismo y el GPS no cambia. Aquí el «destino» es x(t) y las rutas son los métodos. Señalar que IntegradorNumerico implementa resolver una sola vez (Template Method) y las tres subclases sólo escriben paso(): unas pocas líneas cada 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2, 0:26 a 0:29. Cuatro razones: (1) comparar métodos es el objetivo de la clase, y con Strategy basta cambiar sim.estrategia; las cuatro estrategias devuelven el mismo Resultado, así que la comparación es justa por construcción. (2) La GUI sólo pide la lista a la fábrica y llama a ejecutar: un método nuevo aparece en el menú sin editar GUI.py. (3) SistemaOsciladores describe la física y las estrategias describen cómo integrar; heredar SistemaRK4(SistemaOsciladores) mezclaría ambas cosas. (4) Cada estrategia se prueba contra la exacta, y al agregar amortiguamiento (reto 1) la exacta deja de servir mientras las numéricas siguen: el patrón hace visible esa diferencia. Precisión honesta: en Python las funciones son objetos, así que Strategy podría hacerse pasando funciones (resolver(..., paso=verlet)) con menos código. Se usaron clases porque cada estrategia necesita un nombre para la GUI y el Resultado, comparten utilidades como _malla_temporal y el objetivo del curso es practicar programación orientada a objetos. Para un programa de un solo uso sería más código del necesario; para una librería que se publica y que los estudiantes extenderán, se justifica.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2, 0:29 a 0:30. No es necesario profundizar en los tres patrones de apoyo; basta con que reconozcan dónde aparecen cuando lean el código. Insistir en el principio abierto/cerrado: el código está abierto a extensión (nuevos métodos) y cerrado a modificación (no se edita lo que ya funciona y está probado).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3, 0:30 a 0:33. Glosario para quienes no programan habitualmente. Escribir en la consola de Python un ejemplo mínimo: class Perro: def __init__(self, nombre): self.nombre = nombre; luego p = Perro('Toby') y p.nombre. Con ese ejemplo, todo lo demás de la etapa se entiende: SistemaOsciladores es el molde, sistema = SistemaOsciladores(...) es el objeto concreto, y self._m es un dato que ese objeto recuerda.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3, 0:33 a 0:37. Escribir la clase en vivo. Discutir por qué la validación va en el constructor y no en la GUI: cualquier interfaz futura queda protegida. El archivo completo también tiene aceleracion(x) = −M⁻¹K x y energia(x, v), ambas vectorizadas: aceptan un estado o una trayectoria completa. Probar en la consola: SistemaOsciladores([1, 1], [10, 5, 10]).matriz_rigidez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3, 0:37 a 0:40. Recorrer el ciclo con los estudiantes como si fuéramos el computador, usando el ejemplo de la derecha. Que cada uno lo verifique en la consola con SistemaOsciladores([1, 1], [10, 5, 10]).matriz_rigidez. Pregunta: ¿qué pasaría si se olvidara la segunda asignación K[i + 1, i]? (K dejaría de ser simétrica y eigh daría resultados incorrectos).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3, 0:40 a 0:43. Relacionar cada línea con la diapositiva de matrices. eigh es para matrices simétricas: es más rápido y estable que eig y devuelve autovalores ordenados de menor a mayor. El clip a cero evita raíces de números como −1e−16 en sistemas libres. En el archivo final el resultado se guarda en caché y se fija el signo de cada modo. Actividad: calcular en consola las frecuencias de 2 masas y compararlas con el tablero.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3, 0:43 a 0:46. Insistir en que no hace falta entender el algoritmo interno de eigh: basta saber qué recibe (una matriz simétrica) y qué devuelve (autovalores y autovectores). Así se trabaja en ciencia con librerías. Hacer la comprobación de la derecha en vivo; con m = 1 y k = 10, √10 ≈ 3.162 y √30 ≈ 5.477.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3, 0:46 a 0:48. Un dataclass evita escribir __init__ y __repr__ a mano. Todas las estrategias devuelven este mismo tipo de objeto: esa es la «promesa» común del patrón Strategy, y lo que permite que la GUI grafique cualquier método sin saber cuál fue. El error relativo de energía será la base del experimento de la etapa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3, 0:48 a 0:50. Los números de la tabla son reales: tres masas de 1 kg, k = 10 N/m y la masa 1 desplazada 0.5 m. Mostrar cómo la energía pasa de la masa 1 a las demás. En la consola: res.x[:5], res.x.shape, res.x[:, 0]. Quien conozca Excel puede pensar en res.x como una hoja con una fila por instante y una columna por masa; res.a_csv('datos.csv') la exporta para abrirla allí.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4, 0:50 a 0:53. ABC y @abstractmethod impiden instanciar Integrador directamente: Python obliga a cada estrategia a implementar resolver. La estrategia exacta es la referencia contra la cual mediremos a las demás. Pregunta: ¿por qué no usar siempre la exacta? Porque sólo existe para sistemas lineales sin amortiguamiento ni fuerzas externas; los métodos numéricos sirven para todo.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4, 0:53 a 0:56. La analogía musical ayuda: una condición inicial es un acorde; los modos normales son las notas puras. Cada nota suena a su propia frecuencia sin molestar a las demás, y lo que oímos es la suma. Por eso la solución es exacta: cada modo es un oscilador armónico simple cuya solución se conoce. El símbolo @ aparece con dos significados en Python; aclararlo evita mucha confusión.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4, 0:56 a 0:58. Mostrar el bucle una sola vez y luego las tres implementaciones de paso() en el archivo core.py (Euler: 2 líneas, Verlet: 4, RK4: 8). Hacer notar que ningún método sabe de GUI ni de gráficas: reciben arreglos y devuelven arreglos.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4, 0:58 a 1:01. Leer la receta en voz alta como un procedimiento de laboratorio. Hacer un paso a mano con una sola masa (m = 1, k = 1, x = 1, v = 0, dt = 0.1): a = −1, x_n = 0.995, a_n = −0.995, v_n = −0.09975. Comparar con Euler: x_n = 1, v_n = −0.1. La diferencia parece pequeña, pero repetida 2000 veces decide si la energía se conserva.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4, 1:01 a 1:05. Ejecutar en vivo ejemplo_consola.py o el botón «Comparar energía de todos los métodos» de la GUI; los números de esta diapositiva salen de ese script. Preguntas: ¿qué pasa con Euler si dt = 0.001? (mejora pero sigue creciendo). ¿Y con Verlet si t_final = 2000 s? (sigue acotado). ¿RK4 en tiempos muy largos? (deriva poco a poco). Conclusión física: un método que no respeta la estructura del problema puede inventar energía.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4, 1:05 a 1:08. La fábrica guarda clases en un diccionario cuya clave es el atributo nombre. La GUI llama a FabricaIntegradores.disponibles() para llenar el menú desplegable, así que nunca hay que editar la GUI para agregar un método. Solución del reto: class EulerCromer(IntegradorNumerico) con nombre = "Euler-Cromer" y paso que devuelve (x + v_n*dt, v_n) con v_n = v + sistema.aceleracion(x)*dt. Es simplético: su energía queda acotada, a diferencia de Euler explícito.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4, 1:08 a 1:10. Hacer la diferencia entre una clase (VelocityVerlet, el molde) y un objeto (VelocityVerlet(), un integrador listo para usar): la fábrica guarda moldes y entrega objetos. Si no hubo tiempo para el reto de Euler-Cromer, dejarlo como tarea: con esta diapositiva tienen todo lo necesario.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5, 1:10 a 1:15. Abrir GUI.py y recorrer: _crear_panel_entrada (ttk.Entry y StringVar), _crear_pestanas (ttk.Notebook), la clase PanelGrafica que incrusta una figura de matplotlib, y _dibujar_cuadro que dibuja paredes, resortes en zigzag y masas. La gráfica de la diapositiva son las posiciones reales de 3 masas con x₁(0) = 0.5 m. En Linux puede faltar tkinter: sudo apt install python3-tk.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5, 1:15 a 1:19. Seguir el flujo con el dedo: la GUI nunca calcula física. suscribir() recibe una función; cuando el Simulador termina, la llama con el Resultado. Así la lógica avisa sin importar tkinter. Actividad: ejecutar python GUI.py, excitar el modo 2 con 3 masas (la masa central queda quieta) y luego cambiar el método a Euler explícito y ver crecer la energía.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5, 1:19 a 1:25. Actividad: ejecutar python GUI.py y provocar errores a propósito (escribir letras en las masas, poner 2 constantes para 3 masas) para ver el try/except en acción. Luego excitar el modo 2 con 3 masas y cambiar el método a Euler explícito. La idea del callback es la más abstracta de la clase: usar la analogía de dejar el número de teléfono en lugar de quedarse esperando en la fila.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6, 1:25 a 1:29. Con el entorno virtual activo (y el proyecto instalado con el extra dev), correr pytest -v. Romper algo a propósito (por ejemplo, cambiar k[i] + k[i + 1] por k[i] en la matriz de rigidez) y ver qué pruebas fallan: así se entiende para qué sirven. Las pruebas no se publican en PyPI, pero el repositorio sí debe tenerlas.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6, 1:29 a 1:35. Mostrar en vivo una prueba que falla: en core.py cambiar K[i, i] = k[i] + k[i + 1] por K[i, i] = k[i], correr pytest y leer juntos el mensaje. Luego deshacer el cambio y ver todo en verde. Recalcar que 0.1 + 0.2 == 0.3 da False en Python; por eso en física numérica siempre se compara con tolerancia.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7, 1:35 a 1:37. El diseño src/ obliga a instalar el paquete para usarlo, así los errores de empaquetado aparecen antes de publicar. pyproject.toml reemplaza al antiguo setup.py. matplotlib es una dependencia opcional (extra «gui»): quien sólo quiere la lógica instala únicamente NumPy. Advertencia: el nombre debe ser único en PyPI; cada estudiante puede usar osciladores-acoplados-sunombre.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7, 1:37 a 1:40. Mostrar el error en vivo: abrir una terminal nueva sin activar el entorno y ejecutar python GUI.py. Leer el mensaje de abajo hacia arriba: la última línea dice qué pasó y las de arriba dónde. Luego activar el entorno (el prompt muestra (.venv)) y todo funciona. Si PowerShell bloquea Activate.ps1, ejecutar una vez Set-ExecutionPolicy -Scope CurrentUser RemoteSigned. Para saber qué copia de la librería se está usando: python -c "import osciladores_acoplados as oa; print(oa.__file__)". Si la ruta termina en src, es la instalación editable; si está en site-packages, es una copia y los cambios en core.py no se verán hasta reinstalar.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7, 1:40 a 1:41. Sólo el mapa general: las cinco diapositivas siguientes detallan cada paso con los comandos exactos. Antes de clase: crear cuentas en test.pypi.org y pypi.org (son independientes y exigen autenticación de dos factores) y generar un token de API en cada una. Con twine, el usuario es __token__ y la contraseña es el token. En el paso 5 hay que agregar --extra-index-url https://pypi.org/simple/ porque NumPy no está en TestPyPI. PyPI nunca acepta dos veces la misma versión: para publicar cambios hay que subir el número de versión. Todo el detalle está en PUBLICAR_PYPI.md.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7, 1:41 a 1:43. Abrir pyproject.toml y editarlo en vivo. Todo lo que se ve en la página del proyecto en test.pypi.org y en pypi.org sale de aquí: el nombre forma la URL, description es el subtítulo, el README completo es el cuerpo de la página y [project.urls] son los enlaces laterales. Antes de elegir el nombre, buscarlo en pypi.org y en test.pypi.org: si existe en cualquiera de los dos, la subida falla con 403. Por eso cada estudiante usa su propio sufijo. Recordar abrir src/osciladores_acoplados/__init__.py y poner la misma versión en __version__.</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7, 1:43 a 1:46. Ejecutar los comandos en vivo, en PowerShell, con el entorno activo (el prompt muestra (.venv)). python -m build lee pyproject.toml, crea un entorno temporal, instala setuptools y genera dos archivos en dist/, por ejemplo osciladores_acoplados_sunombre-0.1.0.tar.gz y osciladores_acoplados_sunombre-0.1.0-py3-none-any.whl: el guion del nombre se convierte en guion bajo. Se borra dist/ antes de construir para no subir por error archivos de versiones viejas. twine check debe decir PASSED para ambos archivos; si dice FAILED, casi siempre es un error en el README o en pyproject.toml.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7, 1:46 a 1:49. Hacer esto ANTES de la clase: el registro y la autenticación de dos factores toman tiempo. TestPyPI y PyPI son sitios separados: la cuenta, la contraseña y el token de uno no sirven en el otro. Para crear el token: iniciar sesión, Account settings, sección API tokens, Add API token. La primera vez el alcance debe ser «Entire account» porque el proyecto aún no existe; después de la primera subida conviene crear un token limitado sólo a ese proyecto y reemplazarlo. El token empieza por pypi- y se muestra una única vez: copiarlo de inmediato al archivo .pypirc, que va en la carpeta personal del usuario (en Windows C:\Users\SU_USUARIO\.pypirc; en Linux y macOS ~/.pypirc). El usuario es literalmente __token__. Si no se crea .pypirc, twine pedirá usuario y contraseña en la consola: escribir __token__ y pegar el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7, 1:49 a 1:52. Subir y abrir en el navegador la dirección que imprime twine: allí se ve la página del proyecto con el README. Para probar, crear un entorno nuevo en otra carpeta: así se comprueba la instalación como la haría un desconocido, sin el código fuente cerca. --index-url le dice a pip que busque el paquete en TestPyPI, y --extra-index-url que busque las dependencias (NumPy) en PyPI. Si la última línea imprime 0.1.0, el paquete funciona. Si algo está mal, se corrige, se sube la versión (0.1.1), se reconstruye y se repite este paso: en TestPyPI equivocarse no cuesta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7, 1:52 a 1:55. Sin --repository, twine sube a PyPI y usa la sección [pypi] de .pypirc. Se suben exactamente los mismos archivos que ya se probaron en TestPyPI: no se reconstruye entre un paso y otro. Abrir la página en pypi.org. Luego, en cualquier computador: pip install "osciladores-acoplados-sunombre[gui]" instala la librería con matplotlib, y el import sigue siendo import osciladores_acoplados. Si hay tiempo, pedir a un estudiante que lo instale en su equipo. Una versión publicada en PyPI no se puede reemplazar: por eso primero se ensaya en TestPyPI.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1:55 a 2:00. Recapitular las tres ideas: (1) el problema físico se reduce a dos matrices y un problema de autovalores; (2) separar lógica e interfaz y usar Strategy hace que el código crezca sin romperse; (3) con pyproject.toml, build y twine cualquier trabajo de clase puede convertirse en una librería instalable. El reto 1 rompe la estrategia exacta: los modos normales con amortiguamiento general no son reales; es una buena discusión física para la siguiente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932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4213D"/>
                </a:solidFill>
                <a:latin typeface="Rubik" pitchFamily="34" charset="0"/>
                <a:ea typeface="Rubik" pitchFamily="34" charset="-122"/>
                <a:cs typeface="Rubik"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972270"/>
            <a:ext cx="10566400" cy="407293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932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4213D"/>
                </a:solidFill>
                <a:latin typeface="Rubik" pitchFamily="34" charset="0"/>
                <a:ea typeface="Rubik" pitchFamily="34" charset="-122"/>
                <a:cs typeface="Rubik"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972270"/>
            <a:ext cx="10566400" cy="407293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2.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2.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A2BF"/>
                </a:solidFill>
                <a:latin typeface="IBM Plex Sans" pitchFamily="34" charset="0"/>
                <a:ea typeface="IBM Plex Sans" pitchFamily="34" charset="-122"/>
                <a:cs typeface="IBM Plex Sans" pitchFamily="34" charset="-120"/>
              </a:rPr>
              <a:t>[Nombre del docente] · [Curso / asignatura] · [Fecha]</a:t>
            </a:r>
            <a:endParaRPr lang="en-US" sz="1200" dirty="0"/>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A35E"/>
                </a:solidFill>
                <a:latin typeface="IBM Plex Sans" pitchFamily="34" charset="0"/>
                <a:ea typeface="IBM Plex Sans" pitchFamily="34" charset="-122"/>
                <a:cs typeface="IBM Plex Sans" pitchFamily="34" charset="-120"/>
              </a:rPr>
              <a:t>TALLER DE FÍSICA COMPUTACIONAL · 2 HORAS</a:t>
            </a:r>
            <a:endParaRPr lang="en-US" sz="1200" dirty="0"/>
          </a:p>
        </p:txBody>
      </p:sp>
      <p:sp>
        <p:nvSpPr>
          <p:cNvPr id="4" name="Text 2"/>
          <p:cNvSpPr/>
          <p:nvPr>
            <p:ph type="title"/>
          </p:nvPr>
        </p:nvSpPr>
        <p:spPr>
          <a:xfrm>
            <a:off x="812800" y="1229320"/>
            <a:ext cx="10883392" cy="6654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7F5EF"/>
                </a:solidFill>
                <a:latin typeface="Rubik" pitchFamily="34" charset="0"/>
                <a:ea typeface="Rubik" pitchFamily="34" charset="-122"/>
                <a:cs typeface="Rubik" pitchFamily="34" charset="-120"/>
              </a:rPr>
              <a:t>Osciladores armónicos acoplados</a:t>
            </a:r>
            <a:endParaRPr lang="en-US" sz="4800" dirty="0"/>
          </a:p>
        </p:txBody>
      </p:sp>
      <p:sp>
        <p:nvSpPr>
          <p:cNvPr id="5" name="Text 3"/>
          <p:cNvSpPr/>
          <p:nvPr/>
        </p:nvSpPr>
        <p:spPr>
          <a:xfrm>
            <a:off x="812800" y="2072580"/>
            <a:ext cx="915670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9D3E3"/>
                </a:solidFill>
                <a:latin typeface="IBM Plex Sans" pitchFamily="34" charset="0"/>
                <a:ea typeface="IBM Plex Sans" pitchFamily="34" charset="-122"/>
                <a:cs typeface="IBM Plex Sans" pitchFamily="34" charset="-120"/>
              </a:rPr>
              <a:t>De la ecuación M ẍ = −K x a una librería publicada en PyPI, con programación orientada a objetos, el patrón Strategy y una interfaz en tkinter.</a:t>
            </a:r>
            <a:endParaRPr lang="en-US" sz="2000" dirty="0"/>
          </a:p>
        </p:txBody>
      </p:sp>
      <p:sp>
        <p:nvSpPr>
          <p:cNvPr id="6" name="Shape 4"/>
          <p:cNvSpPr/>
          <p:nvPr/>
        </p:nvSpPr>
        <p:spPr>
          <a:xfrm>
            <a:off x="812800" y="4889500"/>
            <a:ext cx="88900" cy="952500"/>
          </a:xfrm>
          <a:prstGeom prst="rect">
            <a:avLst/>
          </a:prstGeom>
          <a:solidFill>
            <a:srgbClr val="C9D3E3"/>
          </a:solidFill>
          <a:ln/>
        </p:spPr>
      </p:sp>
      <p:pic>
        <p:nvPicPr>
          <p:cNvPr id="7" name="Image 0" descr="resorte">    </p:cNvPr>
          <p:cNvPicPr>
            <a:picLocks noChangeAspect="1"/>
          </p:cNvPicPr>
          <p:nvPr/>
        </p:nvPicPr>
        <p:blipFill>
          <a:blip r:embed="rId1"/>
          <a:srcRect l="0" r="0" t="0" b="0"/>
          <a:stretch/>
        </p:blipFill>
        <p:spPr>
          <a:xfrm>
            <a:off x="901700" y="5238750"/>
            <a:ext cx="1143000" cy="254000"/>
          </a:xfrm>
          <a:prstGeom prst="rect">
            <a:avLst/>
          </a:prstGeom>
        </p:spPr>
      </p:pic>
      <p:sp>
        <p:nvSpPr>
          <p:cNvPr id="8" name="Shape 5"/>
          <p:cNvSpPr/>
          <p:nvPr/>
        </p:nvSpPr>
        <p:spPr>
          <a:xfrm>
            <a:off x="2044700" y="5016500"/>
            <a:ext cx="698500" cy="698500"/>
          </a:xfrm>
          <a:prstGeom prst="roundRect">
            <a:avLst>
              <a:gd name="adj" fmla="val 12727"/>
            </a:avLst>
          </a:prstGeom>
          <a:solidFill>
            <a:srgbClr val="F0A35E"/>
          </a:solidFill>
          <a:ln/>
        </p:spPr>
      </p:sp>
      <p:pic>
        <p:nvPicPr>
          <p:cNvPr id="9" name="Image 1" descr="resorte">    </p:cNvPr>
          <p:cNvPicPr>
            <a:picLocks noChangeAspect="1"/>
          </p:cNvPicPr>
          <p:nvPr/>
        </p:nvPicPr>
        <p:blipFill>
          <a:blip r:embed="rId2"/>
          <a:srcRect l="0" r="0" t="0" b="0"/>
          <a:stretch/>
        </p:blipFill>
        <p:spPr>
          <a:xfrm>
            <a:off x="2743200" y="5238750"/>
            <a:ext cx="1143000" cy="254000"/>
          </a:xfrm>
          <a:prstGeom prst="rect">
            <a:avLst/>
          </a:prstGeom>
        </p:spPr>
      </p:pic>
      <p:sp>
        <p:nvSpPr>
          <p:cNvPr id="10" name="Shape 6"/>
          <p:cNvSpPr/>
          <p:nvPr/>
        </p:nvSpPr>
        <p:spPr>
          <a:xfrm>
            <a:off x="3886200" y="5016500"/>
            <a:ext cx="698500" cy="698500"/>
          </a:xfrm>
          <a:prstGeom prst="roundRect">
            <a:avLst>
              <a:gd name="adj" fmla="val 12727"/>
            </a:avLst>
          </a:prstGeom>
          <a:solidFill>
            <a:srgbClr val="8DB8EA"/>
          </a:solidFill>
          <a:ln/>
        </p:spPr>
      </p:sp>
      <p:pic>
        <p:nvPicPr>
          <p:cNvPr id="11" name="Image 2" descr="resorte">    </p:cNvPr>
          <p:cNvPicPr>
            <a:picLocks noChangeAspect="1"/>
          </p:cNvPicPr>
          <p:nvPr/>
        </p:nvPicPr>
        <p:blipFill>
          <a:blip r:embed="rId3"/>
          <a:srcRect l="0" r="0" t="0" b="0"/>
          <a:stretch/>
        </p:blipFill>
        <p:spPr>
          <a:xfrm>
            <a:off x="4584700" y="5238750"/>
            <a:ext cx="1143000" cy="254000"/>
          </a:xfrm>
          <a:prstGeom prst="rect">
            <a:avLst/>
          </a:prstGeom>
        </p:spPr>
      </p:pic>
      <p:sp>
        <p:nvSpPr>
          <p:cNvPr id="12" name="Shape 7"/>
          <p:cNvSpPr/>
          <p:nvPr/>
        </p:nvSpPr>
        <p:spPr>
          <a:xfrm>
            <a:off x="5727700" y="5016500"/>
            <a:ext cx="698500" cy="698500"/>
          </a:xfrm>
          <a:prstGeom prst="roundRect">
            <a:avLst>
              <a:gd name="adj" fmla="val 12727"/>
            </a:avLst>
          </a:prstGeom>
          <a:solidFill>
            <a:srgbClr val="F0A35E"/>
          </a:solidFill>
          <a:ln/>
        </p:spPr>
      </p:sp>
      <p:pic>
        <p:nvPicPr>
          <p:cNvPr id="13" name="Image 3" descr="resorte">    </p:cNvPr>
          <p:cNvPicPr>
            <a:picLocks noChangeAspect="1"/>
          </p:cNvPicPr>
          <p:nvPr/>
        </p:nvPicPr>
        <p:blipFill>
          <a:blip r:embed="rId4"/>
          <a:srcRect l="0" r="0" t="0" b="0"/>
          <a:stretch/>
        </p:blipFill>
        <p:spPr>
          <a:xfrm>
            <a:off x="6426200" y="5238750"/>
            <a:ext cx="1143000" cy="254000"/>
          </a:xfrm>
          <a:prstGeom prst="rect">
            <a:avLst/>
          </a:prstGeom>
        </p:spPr>
      </p:pic>
      <p:sp>
        <p:nvSpPr>
          <p:cNvPr id="14" name="Shape 8"/>
          <p:cNvSpPr/>
          <p:nvPr/>
        </p:nvSpPr>
        <p:spPr>
          <a:xfrm>
            <a:off x="7569200" y="4889500"/>
            <a:ext cx="88900" cy="952500"/>
          </a:xfrm>
          <a:prstGeom prst="rect">
            <a:avLst/>
          </a:prstGeom>
          <a:solidFill>
            <a:srgbClr val="C9D3E3"/>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AGENDA</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Siete etapas en 120 minutos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83370"/>
          <a:ext cx="10553700" cy="3233440"/>
        </p:xfrm>
        <a:graphic>
          <a:graphicData uri="http://schemas.openxmlformats.org/drawingml/2006/table">
            <a:tbl>
              <a:tblPr/>
              <a:tblGrid>
                <a:gridCol w="1688592"/>
                <a:gridCol w="4854702"/>
                <a:gridCol w="4010406"/>
              </a:tblGrid>
              <a:tr h="359271">
                <a:tc>
                  <a:txBody>
                    <a:bodyPr/>
                    <a:lstStyle/>
                    <a:p>
                      <a:pPr indent="0" marL="0">
                        <a:lnSpc>
                          <a:spcPts val="1820"/>
                        </a:lnSpc>
                        <a:buNone/>
                      </a:pPr>
                      <a:r>
                        <a:rPr lang="en-US" sz="1300" b="1" dirty="0">
                          <a:solidFill>
                            <a:srgbClr val="3E4A5C"/>
                          </a:solidFill>
                          <a:latin typeface="IBM Plex Sans" pitchFamily="34" charset="0"/>
                          <a:ea typeface="IBM Plex Sans" pitchFamily="34" charset="-122"/>
                          <a:cs typeface="IBM Plex Sans" pitchFamily="34" charset="-120"/>
                        </a:rPr>
                        <a:t>Inicio · duración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1820"/>
                        </a:lnSpc>
                        <a:buNone/>
                      </a:pPr>
                      <a:r>
                        <a:rPr lang="en-US" sz="1300" b="1" dirty="0">
                          <a:solidFill>
                            <a:srgbClr val="3E4A5C"/>
                          </a:solidFill>
                          <a:latin typeface="IBM Plex Sans" pitchFamily="34" charset="0"/>
                          <a:ea typeface="IBM Plex Sans" pitchFamily="34" charset="-122"/>
                          <a:cs typeface="IBM Plex Sans" pitchFamily="34" charset="-120"/>
                        </a:rPr>
                        <a:t>Etapa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1820"/>
                        </a:lnSpc>
                        <a:buNone/>
                      </a:pPr>
                      <a:r>
                        <a:rPr lang="en-US" sz="1300" b="1" dirty="0">
                          <a:solidFill>
                            <a:srgbClr val="3E4A5C"/>
                          </a:solidFill>
                          <a:latin typeface="IBM Plex Sans" pitchFamily="34" charset="0"/>
                          <a:ea typeface="IBM Plex Sans" pitchFamily="34" charset="-122"/>
                          <a:cs typeface="IBM Plex Sans" pitchFamily="34" charset="-120"/>
                        </a:rPr>
                        <a:t>Entregable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r>
              <a:tr h="359271">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0:00 · 15 min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1. Física: modelo y modos normales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Ecuación M ẍ = −K 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0:15 · 15 min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2. Diseño: capas y patrón Strategy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Diagrama de clases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r>
              <a:tr h="359271">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0:30 · 20 min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3. Modelo: SistemaOsciladores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Matrices, energía y modos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0:50 · 20 min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4. Estrategias de solución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Cuatro métodos y una fábrica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r>
              <a:tr h="359271">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1:10 · 15 min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5. Interfaz gráfica en tkinter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GUI.py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1:25 · 10 min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6. Pruebas con pytest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tests/test_core.py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r>
              <a:tr h="359271">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1:35 · 20 min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7. Empaquetar y publicar en PyPI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pip install osciladores-acoplados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1:55 · 5 min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Cierre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Retos para la próxima clase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Osciladores acoplados · de la física a PyPI</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1 · FÍSICA · 15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Una cadena de N masas y N + 1 resortes</a:t>
            </a:r>
            <a:endParaRPr lang="en-US" sz="3000" dirty="0"/>
          </a:p>
        </p:txBody>
      </p:sp>
      <p:sp>
        <p:nvSpPr>
          <p:cNvPr id="4" name="Shape 2"/>
          <p:cNvSpPr/>
          <p:nvPr/>
        </p:nvSpPr>
        <p:spPr>
          <a:xfrm>
            <a:off x="2705100" y="1870670"/>
            <a:ext cx="88900" cy="1079500"/>
          </a:xfrm>
          <a:prstGeom prst="rect">
            <a:avLst/>
          </a:prstGeom>
          <a:solidFill>
            <a:srgbClr val="14213D"/>
          </a:solidFill>
          <a:ln/>
        </p:spPr>
      </p:sp>
      <p:pic>
        <p:nvPicPr>
          <p:cNvPr id="5" name="Image 0" descr="resorte k0">    </p:cNvPr>
          <p:cNvPicPr>
            <a:picLocks noChangeAspect="1"/>
          </p:cNvPicPr>
          <p:nvPr/>
        </p:nvPicPr>
        <p:blipFill>
          <a:blip r:embed="rId1"/>
          <a:srcRect l="0" r="0" t="0" b="0"/>
          <a:stretch/>
        </p:blipFill>
        <p:spPr>
          <a:xfrm>
            <a:off x="2794000" y="2124670"/>
            <a:ext cx="1079500" cy="254000"/>
          </a:xfrm>
          <a:prstGeom prst="rect">
            <a:avLst/>
          </a:prstGeom>
        </p:spPr>
      </p:pic>
      <p:sp>
        <p:nvSpPr>
          <p:cNvPr id="6" name="Text 3"/>
          <p:cNvSpPr/>
          <p:nvPr/>
        </p:nvSpPr>
        <p:spPr>
          <a:xfrm>
            <a:off x="3218259" y="2429470"/>
            <a:ext cx="230882"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k₀</a:t>
            </a:r>
            <a:endParaRPr lang="en-US" sz="1500" dirty="0"/>
          </a:p>
        </p:txBody>
      </p:sp>
      <p:sp>
        <p:nvSpPr>
          <p:cNvPr id="7" name="Text 4"/>
          <p:cNvSpPr/>
          <p:nvPr/>
        </p:nvSpPr>
        <p:spPr>
          <a:xfrm>
            <a:off x="3873500" y="2029420"/>
            <a:ext cx="762000" cy="762000"/>
          </a:xfrm>
          <a:prstGeom prst="roundRect">
            <a:avLst>
              <a:gd name="adj" fmla="val 11667"/>
            </a:avLst>
          </a:prstGeom>
          <a:solidFill>
            <a:srgbClr val="2F6FB3"/>
          </a:solidFill>
          <a:ln/>
        </p:spPr>
        <p:txBody>
          <a:bodyPr wrap="square" lIns="0" tIns="0" rIns="0" bIns="0" rtlCol="0" anchor="ctr">
            <a:normAutofit/>
          </a:bodyPr>
          <a:lstStyle/>
          <a:p>
            <a:pPr algn="ctr" indent="0" marL="0">
              <a:lnSpc>
                <a:spcPts val="2800"/>
              </a:lnSpc>
              <a:buNone/>
            </a:pPr>
            <a:r>
              <a:rPr lang="en-US" sz="2000" b="1" dirty="0">
                <a:solidFill>
                  <a:srgbClr val="F7F5EF"/>
                </a:solidFill>
                <a:latin typeface="IBM Plex Sans" pitchFamily="34" charset="0"/>
                <a:ea typeface="IBM Plex Sans" pitchFamily="34" charset="-122"/>
                <a:cs typeface="IBM Plex Sans" pitchFamily="34" charset="-120"/>
              </a:rPr>
              <a:t>m₁</a:t>
            </a:r>
            <a:endParaRPr lang="en-US" sz="2000" dirty="0"/>
          </a:p>
        </p:txBody>
      </p:sp>
      <p:pic>
        <p:nvPicPr>
          <p:cNvPr id="8" name="Image 1" descr="resorte k1">    </p:cNvPr>
          <p:cNvPicPr>
            <a:picLocks noChangeAspect="1"/>
          </p:cNvPicPr>
          <p:nvPr/>
        </p:nvPicPr>
        <p:blipFill>
          <a:blip r:embed="rId2"/>
          <a:srcRect l="0" r="0" t="0" b="0"/>
          <a:stretch/>
        </p:blipFill>
        <p:spPr>
          <a:xfrm>
            <a:off x="4635500" y="2124670"/>
            <a:ext cx="1079500" cy="254000"/>
          </a:xfrm>
          <a:prstGeom prst="rect">
            <a:avLst/>
          </a:prstGeom>
        </p:spPr>
      </p:pic>
      <p:sp>
        <p:nvSpPr>
          <p:cNvPr id="9" name="Text 5"/>
          <p:cNvSpPr/>
          <p:nvPr/>
        </p:nvSpPr>
        <p:spPr>
          <a:xfrm>
            <a:off x="5060950" y="2429470"/>
            <a:ext cx="228501"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k₁</a:t>
            </a:r>
            <a:endParaRPr lang="en-US" sz="1500" dirty="0"/>
          </a:p>
        </p:txBody>
      </p:sp>
      <p:sp>
        <p:nvSpPr>
          <p:cNvPr id="10" name="Text 6"/>
          <p:cNvSpPr/>
          <p:nvPr/>
        </p:nvSpPr>
        <p:spPr>
          <a:xfrm>
            <a:off x="5715000" y="2029420"/>
            <a:ext cx="762000" cy="762000"/>
          </a:xfrm>
          <a:prstGeom prst="roundRect">
            <a:avLst>
              <a:gd name="adj" fmla="val 11667"/>
            </a:avLst>
          </a:prstGeom>
          <a:solidFill>
            <a:srgbClr val="2F6FB3"/>
          </a:solidFill>
          <a:ln/>
        </p:spPr>
        <p:txBody>
          <a:bodyPr wrap="square" lIns="0" tIns="0" rIns="0" bIns="0" rtlCol="0" anchor="ctr">
            <a:normAutofit/>
          </a:bodyPr>
          <a:lstStyle/>
          <a:p>
            <a:pPr algn="ctr" indent="0" marL="0">
              <a:lnSpc>
                <a:spcPts val="2800"/>
              </a:lnSpc>
              <a:buNone/>
            </a:pPr>
            <a:r>
              <a:rPr lang="en-US" sz="2000" b="1" dirty="0">
                <a:solidFill>
                  <a:srgbClr val="F7F5EF"/>
                </a:solidFill>
                <a:latin typeface="IBM Plex Sans" pitchFamily="34" charset="0"/>
                <a:ea typeface="IBM Plex Sans" pitchFamily="34" charset="-122"/>
                <a:cs typeface="IBM Plex Sans" pitchFamily="34" charset="-120"/>
              </a:rPr>
              <a:t>m₂</a:t>
            </a:r>
            <a:endParaRPr lang="en-US" sz="2000" dirty="0"/>
          </a:p>
        </p:txBody>
      </p:sp>
      <p:pic>
        <p:nvPicPr>
          <p:cNvPr id="11" name="Image 2" descr="resorte k2">    </p:cNvPr>
          <p:cNvPicPr>
            <a:picLocks noChangeAspect="1"/>
          </p:cNvPicPr>
          <p:nvPr/>
        </p:nvPicPr>
        <p:blipFill>
          <a:blip r:embed="rId3"/>
          <a:srcRect l="0" r="0" t="0" b="0"/>
          <a:stretch/>
        </p:blipFill>
        <p:spPr>
          <a:xfrm>
            <a:off x="6477000" y="2124670"/>
            <a:ext cx="1079500" cy="254000"/>
          </a:xfrm>
          <a:prstGeom prst="rect">
            <a:avLst/>
          </a:prstGeom>
        </p:spPr>
      </p:pic>
      <p:sp>
        <p:nvSpPr>
          <p:cNvPr id="12" name="Text 7"/>
          <p:cNvSpPr/>
          <p:nvPr/>
        </p:nvSpPr>
        <p:spPr>
          <a:xfrm>
            <a:off x="6901259" y="2429470"/>
            <a:ext cx="230882"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k₂</a:t>
            </a:r>
            <a:endParaRPr lang="en-US" sz="1500" dirty="0"/>
          </a:p>
        </p:txBody>
      </p:sp>
      <p:sp>
        <p:nvSpPr>
          <p:cNvPr id="13" name="Text 8"/>
          <p:cNvSpPr/>
          <p:nvPr/>
        </p:nvSpPr>
        <p:spPr>
          <a:xfrm>
            <a:off x="7556500" y="2029420"/>
            <a:ext cx="762000" cy="762000"/>
          </a:xfrm>
          <a:prstGeom prst="roundRect">
            <a:avLst>
              <a:gd name="adj" fmla="val 11667"/>
            </a:avLst>
          </a:prstGeom>
          <a:solidFill>
            <a:srgbClr val="2F6FB3"/>
          </a:solidFill>
          <a:ln/>
        </p:spPr>
        <p:txBody>
          <a:bodyPr wrap="square" lIns="0" tIns="0" rIns="0" bIns="0" rtlCol="0" anchor="ctr">
            <a:normAutofit/>
          </a:bodyPr>
          <a:lstStyle/>
          <a:p>
            <a:pPr algn="ctr" indent="0" marL="0">
              <a:lnSpc>
                <a:spcPts val="2800"/>
              </a:lnSpc>
              <a:buNone/>
            </a:pPr>
            <a:r>
              <a:rPr lang="en-US" sz="2000" b="1" dirty="0">
                <a:solidFill>
                  <a:srgbClr val="F7F5EF"/>
                </a:solidFill>
                <a:latin typeface="IBM Plex Sans" pitchFamily="34" charset="0"/>
                <a:ea typeface="IBM Plex Sans" pitchFamily="34" charset="-122"/>
                <a:cs typeface="IBM Plex Sans" pitchFamily="34" charset="-120"/>
              </a:rPr>
              <a:t>m₃</a:t>
            </a:r>
            <a:endParaRPr lang="en-US" sz="2000" dirty="0"/>
          </a:p>
        </p:txBody>
      </p:sp>
      <p:pic>
        <p:nvPicPr>
          <p:cNvPr id="14" name="Image 3" descr="resorte k3">    </p:cNvPr>
          <p:cNvPicPr>
            <a:picLocks noChangeAspect="1"/>
          </p:cNvPicPr>
          <p:nvPr/>
        </p:nvPicPr>
        <p:blipFill>
          <a:blip r:embed="rId4"/>
          <a:srcRect l="0" r="0" t="0" b="0"/>
          <a:stretch/>
        </p:blipFill>
        <p:spPr>
          <a:xfrm>
            <a:off x="8318500" y="2124670"/>
            <a:ext cx="1079500" cy="254000"/>
          </a:xfrm>
          <a:prstGeom prst="rect">
            <a:avLst/>
          </a:prstGeom>
        </p:spPr>
      </p:pic>
      <p:sp>
        <p:nvSpPr>
          <p:cNvPr id="15" name="Text 9"/>
          <p:cNvSpPr/>
          <p:nvPr/>
        </p:nvSpPr>
        <p:spPr>
          <a:xfrm>
            <a:off x="8742759" y="2429470"/>
            <a:ext cx="230882"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k₃</a:t>
            </a:r>
            <a:endParaRPr lang="en-US" sz="1500" dirty="0"/>
          </a:p>
        </p:txBody>
      </p:sp>
      <p:sp>
        <p:nvSpPr>
          <p:cNvPr id="16" name="Shape 10"/>
          <p:cNvSpPr/>
          <p:nvPr/>
        </p:nvSpPr>
        <p:spPr>
          <a:xfrm>
            <a:off x="9398000" y="1870670"/>
            <a:ext cx="88900" cy="1079500"/>
          </a:xfrm>
          <a:prstGeom prst="rect">
            <a:avLst/>
          </a:prstGeom>
          <a:solidFill>
            <a:srgbClr val="14213D"/>
          </a:solidFill>
          <a:ln/>
        </p:spPr>
      </p:sp>
      <p:sp>
        <p:nvSpPr>
          <p:cNvPr id="17" name="Shape 11"/>
          <p:cNvSpPr/>
          <p:nvPr/>
        </p:nvSpPr>
        <p:spPr>
          <a:xfrm>
            <a:off x="815975" y="3156545"/>
            <a:ext cx="5181600" cy="1893491"/>
          </a:xfrm>
          <a:prstGeom prst="roundRect">
            <a:avLst>
              <a:gd name="adj" fmla="val 5198"/>
            </a:avLst>
          </a:prstGeom>
          <a:solidFill>
            <a:srgbClr val="FDFCF8"/>
          </a:solidFill>
          <a:ln w="6350">
            <a:solidFill>
              <a:srgbClr val="E2DED3"/>
            </a:solidFill>
            <a:prstDash val="solid"/>
          </a:ln>
        </p:spPr>
      </p:sp>
      <p:sp>
        <p:nvSpPr>
          <p:cNvPr id="18" name="Text 12"/>
          <p:cNvSpPr/>
          <p:nvPr/>
        </p:nvSpPr>
        <p:spPr>
          <a:xfrm>
            <a:off x="1073150" y="3413720"/>
            <a:ext cx="480726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Newton para la masa i</a:t>
            </a:r>
            <a:endParaRPr lang="en-US" sz="1500" dirty="0"/>
          </a:p>
        </p:txBody>
      </p:sp>
      <p:sp>
        <p:nvSpPr>
          <p:cNvPr id="19" name="Text 13"/>
          <p:cNvSpPr/>
          <p:nvPr/>
        </p:nvSpPr>
        <p:spPr>
          <a:xfrm>
            <a:off x="1073150" y="3743920"/>
            <a:ext cx="480726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A5C"/>
                </a:solidFill>
                <a:latin typeface="IBM Plex Sans" pitchFamily="34" charset="0"/>
                <a:ea typeface="IBM Plex Sans" pitchFamily="34" charset="-122"/>
                <a:cs typeface="IBM Plex Sans" pitchFamily="34" charset="-120"/>
              </a:rPr>
              <a:t>mᵢ ẍᵢ = −kᵢ₋₁ (xᵢ − xᵢ₋₁) − kᵢ (xᵢ − xᵢ₊₁)</a:t>
            </a:r>
            <a:endParaRPr lang="en-US" sz="1500" dirty="0"/>
          </a:p>
        </p:txBody>
      </p:sp>
      <p:sp>
        <p:nvSpPr>
          <p:cNvPr id="20" name="Text 14"/>
          <p:cNvSpPr/>
          <p:nvPr/>
        </p:nvSpPr>
        <p:spPr>
          <a:xfrm>
            <a:off x="1073150" y="4112220"/>
            <a:ext cx="480726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x₀ = xₙ₊₁ = 0 son las paredes. Un resorte con k = 0 es un extremo libre.</a:t>
            </a:r>
            <a:endParaRPr lang="en-US" sz="1200" dirty="0"/>
          </a:p>
        </p:txBody>
      </p:sp>
      <p:sp>
        <p:nvSpPr>
          <p:cNvPr id="21" name="Shape 15"/>
          <p:cNvSpPr/>
          <p:nvPr/>
        </p:nvSpPr>
        <p:spPr>
          <a:xfrm>
            <a:off x="6203950" y="3153370"/>
            <a:ext cx="5175250" cy="1899841"/>
          </a:xfrm>
          <a:prstGeom prst="roundRect">
            <a:avLst>
              <a:gd name="adj" fmla="val 5348"/>
            </a:avLst>
          </a:prstGeom>
          <a:solidFill>
            <a:srgbClr val="14213D"/>
          </a:solidFill>
          <a:ln/>
        </p:spPr>
      </p:sp>
      <p:sp>
        <p:nvSpPr>
          <p:cNvPr id="22" name="Text 16"/>
          <p:cNvSpPr/>
          <p:nvPr/>
        </p:nvSpPr>
        <p:spPr>
          <a:xfrm>
            <a:off x="6457950" y="3407370"/>
            <a:ext cx="480726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35E"/>
                </a:solidFill>
                <a:latin typeface="Rubik" pitchFamily="34" charset="0"/>
                <a:ea typeface="Rubik" pitchFamily="34" charset="-122"/>
                <a:cs typeface="Rubik" pitchFamily="34" charset="-120"/>
              </a:rPr>
              <a:t>Las N ecuaciones juntas</a:t>
            </a:r>
            <a:endParaRPr lang="en-US" sz="1500" dirty="0"/>
          </a:p>
        </p:txBody>
      </p:sp>
      <p:sp>
        <p:nvSpPr>
          <p:cNvPr id="23" name="Text 17"/>
          <p:cNvSpPr/>
          <p:nvPr/>
        </p:nvSpPr>
        <p:spPr>
          <a:xfrm>
            <a:off x="6457950" y="3737570"/>
            <a:ext cx="4807268" cy="558800"/>
          </a:xfrm>
          <a:prstGeom prst="rect">
            <a:avLst/>
          </a:prstGeom>
          <a:noFill/>
          <a:ln/>
        </p:spPr>
        <p:txBody>
          <a:bodyPr wrap="square" lIns="0" tIns="0" rIns="0" bIns="0" rtlCol="0" anchor="t">
            <a:normAutofit/>
          </a:bodyPr>
          <a:lstStyle/>
          <a:p>
            <a:pPr algn="l" indent="0" marL="0">
              <a:lnSpc>
                <a:spcPts val="4200"/>
              </a:lnSpc>
              <a:buNone/>
            </a:pPr>
            <a:r>
              <a:rPr lang="en-US" sz="3000" dirty="0">
                <a:solidFill>
                  <a:srgbClr val="F7F5EF"/>
                </a:solidFill>
                <a:latin typeface="Rubik" pitchFamily="34" charset="0"/>
                <a:ea typeface="Rubik" pitchFamily="34" charset="-122"/>
                <a:cs typeface="Rubik" pitchFamily="34" charset="-120"/>
              </a:rPr>
              <a:t>M ẍ = −K x</a:t>
            </a:r>
            <a:endParaRPr lang="en-US" sz="3000" dirty="0"/>
          </a:p>
        </p:txBody>
      </p:sp>
      <p:sp>
        <p:nvSpPr>
          <p:cNvPr id="24" name="Text 18"/>
          <p:cNvSpPr/>
          <p:nvPr/>
        </p:nvSpPr>
        <p:spPr>
          <a:xfrm>
            <a:off x="6457950" y="4372570"/>
            <a:ext cx="480726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Un sistema lineal de segundo orden: todo el problema cabe en dos matrices.</a:t>
            </a:r>
            <a:endParaRPr lang="en-US" sz="1200" dirty="0"/>
          </a:p>
        </p:txBody>
      </p:sp>
      <p:sp>
        <p:nvSpPr>
          <p:cNvPr id="25"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Osciladores acoplados · de la física a PyPI</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1 · FÍSICA · 15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Las matrices M y K para N = 3</a:t>
            </a:r>
            <a:endParaRPr lang="en-US" sz="3000" dirty="0"/>
          </a:p>
        </p:txBody>
      </p:sp>
      <p:sp>
        <p:nvSpPr>
          <p:cNvPr id="4" name="Text 2"/>
          <p:cNvSpPr/>
          <p:nvPr/>
        </p:nvSpPr>
        <p:spPr>
          <a:xfrm>
            <a:off x="812800" y="2200771"/>
            <a:ext cx="539234"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4213D"/>
                </a:solidFill>
                <a:latin typeface="Rubik" pitchFamily="34" charset="0"/>
                <a:ea typeface="Rubik" pitchFamily="34" charset="-122"/>
                <a:cs typeface="Rubik" pitchFamily="34" charset="-120"/>
              </a:rPr>
              <a:t>M =</a:t>
            </a:r>
            <a:endParaRPr lang="en-US" sz="2200" dirty="0"/>
          </a:p>
        </p:txBody>
      </p:sp>
      <p:sp>
        <p:nvSpPr>
          <p:cNvPr id="5" name="Shape 3"/>
          <p:cNvSpPr/>
          <p:nvPr/>
        </p:nvSpPr>
        <p:spPr>
          <a:xfrm>
            <a:off x="1566962" y="1870670"/>
            <a:ext cx="2171700" cy="1051322"/>
          </a:xfrm>
          <a:custGeom>
            <a:avLst/>
            <a:gdLst/>
            <a:ahLst/>
            <a:cxnLst/>
            <a:rect l="l" t="t" r="r" b="b"/>
            <a:pathLst>
              <a:path w="2171700" h="1051322">
                <a:moveTo>
                  <a:pt x="2095500" y="0"/>
                </a:moveTo>
                <a:lnTo>
                  <a:pt x="2095500" y="0"/>
                </a:lnTo>
                <a:arcTo hR="76200" wR="76200" stAng="16200000" swAng="5400000"/>
                <a:lnTo>
                  <a:pt x="2171700" y="975122"/>
                </a:lnTo>
                <a:arcTo hR="76200" wR="76200" stAng="0" swAng="5400000"/>
                <a:lnTo>
                  <a:pt x="2095500" y="1051322"/>
                </a:lnTo>
                <a:arcTo hR="76200" wR="50800" stAng="5400000" swAng="-5400000"/>
                <a:lnTo>
                  <a:pt x="2146300" y="76200"/>
                </a:lnTo>
                <a:arcTo hR="76200" wR="50800" stAng="0" swAng="-5400000"/>
                <a:close/>
                <a:moveTo>
                  <a:pt x="76200" y="1051322"/>
                </a:moveTo>
                <a:lnTo>
                  <a:pt x="76200" y="1051322"/>
                </a:lnTo>
                <a:arcTo hR="76200" wR="76200" stAng="5400000" swAng="5400000"/>
                <a:lnTo>
                  <a:pt x="0" y="76200"/>
                </a:lnTo>
                <a:arcTo hR="76200" wR="76200" stAng="10800000" swAng="5400000"/>
                <a:lnTo>
                  <a:pt x="76200" y="0"/>
                </a:lnTo>
                <a:arcTo hR="76200" wR="50800" stAng="16200000" swAng="-5400000"/>
                <a:lnTo>
                  <a:pt x="25400" y="975122"/>
                </a:lnTo>
                <a:arcTo hR="76200" wR="50800" stAng="10800000" swAng="-5400000"/>
                <a:close/>
              </a:path>
            </a:pathLst>
          </a:custGeom>
          <a:solidFill>
            <a:srgbClr val="14213D"/>
          </a:solidFill>
          <a:ln/>
        </p:spPr>
      </p:sp>
      <p:sp>
        <p:nvSpPr>
          <p:cNvPr id="6" name="Text 4"/>
          <p:cNvSpPr/>
          <p:nvPr/>
        </p:nvSpPr>
        <p:spPr>
          <a:xfrm>
            <a:off x="1693962" y="1946870"/>
            <a:ext cx="62230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m₁</a:t>
            </a:r>
            <a:endParaRPr lang="en-US" sz="1400" dirty="0"/>
          </a:p>
        </p:txBody>
      </p:sp>
      <p:sp>
        <p:nvSpPr>
          <p:cNvPr id="7" name="Text 5"/>
          <p:cNvSpPr/>
          <p:nvPr/>
        </p:nvSpPr>
        <p:spPr>
          <a:xfrm>
            <a:off x="2341662" y="1946870"/>
            <a:ext cx="62230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5B6577"/>
                </a:solidFill>
                <a:latin typeface="JetBrains Mono" pitchFamily="49" charset="0"/>
                <a:ea typeface="JetBrains Mono" pitchFamily="49" charset="-122"/>
                <a:cs typeface="JetBrains Mono" pitchFamily="49" charset="-120"/>
              </a:rPr>
              <a:t>0</a:t>
            </a:r>
            <a:endParaRPr lang="en-US" sz="1400" dirty="0"/>
          </a:p>
        </p:txBody>
      </p:sp>
      <p:sp>
        <p:nvSpPr>
          <p:cNvPr id="8" name="Text 6"/>
          <p:cNvSpPr/>
          <p:nvPr/>
        </p:nvSpPr>
        <p:spPr>
          <a:xfrm>
            <a:off x="2989362" y="1946870"/>
            <a:ext cx="62230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5B6577"/>
                </a:solidFill>
                <a:latin typeface="JetBrains Mono" pitchFamily="49" charset="0"/>
                <a:ea typeface="JetBrains Mono" pitchFamily="49" charset="-122"/>
                <a:cs typeface="JetBrains Mono" pitchFamily="49" charset="-120"/>
              </a:rPr>
              <a:t>0</a:t>
            </a:r>
            <a:endParaRPr lang="en-US" sz="1400" dirty="0"/>
          </a:p>
        </p:txBody>
      </p:sp>
      <p:sp>
        <p:nvSpPr>
          <p:cNvPr id="9" name="Text 7"/>
          <p:cNvSpPr/>
          <p:nvPr/>
        </p:nvSpPr>
        <p:spPr>
          <a:xfrm>
            <a:off x="1693962" y="2271911"/>
            <a:ext cx="62230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5B6577"/>
                </a:solidFill>
                <a:latin typeface="JetBrains Mono" pitchFamily="49" charset="0"/>
                <a:ea typeface="JetBrains Mono" pitchFamily="49" charset="-122"/>
                <a:cs typeface="JetBrains Mono" pitchFamily="49" charset="-120"/>
              </a:rPr>
              <a:t>0</a:t>
            </a:r>
            <a:endParaRPr lang="en-US" sz="1400" dirty="0"/>
          </a:p>
        </p:txBody>
      </p:sp>
      <p:sp>
        <p:nvSpPr>
          <p:cNvPr id="10" name="Text 8"/>
          <p:cNvSpPr/>
          <p:nvPr/>
        </p:nvSpPr>
        <p:spPr>
          <a:xfrm>
            <a:off x="2341662" y="2271911"/>
            <a:ext cx="62230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m₂</a:t>
            </a:r>
            <a:endParaRPr lang="en-US" sz="1400" dirty="0"/>
          </a:p>
        </p:txBody>
      </p:sp>
      <p:sp>
        <p:nvSpPr>
          <p:cNvPr id="11" name="Text 9"/>
          <p:cNvSpPr/>
          <p:nvPr/>
        </p:nvSpPr>
        <p:spPr>
          <a:xfrm>
            <a:off x="2989362" y="2271911"/>
            <a:ext cx="62230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5B6577"/>
                </a:solidFill>
                <a:latin typeface="JetBrains Mono" pitchFamily="49" charset="0"/>
                <a:ea typeface="JetBrains Mono" pitchFamily="49" charset="-122"/>
                <a:cs typeface="JetBrains Mono" pitchFamily="49" charset="-120"/>
              </a:rPr>
              <a:t>0</a:t>
            </a:r>
            <a:endParaRPr lang="en-US" sz="1400" dirty="0"/>
          </a:p>
        </p:txBody>
      </p:sp>
      <p:sp>
        <p:nvSpPr>
          <p:cNvPr id="12" name="Text 10"/>
          <p:cNvSpPr/>
          <p:nvPr/>
        </p:nvSpPr>
        <p:spPr>
          <a:xfrm>
            <a:off x="1693962" y="2596952"/>
            <a:ext cx="62230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5B6577"/>
                </a:solidFill>
                <a:latin typeface="JetBrains Mono" pitchFamily="49" charset="0"/>
                <a:ea typeface="JetBrains Mono" pitchFamily="49" charset="-122"/>
                <a:cs typeface="JetBrains Mono" pitchFamily="49" charset="-120"/>
              </a:rPr>
              <a:t>0</a:t>
            </a:r>
            <a:endParaRPr lang="en-US" sz="1400" dirty="0"/>
          </a:p>
        </p:txBody>
      </p:sp>
      <p:sp>
        <p:nvSpPr>
          <p:cNvPr id="13" name="Text 11"/>
          <p:cNvSpPr/>
          <p:nvPr/>
        </p:nvSpPr>
        <p:spPr>
          <a:xfrm>
            <a:off x="2341662" y="2596952"/>
            <a:ext cx="62230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5B6577"/>
                </a:solidFill>
                <a:latin typeface="JetBrains Mono" pitchFamily="49" charset="0"/>
                <a:ea typeface="JetBrains Mono" pitchFamily="49" charset="-122"/>
                <a:cs typeface="JetBrains Mono" pitchFamily="49" charset="-120"/>
              </a:rPr>
              <a:t>0</a:t>
            </a:r>
            <a:endParaRPr lang="en-US" sz="1400" dirty="0"/>
          </a:p>
        </p:txBody>
      </p:sp>
      <p:sp>
        <p:nvSpPr>
          <p:cNvPr id="14" name="Text 12"/>
          <p:cNvSpPr/>
          <p:nvPr/>
        </p:nvSpPr>
        <p:spPr>
          <a:xfrm>
            <a:off x="2989362" y="2596952"/>
            <a:ext cx="62230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m₃</a:t>
            </a:r>
            <a:endParaRPr lang="en-US" sz="1400" dirty="0"/>
          </a:p>
        </p:txBody>
      </p:sp>
      <p:sp>
        <p:nvSpPr>
          <p:cNvPr id="15" name="Text 13"/>
          <p:cNvSpPr/>
          <p:nvPr/>
        </p:nvSpPr>
        <p:spPr>
          <a:xfrm>
            <a:off x="4500662" y="2200771"/>
            <a:ext cx="476726"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4213D"/>
                </a:solidFill>
                <a:latin typeface="Rubik" pitchFamily="34" charset="0"/>
                <a:ea typeface="Rubik" pitchFamily="34" charset="-122"/>
                <a:cs typeface="Rubik" pitchFamily="34" charset="-120"/>
              </a:rPr>
              <a:t>K =</a:t>
            </a:r>
            <a:endParaRPr lang="en-US" sz="2200" dirty="0"/>
          </a:p>
        </p:txBody>
      </p:sp>
      <p:sp>
        <p:nvSpPr>
          <p:cNvPr id="16" name="Shape 14"/>
          <p:cNvSpPr/>
          <p:nvPr/>
        </p:nvSpPr>
        <p:spPr>
          <a:xfrm>
            <a:off x="5202734" y="1870670"/>
            <a:ext cx="4076700" cy="1051322"/>
          </a:xfrm>
          <a:custGeom>
            <a:avLst/>
            <a:gdLst/>
            <a:ahLst/>
            <a:cxnLst/>
            <a:rect l="l" t="t" r="r" b="b"/>
            <a:pathLst>
              <a:path w="4076700" h="1051322">
                <a:moveTo>
                  <a:pt x="4000500" y="0"/>
                </a:moveTo>
                <a:lnTo>
                  <a:pt x="4000500" y="0"/>
                </a:lnTo>
                <a:arcTo hR="76200" wR="76200" stAng="16200000" swAng="5400000"/>
                <a:lnTo>
                  <a:pt x="4076700" y="975122"/>
                </a:lnTo>
                <a:arcTo hR="76200" wR="76200" stAng="0" swAng="5400000"/>
                <a:lnTo>
                  <a:pt x="4000500" y="1051322"/>
                </a:lnTo>
                <a:arcTo hR="76200" wR="50800" stAng="5400000" swAng="-5400000"/>
                <a:lnTo>
                  <a:pt x="4051300" y="76200"/>
                </a:lnTo>
                <a:arcTo hR="76200" wR="50800" stAng="0" swAng="-5400000"/>
                <a:close/>
                <a:moveTo>
                  <a:pt x="76200" y="1051322"/>
                </a:moveTo>
                <a:lnTo>
                  <a:pt x="76200" y="1051322"/>
                </a:lnTo>
                <a:arcTo hR="76200" wR="76200" stAng="5400000" swAng="5400000"/>
                <a:lnTo>
                  <a:pt x="0" y="76200"/>
                </a:lnTo>
                <a:arcTo hR="76200" wR="76200" stAng="10800000" swAng="5400000"/>
                <a:lnTo>
                  <a:pt x="76200" y="0"/>
                </a:lnTo>
                <a:arcTo hR="76200" wR="50800" stAng="16200000" swAng="-5400000"/>
                <a:lnTo>
                  <a:pt x="25400" y="975122"/>
                </a:lnTo>
                <a:arcTo hR="76200" wR="50800" stAng="10800000" swAng="-5400000"/>
                <a:close/>
              </a:path>
            </a:pathLst>
          </a:custGeom>
          <a:solidFill>
            <a:srgbClr val="14213D"/>
          </a:solidFill>
          <a:ln/>
        </p:spPr>
      </p:sp>
      <p:sp>
        <p:nvSpPr>
          <p:cNvPr id="17" name="Text 15"/>
          <p:cNvSpPr/>
          <p:nvPr/>
        </p:nvSpPr>
        <p:spPr>
          <a:xfrm>
            <a:off x="5329734" y="1946870"/>
            <a:ext cx="125730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B4531A"/>
                </a:solidFill>
                <a:latin typeface="JetBrains Mono" pitchFamily="49" charset="0"/>
                <a:ea typeface="JetBrains Mono" pitchFamily="49" charset="-122"/>
                <a:cs typeface="JetBrains Mono" pitchFamily="49" charset="-120"/>
              </a:rPr>
              <a:t>k₀+k₁</a:t>
            </a:r>
            <a:endParaRPr lang="en-US" sz="1400" dirty="0"/>
          </a:p>
        </p:txBody>
      </p:sp>
      <p:sp>
        <p:nvSpPr>
          <p:cNvPr id="18" name="Text 16"/>
          <p:cNvSpPr/>
          <p:nvPr/>
        </p:nvSpPr>
        <p:spPr>
          <a:xfrm>
            <a:off x="6612434" y="1946870"/>
            <a:ext cx="125730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2F6FB3"/>
                </a:solidFill>
                <a:latin typeface="JetBrains Mono" pitchFamily="49" charset="0"/>
                <a:ea typeface="JetBrains Mono" pitchFamily="49" charset="-122"/>
                <a:cs typeface="JetBrains Mono" pitchFamily="49" charset="-120"/>
              </a:rPr>
              <a:t>−k₁</a:t>
            </a:r>
            <a:endParaRPr lang="en-US" sz="1400" dirty="0"/>
          </a:p>
        </p:txBody>
      </p:sp>
      <p:sp>
        <p:nvSpPr>
          <p:cNvPr id="19" name="Text 17"/>
          <p:cNvSpPr/>
          <p:nvPr/>
        </p:nvSpPr>
        <p:spPr>
          <a:xfrm>
            <a:off x="7895134" y="1946870"/>
            <a:ext cx="125730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5B6577"/>
                </a:solidFill>
                <a:latin typeface="JetBrains Mono" pitchFamily="49" charset="0"/>
                <a:ea typeface="JetBrains Mono" pitchFamily="49" charset="-122"/>
                <a:cs typeface="JetBrains Mono" pitchFamily="49" charset="-120"/>
              </a:rPr>
              <a:t>0</a:t>
            </a:r>
            <a:endParaRPr lang="en-US" sz="1400" dirty="0"/>
          </a:p>
        </p:txBody>
      </p:sp>
      <p:sp>
        <p:nvSpPr>
          <p:cNvPr id="20" name="Text 18"/>
          <p:cNvSpPr/>
          <p:nvPr/>
        </p:nvSpPr>
        <p:spPr>
          <a:xfrm>
            <a:off x="5329734" y="2271911"/>
            <a:ext cx="125730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2F6FB3"/>
                </a:solidFill>
                <a:latin typeface="JetBrains Mono" pitchFamily="49" charset="0"/>
                <a:ea typeface="JetBrains Mono" pitchFamily="49" charset="-122"/>
                <a:cs typeface="JetBrains Mono" pitchFamily="49" charset="-120"/>
              </a:rPr>
              <a:t>−k₁</a:t>
            </a:r>
            <a:endParaRPr lang="en-US" sz="1400" dirty="0"/>
          </a:p>
        </p:txBody>
      </p:sp>
      <p:sp>
        <p:nvSpPr>
          <p:cNvPr id="21" name="Text 19"/>
          <p:cNvSpPr/>
          <p:nvPr/>
        </p:nvSpPr>
        <p:spPr>
          <a:xfrm>
            <a:off x="6612434" y="2271911"/>
            <a:ext cx="125730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B4531A"/>
                </a:solidFill>
                <a:latin typeface="JetBrains Mono" pitchFamily="49" charset="0"/>
                <a:ea typeface="JetBrains Mono" pitchFamily="49" charset="-122"/>
                <a:cs typeface="JetBrains Mono" pitchFamily="49" charset="-120"/>
              </a:rPr>
              <a:t>k₁+k₂</a:t>
            </a:r>
            <a:endParaRPr lang="en-US" sz="1400" dirty="0"/>
          </a:p>
        </p:txBody>
      </p:sp>
      <p:sp>
        <p:nvSpPr>
          <p:cNvPr id="22" name="Text 20"/>
          <p:cNvSpPr/>
          <p:nvPr/>
        </p:nvSpPr>
        <p:spPr>
          <a:xfrm>
            <a:off x="7895134" y="2271911"/>
            <a:ext cx="125730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2F6FB3"/>
                </a:solidFill>
                <a:latin typeface="JetBrains Mono" pitchFamily="49" charset="0"/>
                <a:ea typeface="JetBrains Mono" pitchFamily="49" charset="-122"/>
                <a:cs typeface="JetBrains Mono" pitchFamily="49" charset="-120"/>
              </a:rPr>
              <a:t>−k₂</a:t>
            </a:r>
            <a:endParaRPr lang="en-US" sz="1400" dirty="0"/>
          </a:p>
        </p:txBody>
      </p:sp>
      <p:sp>
        <p:nvSpPr>
          <p:cNvPr id="23" name="Text 21"/>
          <p:cNvSpPr/>
          <p:nvPr/>
        </p:nvSpPr>
        <p:spPr>
          <a:xfrm>
            <a:off x="5329734" y="2596952"/>
            <a:ext cx="125730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5B6577"/>
                </a:solidFill>
                <a:latin typeface="JetBrains Mono" pitchFamily="49" charset="0"/>
                <a:ea typeface="JetBrains Mono" pitchFamily="49" charset="-122"/>
                <a:cs typeface="JetBrains Mono" pitchFamily="49" charset="-120"/>
              </a:rPr>
              <a:t>0</a:t>
            </a:r>
            <a:endParaRPr lang="en-US" sz="1400" dirty="0"/>
          </a:p>
        </p:txBody>
      </p:sp>
      <p:sp>
        <p:nvSpPr>
          <p:cNvPr id="24" name="Text 22"/>
          <p:cNvSpPr/>
          <p:nvPr/>
        </p:nvSpPr>
        <p:spPr>
          <a:xfrm>
            <a:off x="6612434" y="2596952"/>
            <a:ext cx="125730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2F6FB3"/>
                </a:solidFill>
                <a:latin typeface="JetBrains Mono" pitchFamily="49" charset="0"/>
                <a:ea typeface="JetBrains Mono" pitchFamily="49" charset="-122"/>
                <a:cs typeface="JetBrains Mono" pitchFamily="49" charset="-120"/>
              </a:rPr>
              <a:t>−k₂</a:t>
            </a:r>
            <a:endParaRPr lang="en-US" sz="1400" dirty="0"/>
          </a:p>
        </p:txBody>
      </p:sp>
      <p:sp>
        <p:nvSpPr>
          <p:cNvPr id="25" name="Text 23"/>
          <p:cNvSpPr/>
          <p:nvPr/>
        </p:nvSpPr>
        <p:spPr>
          <a:xfrm>
            <a:off x="7895134" y="2596952"/>
            <a:ext cx="125730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B4531A"/>
                </a:solidFill>
                <a:latin typeface="JetBrains Mono" pitchFamily="49" charset="0"/>
                <a:ea typeface="JetBrains Mono" pitchFamily="49" charset="-122"/>
                <a:cs typeface="JetBrains Mono" pitchFamily="49" charset="-120"/>
              </a:rPr>
              <a:t>k₂+k₃</a:t>
            </a:r>
            <a:endParaRPr lang="en-US" sz="1400" dirty="0"/>
          </a:p>
        </p:txBody>
      </p:sp>
      <p:sp>
        <p:nvSpPr>
          <p:cNvPr id="26" name="Shape 24"/>
          <p:cNvSpPr/>
          <p:nvPr/>
        </p:nvSpPr>
        <p:spPr>
          <a:xfrm>
            <a:off x="815975" y="3128367"/>
            <a:ext cx="5175250" cy="1377950"/>
          </a:xfrm>
          <a:prstGeom prst="roundRect">
            <a:avLst>
              <a:gd name="adj" fmla="val 7143"/>
            </a:avLst>
          </a:prstGeom>
          <a:solidFill>
            <a:srgbClr val="FDFCF8"/>
          </a:solidFill>
          <a:ln w="6350">
            <a:solidFill>
              <a:srgbClr val="E2DED3"/>
            </a:solidFill>
            <a:prstDash val="solid"/>
          </a:ln>
        </p:spPr>
      </p:sp>
      <p:sp>
        <p:nvSpPr>
          <p:cNvPr id="27" name="Text 25"/>
          <p:cNvSpPr/>
          <p:nvPr/>
        </p:nvSpPr>
        <p:spPr>
          <a:xfrm>
            <a:off x="1073150" y="3385542"/>
            <a:ext cx="48007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Modos normales</a:t>
            </a:r>
            <a:endParaRPr lang="en-US" sz="1500" dirty="0"/>
          </a:p>
        </p:txBody>
      </p:sp>
      <p:sp>
        <p:nvSpPr>
          <p:cNvPr id="28" name="Text 26"/>
          <p:cNvSpPr/>
          <p:nvPr/>
        </p:nvSpPr>
        <p:spPr>
          <a:xfrm>
            <a:off x="1073150" y="3715742"/>
            <a:ext cx="48007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A5C"/>
                </a:solidFill>
                <a:latin typeface="IBM Plex Sans" pitchFamily="34" charset="0"/>
                <a:ea typeface="IBM Plex Sans" pitchFamily="34" charset="-122"/>
                <a:cs typeface="IBM Plex Sans" pitchFamily="34" charset="-120"/>
              </a:rPr>
              <a:t>Proponer x(t) = v cos(ωt) convierte el problema en K v = ω² M v: un problema de autovalores generalizado.</a:t>
            </a:r>
            <a:endParaRPr lang="en-US" sz="1500" dirty="0"/>
          </a:p>
        </p:txBody>
      </p:sp>
      <p:sp>
        <p:nvSpPr>
          <p:cNvPr id="29" name="Shape 27"/>
          <p:cNvSpPr/>
          <p:nvPr/>
        </p:nvSpPr>
        <p:spPr>
          <a:xfrm>
            <a:off x="6200775" y="3128367"/>
            <a:ext cx="5175250" cy="1377950"/>
          </a:xfrm>
          <a:prstGeom prst="roundRect">
            <a:avLst>
              <a:gd name="adj" fmla="val 7143"/>
            </a:avLst>
          </a:prstGeom>
          <a:solidFill>
            <a:srgbClr val="FDFCF8"/>
          </a:solidFill>
          <a:ln w="6350">
            <a:solidFill>
              <a:srgbClr val="E2DED3"/>
            </a:solidFill>
            <a:prstDash val="solid"/>
          </a:ln>
        </p:spPr>
      </p:sp>
      <p:sp>
        <p:nvSpPr>
          <p:cNvPr id="30" name="Text 28"/>
          <p:cNvSpPr/>
          <p:nvPr/>
        </p:nvSpPr>
        <p:spPr>
          <a:xfrm>
            <a:off x="6457950" y="3385542"/>
            <a:ext cx="48007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Truco numérico</a:t>
            </a:r>
            <a:endParaRPr lang="en-US" sz="1500" dirty="0"/>
          </a:p>
        </p:txBody>
      </p:sp>
      <p:sp>
        <p:nvSpPr>
          <p:cNvPr id="31" name="Text 29"/>
          <p:cNvSpPr/>
          <p:nvPr/>
        </p:nvSpPr>
        <p:spPr>
          <a:xfrm>
            <a:off x="6457950" y="3715742"/>
            <a:ext cx="48007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A5C"/>
                </a:solidFill>
                <a:latin typeface="IBM Plex Sans" pitchFamily="34" charset="0"/>
                <a:ea typeface="IBM Plex Sans" pitchFamily="34" charset="-122"/>
                <a:cs typeface="IBM Plex Sans" pitchFamily="34" charset="-120"/>
              </a:rPr>
              <a:t>A = M⁻½ K M⁻½ es simétrica: numpy.linalg.eigh(A) da ω² y u, y los modos son v = M⁻½ u.</a:t>
            </a:r>
            <a:endParaRPr lang="en-US" sz="1500" dirty="0"/>
          </a:p>
        </p:txBody>
      </p:sp>
      <p:sp>
        <p:nvSpPr>
          <p:cNvPr id="32" name="Text 3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Diagonal (naranja): resortes que tocan la masa · fuera de la diagonal (azul): acoples entre vecinas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1 · FÍSICA · 15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Un resultado de libro para validar el código</a:t>
            </a:r>
            <a:endParaRPr lang="en-US" sz="3000" dirty="0"/>
          </a:p>
        </p:txBody>
      </p:sp>
      <p:sp>
        <p:nvSpPr>
          <p:cNvPr id="4" name="Text 2"/>
          <p:cNvSpPr/>
          <p:nvPr/>
        </p:nvSpPr>
        <p:spPr>
          <a:xfrm>
            <a:off x="812800" y="187067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A5C"/>
                </a:solidFill>
                <a:latin typeface="IBM Plex Sans" pitchFamily="34" charset="0"/>
                <a:ea typeface="IBM Plex Sans" pitchFamily="34" charset="-122"/>
                <a:cs typeface="IBM Plex Sans" pitchFamily="34" charset="-120"/>
              </a:rPr>
              <a:t>Dos masas iguales m y tres resortes iguales k, extremos fijos:</a:t>
            </a:r>
            <a:endParaRPr lang="en-US" sz="1500" dirty="0"/>
          </a:p>
        </p:txBody>
      </p:sp>
      <p:sp>
        <p:nvSpPr>
          <p:cNvPr id="5" name="Shape 3"/>
          <p:cNvSpPr/>
          <p:nvPr/>
        </p:nvSpPr>
        <p:spPr>
          <a:xfrm>
            <a:off x="815975" y="2343745"/>
            <a:ext cx="5175250" cy="2556470"/>
          </a:xfrm>
          <a:prstGeom prst="roundRect">
            <a:avLst>
              <a:gd name="adj" fmla="val 3850"/>
            </a:avLst>
          </a:prstGeom>
          <a:solidFill>
            <a:srgbClr val="FDFCF8"/>
          </a:solidFill>
          <a:ln w="6350">
            <a:solidFill>
              <a:srgbClr val="E2DED3"/>
            </a:solidFill>
            <a:prstDash val="solid"/>
          </a:ln>
        </p:spPr>
      </p:sp>
      <p:sp>
        <p:nvSpPr>
          <p:cNvPr id="6" name="Text 4"/>
          <p:cNvSpPr/>
          <p:nvPr/>
        </p:nvSpPr>
        <p:spPr>
          <a:xfrm>
            <a:off x="1073150" y="2600920"/>
            <a:ext cx="48007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F6FB3"/>
                </a:solidFill>
                <a:latin typeface="Rubik" pitchFamily="34" charset="0"/>
                <a:ea typeface="Rubik" pitchFamily="34" charset="-122"/>
                <a:cs typeface="Rubik" pitchFamily="34" charset="-120"/>
              </a:rPr>
              <a:t>Modo 1 · en fase</a:t>
            </a:r>
            <a:endParaRPr lang="en-US" sz="1500" dirty="0"/>
          </a:p>
        </p:txBody>
      </p:sp>
      <p:sp>
        <p:nvSpPr>
          <p:cNvPr id="7" name="Shape 5"/>
          <p:cNvSpPr/>
          <p:nvPr/>
        </p:nvSpPr>
        <p:spPr>
          <a:xfrm>
            <a:off x="1073150" y="2981920"/>
            <a:ext cx="609600" cy="609600"/>
          </a:xfrm>
          <a:prstGeom prst="roundRect">
            <a:avLst>
              <a:gd name="adj" fmla="val 12500"/>
            </a:avLst>
          </a:prstGeom>
          <a:solidFill>
            <a:srgbClr val="2F6FB3"/>
          </a:solidFill>
          <a:ln/>
        </p:spPr>
      </p:sp>
      <p:pic>
        <p:nvPicPr>
          <p:cNvPr id="8" name="Image 0" descr="arrow-right">    </p:cNvPr>
          <p:cNvPicPr>
            <a:picLocks noChangeAspect="1"/>
          </p:cNvPicPr>
          <p:nvPr/>
        </p:nvPicPr>
        <p:blipFill>
          <a:blip r:embed="rId1"/>
          <a:srcRect l="0" r="0" t="0" b="0"/>
          <a:stretch/>
        </p:blipFill>
        <p:spPr>
          <a:xfrm>
            <a:off x="1936750" y="3134320"/>
            <a:ext cx="609600" cy="304800"/>
          </a:xfrm>
          <a:prstGeom prst="rect">
            <a:avLst/>
          </a:prstGeom>
        </p:spPr>
      </p:pic>
      <p:sp>
        <p:nvSpPr>
          <p:cNvPr id="9" name="Shape 6"/>
          <p:cNvSpPr/>
          <p:nvPr/>
        </p:nvSpPr>
        <p:spPr>
          <a:xfrm>
            <a:off x="2800350" y="2981920"/>
            <a:ext cx="609600" cy="609600"/>
          </a:xfrm>
          <a:prstGeom prst="roundRect">
            <a:avLst>
              <a:gd name="adj" fmla="val 12500"/>
            </a:avLst>
          </a:prstGeom>
          <a:solidFill>
            <a:srgbClr val="2F6FB3"/>
          </a:solidFill>
          <a:ln/>
        </p:spPr>
      </p:sp>
      <p:pic>
        <p:nvPicPr>
          <p:cNvPr id="10" name="Image 1" descr="arrow-right">    </p:cNvPr>
          <p:cNvPicPr>
            <a:picLocks noChangeAspect="1"/>
          </p:cNvPicPr>
          <p:nvPr/>
        </p:nvPicPr>
        <p:blipFill>
          <a:blip r:embed="rId2"/>
          <a:srcRect l="0" r="0" t="0" b="0"/>
          <a:stretch/>
        </p:blipFill>
        <p:spPr>
          <a:xfrm>
            <a:off x="3663950" y="3134320"/>
            <a:ext cx="609600" cy="304800"/>
          </a:xfrm>
          <a:prstGeom prst="rect">
            <a:avLst/>
          </a:prstGeom>
        </p:spPr>
      </p:pic>
      <p:sp>
        <p:nvSpPr>
          <p:cNvPr id="11" name="Text 7"/>
          <p:cNvSpPr/>
          <p:nvPr/>
        </p:nvSpPr>
        <p:spPr>
          <a:xfrm>
            <a:off x="1073150" y="3743920"/>
            <a:ext cx="4800727" cy="558800"/>
          </a:xfrm>
          <a:prstGeom prst="rect">
            <a:avLst/>
          </a:prstGeom>
          <a:noFill/>
          <a:ln/>
        </p:spPr>
        <p:txBody>
          <a:bodyPr wrap="square" lIns="0" tIns="0" rIns="0" bIns="0" rtlCol="0" anchor="t">
            <a:normAutofit/>
          </a:bodyPr>
          <a:lstStyle/>
          <a:p>
            <a:pPr algn="l" indent="0" marL="0">
              <a:lnSpc>
                <a:spcPts val="4200"/>
              </a:lnSpc>
              <a:buNone/>
            </a:pPr>
            <a:r>
              <a:rPr lang="en-US" sz="3000" dirty="0">
                <a:solidFill>
                  <a:srgbClr val="14213D"/>
                </a:solidFill>
                <a:latin typeface="Rubik" pitchFamily="34" charset="0"/>
                <a:ea typeface="Rubik" pitchFamily="34" charset="-122"/>
                <a:cs typeface="Rubik" pitchFamily="34" charset="-120"/>
              </a:rPr>
              <a:t>ω₁ = √(k/m)</a:t>
            </a:r>
            <a:endParaRPr lang="en-US" sz="3000" dirty="0"/>
          </a:p>
        </p:txBody>
      </p:sp>
      <p:sp>
        <p:nvSpPr>
          <p:cNvPr id="12" name="Text 8"/>
          <p:cNvSpPr/>
          <p:nvPr/>
        </p:nvSpPr>
        <p:spPr>
          <a:xfrm>
            <a:off x="1073150" y="4429720"/>
            <a:ext cx="48007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Las masas se mueven juntas; el resorte central no se estira.</a:t>
            </a:r>
            <a:endParaRPr lang="en-US" sz="1200" dirty="0"/>
          </a:p>
        </p:txBody>
      </p:sp>
      <p:sp>
        <p:nvSpPr>
          <p:cNvPr id="13" name="Shape 9"/>
          <p:cNvSpPr/>
          <p:nvPr/>
        </p:nvSpPr>
        <p:spPr>
          <a:xfrm>
            <a:off x="6200775" y="2343745"/>
            <a:ext cx="5175250" cy="2556470"/>
          </a:xfrm>
          <a:prstGeom prst="roundRect">
            <a:avLst>
              <a:gd name="adj" fmla="val 3850"/>
            </a:avLst>
          </a:prstGeom>
          <a:solidFill>
            <a:srgbClr val="FDFCF8"/>
          </a:solidFill>
          <a:ln w="6350">
            <a:solidFill>
              <a:srgbClr val="E2DED3"/>
            </a:solidFill>
            <a:prstDash val="solid"/>
          </a:ln>
        </p:spPr>
      </p:sp>
      <p:sp>
        <p:nvSpPr>
          <p:cNvPr id="14" name="Text 10"/>
          <p:cNvSpPr/>
          <p:nvPr/>
        </p:nvSpPr>
        <p:spPr>
          <a:xfrm>
            <a:off x="6457950" y="2600920"/>
            <a:ext cx="48007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4531A"/>
                </a:solidFill>
                <a:latin typeface="Rubik" pitchFamily="34" charset="0"/>
                <a:ea typeface="Rubik" pitchFamily="34" charset="-122"/>
                <a:cs typeface="Rubik" pitchFamily="34" charset="-120"/>
              </a:rPr>
              <a:t>Modo 2 · en contrafase</a:t>
            </a:r>
            <a:endParaRPr lang="en-US" sz="1500" dirty="0"/>
          </a:p>
        </p:txBody>
      </p:sp>
      <p:pic>
        <p:nvPicPr>
          <p:cNvPr id="15" name="Image 2" descr="arrow-left">    </p:cNvPr>
          <p:cNvPicPr>
            <a:picLocks noChangeAspect="1"/>
          </p:cNvPicPr>
          <p:nvPr/>
        </p:nvPicPr>
        <p:blipFill>
          <a:blip r:embed="rId3"/>
          <a:srcRect l="0" r="0" t="0" b="0"/>
          <a:stretch/>
        </p:blipFill>
        <p:spPr>
          <a:xfrm>
            <a:off x="6457950" y="3134320"/>
            <a:ext cx="609600" cy="304800"/>
          </a:xfrm>
          <a:prstGeom prst="rect">
            <a:avLst/>
          </a:prstGeom>
        </p:spPr>
      </p:pic>
      <p:sp>
        <p:nvSpPr>
          <p:cNvPr id="16" name="Shape 11"/>
          <p:cNvSpPr/>
          <p:nvPr/>
        </p:nvSpPr>
        <p:spPr>
          <a:xfrm>
            <a:off x="7321550" y="2981920"/>
            <a:ext cx="609600" cy="609600"/>
          </a:xfrm>
          <a:prstGeom prst="roundRect">
            <a:avLst>
              <a:gd name="adj" fmla="val 12500"/>
            </a:avLst>
          </a:prstGeom>
          <a:solidFill>
            <a:srgbClr val="B4531A"/>
          </a:solidFill>
          <a:ln/>
        </p:spPr>
      </p:sp>
      <p:sp>
        <p:nvSpPr>
          <p:cNvPr id="17" name="Shape 12"/>
          <p:cNvSpPr/>
          <p:nvPr/>
        </p:nvSpPr>
        <p:spPr>
          <a:xfrm>
            <a:off x="8185150" y="2981920"/>
            <a:ext cx="609600" cy="609600"/>
          </a:xfrm>
          <a:prstGeom prst="roundRect">
            <a:avLst>
              <a:gd name="adj" fmla="val 12500"/>
            </a:avLst>
          </a:prstGeom>
          <a:solidFill>
            <a:srgbClr val="B4531A"/>
          </a:solidFill>
          <a:ln/>
        </p:spPr>
      </p:sp>
      <p:pic>
        <p:nvPicPr>
          <p:cNvPr id="18" name="Image 3" descr="arrow-right">    </p:cNvPr>
          <p:cNvPicPr>
            <a:picLocks noChangeAspect="1"/>
          </p:cNvPicPr>
          <p:nvPr/>
        </p:nvPicPr>
        <p:blipFill>
          <a:blip r:embed="rId4"/>
          <a:srcRect l="0" r="0" t="0" b="0"/>
          <a:stretch/>
        </p:blipFill>
        <p:spPr>
          <a:xfrm>
            <a:off x="9048750" y="3134320"/>
            <a:ext cx="609600" cy="304800"/>
          </a:xfrm>
          <a:prstGeom prst="rect">
            <a:avLst/>
          </a:prstGeom>
        </p:spPr>
      </p:pic>
      <p:sp>
        <p:nvSpPr>
          <p:cNvPr id="19" name="Text 13"/>
          <p:cNvSpPr/>
          <p:nvPr/>
        </p:nvSpPr>
        <p:spPr>
          <a:xfrm>
            <a:off x="6457950" y="3743920"/>
            <a:ext cx="4800727" cy="558800"/>
          </a:xfrm>
          <a:prstGeom prst="rect">
            <a:avLst/>
          </a:prstGeom>
          <a:noFill/>
          <a:ln/>
        </p:spPr>
        <p:txBody>
          <a:bodyPr wrap="square" lIns="0" tIns="0" rIns="0" bIns="0" rtlCol="0" anchor="t">
            <a:normAutofit/>
          </a:bodyPr>
          <a:lstStyle/>
          <a:p>
            <a:pPr algn="l" indent="0" marL="0">
              <a:lnSpc>
                <a:spcPts val="4200"/>
              </a:lnSpc>
              <a:buNone/>
            </a:pPr>
            <a:r>
              <a:rPr lang="en-US" sz="3000" dirty="0">
                <a:solidFill>
                  <a:srgbClr val="14213D"/>
                </a:solidFill>
                <a:latin typeface="Rubik" pitchFamily="34" charset="0"/>
                <a:ea typeface="Rubik" pitchFamily="34" charset="-122"/>
                <a:cs typeface="Rubik" pitchFamily="34" charset="-120"/>
              </a:rPr>
              <a:t>ω₂ = √(3k/m)</a:t>
            </a:r>
            <a:endParaRPr lang="en-US" sz="3000" dirty="0"/>
          </a:p>
        </p:txBody>
      </p:sp>
      <p:sp>
        <p:nvSpPr>
          <p:cNvPr id="20" name="Text 14"/>
          <p:cNvSpPr/>
          <p:nvPr/>
        </p:nvSpPr>
        <p:spPr>
          <a:xfrm>
            <a:off x="6457950" y="4429720"/>
            <a:ext cx="48007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Se mueven en sentidos opuestos; el resorte central trabaja doble.</a:t>
            </a:r>
            <a:endParaRPr lang="en-US" sz="1200" dirty="0"/>
          </a:p>
        </p:txBody>
      </p:sp>
      <p:sp>
        <p:nvSpPr>
          <p:cNvPr id="21"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Este caso es la prueba test_frecuencias_dos_masas_tres_resortes de la etapa 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2 · DISEÑO · 15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Separar la lógica de la interfaz</a:t>
            </a:r>
            <a:endParaRPr lang="en-US" sz="3000" dirty="0"/>
          </a:p>
        </p:txBody>
      </p:sp>
      <p:sp>
        <p:nvSpPr>
          <p:cNvPr id="4" name="Shape 2"/>
          <p:cNvSpPr/>
          <p:nvPr/>
        </p:nvSpPr>
        <p:spPr>
          <a:xfrm>
            <a:off x="819150" y="1877020"/>
            <a:ext cx="2705100" cy="861020"/>
          </a:xfrm>
          <a:prstGeom prst="roundRect">
            <a:avLst>
              <a:gd name="adj" fmla="val 11062"/>
            </a:avLst>
          </a:prstGeom>
          <a:solidFill>
            <a:srgbClr val="FDFCF8"/>
          </a:solidFill>
          <a:ln w="12700">
            <a:solidFill>
              <a:srgbClr val="2F6FB3"/>
            </a:solidFill>
            <a:prstDash val="solid"/>
          </a:ln>
        </p:spPr>
      </p:sp>
      <p:sp>
        <p:nvSpPr>
          <p:cNvPr id="5" name="Text 3"/>
          <p:cNvSpPr/>
          <p:nvPr/>
        </p:nvSpPr>
        <p:spPr>
          <a:xfrm>
            <a:off x="1003300" y="2061170"/>
            <a:ext cx="240690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F6FB3"/>
                </a:solidFill>
                <a:latin typeface="JetBrains Mono" pitchFamily="49" charset="0"/>
                <a:ea typeface="JetBrains Mono" pitchFamily="49" charset="-122"/>
                <a:cs typeface="JetBrains Mono" pitchFamily="49" charset="-120"/>
              </a:rPr>
              <a:t>GUI.py</a:t>
            </a:r>
            <a:endParaRPr lang="en-US" sz="1500" dirty="0"/>
          </a:p>
        </p:txBody>
      </p:sp>
      <p:sp>
        <p:nvSpPr>
          <p:cNvPr id="6" name="Text 4"/>
          <p:cNvSpPr/>
          <p:nvPr/>
        </p:nvSpPr>
        <p:spPr>
          <a:xfrm>
            <a:off x="1003300" y="2340570"/>
            <a:ext cx="24069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tkinter + matplotlib</a:t>
            </a:r>
            <a:endParaRPr lang="en-US" sz="1200" dirty="0"/>
          </a:p>
        </p:txBody>
      </p:sp>
      <p:sp>
        <p:nvSpPr>
          <p:cNvPr id="7" name="Shape 5"/>
          <p:cNvSpPr/>
          <p:nvPr/>
        </p:nvSpPr>
        <p:spPr>
          <a:xfrm>
            <a:off x="3689350" y="1877020"/>
            <a:ext cx="2705100" cy="861020"/>
          </a:xfrm>
          <a:prstGeom prst="roundRect">
            <a:avLst>
              <a:gd name="adj" fmla="val 11062"/>
            </a:avLst>
          </a:prstGeom>
          <a:solidFill>
            <a:srgbClr val="FDFCF8"/>
          </a:solidFill>
          <a:ln w="12700">
            <a:solidFill>
              <a:srgbClr val="2F6FB3"/>
            </a:solidFill>
            <a:prstDash val="dash"/>
          </a:ln>
        </p:spPr>
      </p:sp>
      <p:sp>
        <p:nvSpPr>
          <p:cNvPr id="8" name="Text 6"/>
          <p:cNvSpPr/>
          <p:nvPr/>
        </p:nvSpPr>
        <p:spPr>
          <a:xfrm>
            <a:off x="3873500" y="2061170"/>
            <a:ext cx="240690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F6FB3"/>
                </a:solidFill>
                <a:latin typeface="JetBrains Mono" pitchFamily="49" charset="0"/>
                <a:ea typeface="JetBrains Mono" pitchFamily="49" charset="-122"/>
                <a:cs typeface="JetBrains Mono" pitchFamily="49" charset="-120"/>
              </a:rPr>
              <a:t>otra interfaz</a:t>
            </a:r>
            <a:endParaRPr lang="en-US" sz="1500" dirty="0"/>
          </a:p>
        </p:txBody>
      </p:sp>
      <p:sp>
        <p:nvSpPr>
          <p:cNvPr id="9" name="Text 7"/>
          <p:cNvSpPr/>
          <p:nvPr/>
        </p:nvSpPr>
        <p:spPr>
          <a:xfrm>
            <a:off x="3873500" y="2340570"/>
            <a:ext cx="24069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consola, notebook, web</a:t>
            </a:r>
            <a:endParaRPr lang="en-US" sz="1200" dirty="0"/>
          </a:p>
        </p:txBody>
      </p:sp>
      <p:pic>
        <p:nvPicPr>
          <p:cNvPr id="10" name="Image 0" descr="arrow-down">    </p:cNvPr>
          <p:cNvPicPr>
            <a:picLocks noChangeAspect="1"/>
          </p:cNvPicPr>
          <p:nvPr/>
        </p:nvPicPr>
        <p:blipFill>
          <a:blip r:embed="rId1"/>
          <a:srcRect l="0" r="0" t="0" b="0"/>
          <a:stretch/>
        </p:blipFill>
        <p:spPr>
          <a:xfrm>
            <a:off x="2470249" y="2845991"/>
            <a:ext cx="279400" cy="508000"/>
          </a:xfrm>
          <a:prstGeom prst="rect">
            <a:avLst/>
          </a:prstGeom>
        </p:spPr>
      </p:pic>
      <p:sp>
        <p:nvSpPr>
          <p:cNvPr id="11" name="Text 8"/>
          <p:cNvSpPr/>
          <p:nvPr/>
        </p:nvSpPr>
        <p:spPr>
          <a:xfrm>
            <a:off x="2902049" y="2993330"/>
            <a:ext cx="22095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importa sólo la API pública</a:t>
            </a:r>
            <a:endParaRPr lang="en-US" sz="1200" dirty="0"/>
          </a:p>
        </p:txBody>
      </p:sp>
      <p:sp>
        <p:nvSpPr>
          <p:cNvPr id="12" name="Shape 9"/>
          <p:cNvSpPr/>
          <p:nvPr/>
        </p:nvSpPr>
        <p:spPr>
          <a:xfrm>
            <a:off x="812800" y="3455591"/>
            <a:ext cx="5588000" cy="848320"/>
          </a:xfrm>
          <a:prstGeom prst="roundRect">
            <a:avLst>
              <a:gd name="adj" fmla="val 11977"/>
            </a:avLst>
          </a:prstGeom>
          <a:solidFill>
            <a:srgbClr val="14213D"/>
          </a:solidFill>
          <a:ln/>
        </p:spPr>
      </p:sp>
      <p:sp>
        <p:nvSpPr>
          <p:cNvPr id="13" name="Text 10"/>
          <p:cNvSpPr/>
          <p:nvPr/>
        </p:nvSpPr>
        <p:spPr>
          <a:xfrm>
            <a:off x="990600" y="3633391"/>
            <a:ext cx="538937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35E"/>
                </a:solidFill>
                <a:latin typeface="JetBrains Mono" pitchFamily="49" charset="0"/>
                <a:ea typeface="JetBrains Mono" pitchFamily="49" charset="-122"/>
                <a:cs typeface="JetBrains Mono" pitchFamily="49" charset="-120"/>
              </a:rPr>
              <a:t>osciladores_acoplados/core.py</a:t>
            </a:r>
            <a:endParaRPr lang="en-US" sz="1500" dirty="0"/>
          </a:p>
        </p:txBody>
      </p:sp>
      <p:sp>
        <p:nvSpPr>
          <p:cNvPr id="14" name="Text 11"/>
          <p:cNvSpPr/>
          <p:nvPr/>
        </p:nvSpPr>
        <p:spPr>
          <a:xfrm>
            <a:off x="990600" y="3912791"/>
            <a:ext cx="53893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física del sistema + estrategias de solución · se publica en PyPI</a:t>
            </a:r>
            <a:endParaRPr lang="en-US" sz="1200" dirty="0"/>
          </a:p>
        </p:txBody>
      </p:sp>
      <p:pic>
        <p:nvPicPr>
          <p:cNvPr id="15" name="Image 1" descr="arrow-down">    </p:cNvPr>
          <p:cNvPicPr>
            <a:picLocks noChangeAspect="1"/>
          </p:cNvPicPr>
          <p:nvPr/>
        </p:nvPicPr>
        <p:blipFill>
          <a:blip r:embed="rId2"/>
          <a:srcRect l="0" r="0" t="0" b="0"/>
          <a:stretch/>
        </p:blipFill>
        <p:spPr>
          <a:xfrm>
            <a:off x="3467100" y="4405511"/>
            <a:ext cx="279400" cy="508000"/>
          </a:xfrm>
          <a:prstGeom prst="rect">
            <a:avLst/>
          </a:prstGeom>
        </p:spPr>
      </p:pic>
      <p:sp>
        <p:nvSpPr>
          <p:cNvPr id="16" name="Text 12"/>
          <p:cNvSpPr/>
          <p:nvPr/>
        </p:nvSpPr>
        <p:spPr>
          <a:xfrm>
            <a:off x="812800" y="5015111"/>
            <a:ext cx="5588000" cy="584200"/>
          </a:xfrm>
          <a:prstGeom prst="roundRect">
            <a:avLst>
              <a:gd name="adj" fmla="val 17391"/>
            </a:avLst>
          </a:prstGeom>
          <a:solidFill>
            <a:srgbClr val="EFEBE1"/>
          </a:solidFill>
          <a:ln/>
        </p:spPr>
        <p:txBody>
          <a:bodyPr wrap="square" lIns="148042" tIns="148042" rIns="0" bIns="122642" rtlCol="0" anchor="t">
            <a:normAutofit/>
          </a:bodyPr>
          <a:lstStyle/>
          <a:p>
            <a:pPr algn="l" indent="0" marL="0">
              <a:lnSpc>
                <a:spcPts val="1800"/>
              </a:lnSpc>
              <a:buNone/>
            </a:pPr>
            <a:r>
              <a:rPr lang="en-US" sz="1500" b="1" dirty="0">
                <a:solidFill>
                  <a:srgbClr val="14213D"/>
                </a:solidFill>
                <a:latin typeface="JetBrains Mono" pitchFamily="49" charset="0"/>
                <a:ea typeface="JetBrains Mono" pitchFamily="49" charset="-122"/>
                <a:cs typeface="JetBrains Mono" pitchFamily="49" charset="-120"/>
              </a:rPr>
              <a:t>numpy</a:t>
            </a:r>
            <a:endParaRPr lang="en-US" sz="1500" dirty="0"/>
          </a:p>
        </p:txBody>
      </p:sp>
      <p:sp>
        <p:nvSpPr>
          <p:cNvPr id="17" name="Text 13"/>
          <p:cNvSpPr/>
          <p:nvPr/>
        </p:nvSpPr>
        <p:spPr>
          <a:xfrm>
            <a:off x="6807200" y="2731691"/>
            <a:ext cx="470916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E4A5C"/>
                </a:solidFill>
                <a:latin typeface="IBM Plex Sans" pitchFamily="34" charset="0"/>
                <a:ea typeface="IBM Plex Sans" pitchFamily="34" charset="-122"/>
                <a:cs typeface="IBM Plex Sans" pitchFamily="34" charset="-120"/>
              </a:rPr>
              <a:t>core.py nunca importa tkinter.</a:t>
            </a:r>
            <a:r>
              <a:rPr lang="en-US" sz="1500" dirty="0">
                <a:solidFill>
                  <a:srgbClr val="3E4A5C"/>
                </a:solidFill>
                <a:latin typeface="IBM Plex Sans" pitchFamily="34" charset="0"/>
                <a:ea typeface="IBM Plex Sans" pitchFamily="34" charset="-122"/>
                <a:cs typeface="IBM Plex Sans" pitchFamily="34" charset="-120"/>
              </a:rPr>
              <a:t> Se puede probar y reutilizar sin abrir ventanas.</a:t>
            </a:r>
            <a:endParaRPr lang="en-US" sz="1500" dirty="0"/>
          </a:p>
        </p:txBody>
      </p:sp>
      <p:sp>
        <p:nvSpPr>
          <p:cNvPr id="18" name="Text 14"/>
          <p:cNvSpPr/>
          <p:nvPr/>
        </p:nvSpPr>
        <p:spPr>
          <a:xfrm>
            <a:off x="6807200" y="3468291"/>
            <a:ext cx="470916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E4A5C"/>
                </a:solidFill>
                <a:latin typeface="IBM Plex Sans" pitchFamily="34" charset="0"/>
                <a:ea typeface="IBM Plex Sans" pitchFamily="34" charset="-122"/>
                <a:cs typeface="IBM Plex Sans" pitchFamily="34" charset="-120"/>
              </a:rPr>
              <a:t>La GUI no hace física.</a:t>
            </a:r>
            <a:r>
              <a:rPr lang="en-US" sz="1500" dirty="0">
                <a:solidFill>
                  <a:srgbClr val="3E4A5C"/>
                </a:solidFill>
                <a:latin typeface="IBM Plex Sans" pitchFamily="34" charset="0"/>
                <a:ea typeface="IBM Plex Sans" pitchFamily="34" charset="-122"/>
                <a:cs typeface="IBM Plex Sans" pitchFamily="34" charset="-120"/>
              </a:rPr>
              <a:t> Lee texto, llama a la librería y dibuja el resultado.</a:t>
            </a:r>
            <a:endParaRPr lang="en-US" sz="1500" dirty="0"/>
          </a:p>
        </p:txBody>
      </p:sp>
      <p:sp>
        <p:nvSpPr>
          <p:cNvPr id="19" name="Text 15"/>
          <p:cNvSpPr/>
          <p:nvPr/>
        </p:nvSpPr>
        <p:spPr>
          <a:xfrm>
            <a:off x="6807200" y="4204891"/>
            <a:ext cx="470916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E4A5C"/>
                </a:solidFill>
                <a:latin typeface="IBM Plex Sans" pitchFamily="34" charset="0"/>
                <a:ea typeface="IBM Plex Sans" pitchFamily="34" charset="-122"/>
                <a:cs typeface="IBM Plex Sans" pitchFamily="34" charset="-120"/>
              </a:rPr>
              <a:t>Las flechas bajan.</a:t>
            </a:r>
            <a:r>
              <a:rPr lang="en-US" sz="1500" dirty="0">
                <a:solidFill>
                  <a:srgbClr val="3E4A5C"/>
                </a:solidFill>
                <a:latin typeface="IBM Plex Sans" pitchFamily="34" charset="0"/>
                <a:ea typeface="IBM Plex Sans" pitchFamily="34" charset="-122"/>
                <a:cs typeface="IBM Plex Sans" pitchFamily="34" charset="-120"/>
              </a:rPr>
              <a:t> Una capa sólo conoce a la de abajo.</a:t>
            </a:r>
            <a:endParaRPr lang="en-US" sz="1500" dirty="0"/>
          </a:p>
        </p:txBody>
      </p:sp>
      <p:sp>
        <p:nvSpPr>
          <p:cNvPr id="20"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Osciladores acoplados · de la física a PyPI</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2 · DISEÑO · 15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Una tarea, cuatro algoritmos</a:t>
            </a:r>
            <a:endParaRPr lang="en-US" sz="3000" dirty="0"/>
          </a:p>
        </p:txBody>
      </p:sp>
      <p:sp>
        <p:nvSpPr>
          <p:cNvPr id="4" name="Text 2"/>
          <p:cNvSpPr/>
          <p:nvPr/>
        </p:nvSpPr>
        <p:spPr>
          <a:xfrm>
            <a:off x="812800" y="1870670"/>
            <a:ext cx="533704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SIN PATRÓN</a:t>
            </a:r>
            <a:endParaRPr lang="en-US" sz="1200" dirty="0"/>
          </a:p>
        </p:txBody>
      </p:sp>
      <p:sp>
        <p:nvSpPr>
          <p:cNvPr id="5" name="Text 3"/>
          <p:cNvSpPr/>
          <p:nvPr/>
        </p:nvSpPr>
        <p:spPr>
          <a:xfrm>
            <a:off x="812800" y="2185591"/>
            <a:ext cx="5181600" cy="2539603"/>
          </a:xfrm>
          <a:prstGeom prst="roundRect">
            <a:avLst>
              <a:gd name="adj" fmla="val 4001"/>
            </a:avLst>
          </a:prstGeom>
          <a:solidFill>
            <a:srgbClr val="14213D"/>
          </a:solidFill>
          <a:ln/>
        </p:spPr>
        <p:txBody>
          <a:bodyPr wrap="none" lIns="224242" tIns="173442" rIns="84034" bIns="148042" rtlCol="0" anchor="t">
            <a:normAutofit/>
          </a:bodyPr>
          <a:lstStyle/>
          <a:p>
            <a:pPr algn="l" indent="0" marL="0">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resolver(sistema, x0, v0, metodo):</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if</a:t>
            </a:r>
            <a:r>
              <a:rPr lang="en-US" sz="1200" dirty="0">
                <a:solidFill>
                  <a:srgbClr val="E8EDF5"/>
                </a:solidFill>
                <a:latin typeface="JetBrains Mono" pitchFamily="49" charset="0"/>
                <a:ea typeface="JetBrains Mono" pitchFamily="49" charset="-122"/>
                <a:cs typeface="JetBrains Mono" pitchFamily="49" charset="-120"/>
              </a:rPr>
              <a:t> metodo == "euler":</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elif metodo == "verlet":</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elif metodo == "rk4":</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elif metodo == "exacto":</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8DA2BF"/>
                </a:solidFill>
                <a:latin typeface="JetBrains Mono" pitchFamily="49" charset="0"/>
                <a:ea typeface="JetBrains Mono" pitchFamily="49" charset="-122"/>
                <a:cs typeface="JetBrains Mono" pitchFamily="49" charset="-120"/>
              </a:rPr>
              <a:t># método nuevo = editar esta función</a:t>
            </a:r>
            <a:endParaRPr lang="en-US" sz="1200" dirty="0"/>
          </a:p>
        </p:txBody>
      </p:sp>
      <p:sp>
        <p:nvSpPr>
          <p:cNvPr id="6" name="Text 4"/>
          <p:cNvSpPr/>
          <p:nvPr/>
        </p:nvSpPr>
        <p:spPr>
          <a:xfrm>
            <a:off x="812800" y="4826794"/>
            <a:ext cx="533704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A5C"/>
                </a:solidFill>
                <a:latin typeface="IBM Plex Sans" pitchFamily="34" charset="0"/>
                <a:ea typeface="IBM Plex Sans" pitchFamily="34" charset="-122"/>
                <a:cs typeface="IBM Plex Sans" pitchFamily="34" charset="-120"/>
              </a:rPr>
              <a:t>Todos los algoritmos en una función que crece sin fin, y la GUI debe conocer cada nombre.</a:t>
            </a:r>
            <a:endParaRPr lang="en-US" sz="1500" dirty="0"/>
          </a:p>
        </p:txBody>
      </p:sp>
      <p:sp>
        <p:nvSpPr>
          <p:cNvPr id="7" name="Text 5"/>
          <p:cNvSpPr/>
          <p:nvPr/>
        </p:nvSpPr>
        <p:spPr>
          <a:xfrm>
            <a:off x="6197600" y="1870670"/>
            <a:ext cx="533704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3"/>
                </a:solidFill>
                <a:latin typeface="IBM Plex Sans" pitchFamily="34" charset="0"/>
                <a:ea typeface="IBM Plex Sans" pitchFamily="34" charset="-122"/>
                <a:cs typeface="IBM Plex Sans" pitchFamily="34" charset="-120"/>
              </a:rPr>
              <a:t>CON STRATEGY</a:t>
            </a:r>
            <a:endParaRPr lang="en-US" sz="1200" dirty="0"/>
          </a:p>
        </p:txBody>
      </p:sp>
      <p:sp>
        <p:nvSpPr>
          <p:cNvPr id="8" name="Text 6"/>
          <p:cNvSpPr/>
          <p:nvPr/>
        </p:nvSpPr>
        <p:spPr>
          <a:xfrm>
            <a:off x="6197600" y="2185591"/>
            <a:ext cx="5181600" cy="2326283"/>
          </a:xfrm>
          <a:prstGeom prst="roundRect">
            <a:avLst>
              <a:gd name="adj" fmla="val 4367"/>
            </a:avLst>
          </a:prstGeom>
          <a:solidFill>
            <a:srgbClr val="14213D"/>
          </a:solidFill>
          <a:ln/>
        </p:spPr>
        <p:txBody>
          <a:bodyPr wrap="none" lIns="224242" tIns="173442" rIns="84034" bIns="148042" rtlCol="0" anchor="t">
            <a:normAutofit/>
          </a:bodyPr>
          <a:lstStyle/>
          <a:p>
            <a:pPr algn="l" indent="0" marL="0">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class</a:t>
            </a:r>
            <a:r>
              <a:rPr lang="en-US" sz="1200" dirty="0">
                <a:solidFill>
                  <a:srgbClr val="E8EDF5"/>
                </a:solidFill>
                <a:latin typeface="JetBrains Mono" pitchFamily="49" charset="0"/>
                <a:ea typeface="JetBrains Mono" pitchFamily="49" charset="-122"/>
                <a:cs typeface="JetBrains Mono" pitchFamily="49" charset="-120"/>
              </a:rPr>
              <a:t> VelocityVerlet(IntegradorNumerico):</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nombre = "Velocity Verlet"</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paso(self, sistema, x, v, dt): ...</a:t>
            </a:r>
            <a:endParaRPr lang="en-US" sz="1200" dirty="0"/>
          </a:p>
          <a:p>
            <a:pPr algn="l" indent="0" marL="0">
              <a:lnSpc>
                <a:spcPts val="1680"/>
              </a:lnSpc>
              <a:buNone/>
            </a:pP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sim = Simulador(sistema, VelocityVerlet())</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res1 = sim.ejecutar(x0, v0, 20, 0.01)</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sim.estrategia = RungeKutta4()</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res2 = sim.ejecutar(x0, v0, 20, 0.01)</a:t>
            </a:r>
            <a:endParaRPr lang="en-US" sz="1200" dirty="0"/>
          </a:p>
          <a:p>
            <a:pPr algn="l" indent="0" marL="0">
              <a:lnSpc>
                <a:spcPts val="1680"/>
              </a:lnSpc>
              <a:buNone/>
            </a:pPr>
            <a:r>
              <a:rPr lang="en-US" sz="1200" dirty="0">
                <a:solidFill>
                  <a:srgbClr val="8DA2BF"/>
                </a:solidFill>
                <a:latin typeface="JetBrains Mono" pitchFamily="49" charset="0"/>
                <a:ea typeface="JetBrains Mono" pitchFamily="49" charset="-122"/>
                <a:cs typeface="JetBrains Mono" pitchFamily="49" charset="-120"/>
              </a:rPr>
              <a:t># método nuevo = clase nueva</a:t>
            </a:r>
            <a:endParaRPr lang="en-US" sz="1200" dirty="0"/>
          </a:p>
        </p:txBody>
      </p:sp>
      <p:sp>
        <p:nvSpPr>
          <p:cNvPr id="9" name="Text 7"/>
          <p:cNvSpPr/>
          <p:nvPr/>
        </p:nvSpPr>
        <p:spPr>
          <a:xfrm>
            <a:off x="6197600" y="4613473"/>
            <a:ext cx="533704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A5C"/>
                </a:solidFill>
                <a:latin typeface="IBM Plex Sans" pitchFamily="34" charset="0"/>
                <a:ea typeface="IBM Plex Sans" pitchFamily="34" charset="-122"/>
                <a:cs typeface="IBM Plex Sans" pitchFamily="34" charset="-120"/>
              </a:rPr>
              <a:t>Cada método vive aislado y se cambia en una línea: el resto del código no se entera.</a:t>
            </a:r>
            <a:endParaRPr lang="en-US" sz="15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Osciladores acoplados · de la física a PyPI</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2 · DISEÑO · 15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Patrón Strategy: métodos intercambiables</a:t>
            </a:r>
            <a:endParaRPr lang="en-US" sz="3000" dirty="0"/>
          </a:p>
        </p:txBody>
      </p:sp>
      <p:sp>
        <p:nvSpPr>
          <p:cNvPr id="4" name="Shape 2"/>
          <p:cNvSpPr/>
          <p:nvPr/>
        </p:nvSpPr>
        <p:spPr>
          <a:xfrm>
            <a:off x="822325" y="2105025"/>
            <a:ext cx="2774950" cy="933450"/>
          </a:xfrm>
          <a:prstGeom prst="roundRect">
            <a:avLst>
              <a:gd name="adj" fmla="val 9864"/>
            </a:avLst>
          </a:prstGeom>
          <a:solidFill>
            <a:srgbClr val="FDFCF8"/>
          </a:solidFill>
          <a:ln w="19050">
            <a:solidFill>
              <a:srgbClr val="2F6FB3"/>
            </a:solidFill>
            <a:prstDash val="solid"/>
          </a:ln>
        </p:spPr>
      </p:sp>
      <p:sp>
        <p:nvSpPr>
          <p:cNvPr id="5" name="Text 3"/>
          <p:cNvSpPr/>
          <p:nvPr/>
        </p:nvSpPr>
        <p:spPr>
          <a:xfrm>
            <a:off x="984250" y="2333030"/>
            <a:ext cx="252463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F6FB3"/>
                </a:solidFill>
                <a:latin typeface="JetBrains Mono" pitchFamily="49" charset="0"/>
                <a:ea typeface="JetBrains Mono" pitchFamily="49" charset="-122"/>
                <a:cs typeface="JetBrains Mono" pitchFamily="49" charset="-120"/>
              </a:rPr>
              <a:t>Simulador</a:t>
            </a:r>
            <a:endParaRPr lang="en-US" sz="1400" dirty="0"/>
          </a:p>
        </p:txBody>
      </p:sp>
      <p:sp>
        <p:nvSpPr>
          <p:cNvPr id="6" name="Text 4"/>
          <p:cNvSpPr/>
          <p:nvPr/>
        </p:nvSpPr>
        <p:spPr>
          <a:xfrm>
            <a:off x="984250" y="2597150"/>
            <a:ext cx="25246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contexto del patrón</a:t>
            </a:r>
            <a:endParaRPr lang="en-US" sz="1200" dirty="0"/>
          </a:p>
        </p:txBody>
      </p:sp>
      <p:sp>
        <p:nvSpPr>
          <p:cNvPr id="7" name="Shape 5"/>
          <p:cNvSpPr/>
          <p:nvPr/>
        </p:nvSpPr>
        <p:spPr>
          <a:xfrm>
            <a:off x="4572000" y="2095500"/>
            <a:ext cx="3556000" cy="952500"/>
          </a:xfrm>
          <a:prstGeom prst="roundRect">
            <a:avLst>
              <a:gd name="adj" fmla="val 10667"/>
            </a:avLst>
          </a:prstGeom>
          <a:solidFill>
            <a:srgbClr val="14213D"/>
          </a:solidFill>
          <a:ln/>
        </p:spPr>
      </p:sp>
      <p:sp>
        <p:nvSpPr>
          <p:cNvPr id="8" name="Text 6"/>
          <p:cNvSpPr/>
          <p:nvPr/>
        </p:nvSpPr>
        <p:spPr>
          <a:xfrm>
            <a:off x="4724400" y="2333030"/>
            <a:ext cx="334873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0A35E"/>
                </a:solidFill>
                <a:latin typeface="JetBrains Mono" pitchFamily="49" charset="0"/>
                <a:ea typeface="JetBrains Mono" pitchFamily="49" charset="-122"/>
                <a:cs typeface="JetBrains Mono" pitchFamily="49" charset="-120"/>
              </a:rPr>
              <a:t>«abstracta» Integrador</a:t>
            </a:r>
            <a:endParaRPr lang="en-US" sz="1400" dirty="0"/>
          </a:p>
        </p:txBody>
      </p:sp>
      <p:sp>
        <p:nvSpPr>
          <p:cNvPr id="9" name="Text 7"/>
          <p:cNvSpPr/>
          <p:nvPr/>
        </p:nvSpPr>
        <p:spPr>
          <a:xfrm>
            <a:off x="4724400" y="2597150"/>
            <a:ext cx="33487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JetBrains Mono" pitchFamily="49" charset="0"/>
                <a:ea typeface="JetBrains Mono" pitchFamily="49" charset="-122"/>
                <a:cs typeface="JetBrains Mono" pitchFamily="49" charset="-120"/>
              </a:rPr>
              <a:t>resolver(sistema, x0, v0, …)</a:t>
            </a:r>
            <a:endParaRPr lang="en-US" sz="1200" dirty="0"/>
          </a:p>
        </p:txBody>
      </p:sp>
      <p:sp>
        <p:nvSpPr>
          <p:cNvPr id="10" name="Shape 8"/>
          <p:cNvSpPr/>
          <p:nvPr/>
        </p:nvSpPr>
        <p:spPr>
          <a:xfrm>
            <a:off x="8899525" y="2105025"/>
            <a:ext cx="2470150" cy="933450"/>
          </a:xfrm>
          <a:prstGeom prst="roundRect">
            <a:avLst>
              <a:gd name="adj" fmla="val 9864"/>
            </a:avLst>
          </a:prstGeom>
          <a:solidFill>
            <a:srgbClr val="FDFCF8"/>
          </a:solidFill>
          <a:ln w="19050">
            <a:solidFill>
              <a:srgbClr val="B4531A"/>
            </a:solidFill>
            <a:prstDash val="dash"/>
          </a:ln>
        </p:spPr>
      </p:sp>
      <p:sp>
        <p:nvSpPr>
          <p:cNvPr id="11" name="Text 9"/>
          <p:cNvSpPr/>
          <p:nvPr/>
        </p:nvSpPr>
        <p:spPr>
          <a:xfrm>
            <a:off x="9061450" y="2333030"/>
            <a:ext cx="221068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531A"/>
                </a:solidFill>
                <a:latin typeface="JetBrains Mono" pitchFamily="49" charset="0"/>
                <a:ea typeface="JetBrains Mono" pitchFamily="49" charset="-122"/>
                <a:cs typeface="JetBrains Mono" pitchFamily="49" charset="-120"/>
              </a:rPr>
              <a:t>FabricaIntegradores</a:t>
            </a:r>
            <a:endParaRPr lang="en-US" sz="1400" dirty="0"/>
          </a:p>
        </p:txBody>
      </p:sp>
      <p:sp>
        <p:nvSpPr>
          <p:cNvPr id="12" name="Text 10"/>
          <p:cNvSpPr/>
          <p:nvPr/>
        </p:nvSpPr>
        <p:spPr>
          <a:xfrm>
            <a:off x="9061450" y="2597150"/>
            <a:ext cx="22106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JetBrains Mono" pitchFamily="49" charset="0"/>
                <a:ea typeface="JetBrains Mono" pitchFamily="49" charset="-122"/>
                <a:cs typeface="JetBrains Mono" pitchFamily="49" charset="-120"/>
              </a:rPr>
              <a:t>crear(nombre)</a:t>
            </a:r>
            <a:endParaRPr lang="en-US" sz="1200" dirty="0"/>
          </a:p>
        </p:txBody>
      </p:sp>
      <p:sp>
        <p:nvSpPr>
          <p:cNvPr id="13" name="Shape 11"/>
          <p:cNvSpPr/>
          <p:nvPr/>
        </p:nvSpPr>
        <p:spPr>
          <a:xfrm>
            <a:off x="2543175" y="3686175"/>
            <a:ext cx="2914650" cy="819150"/>
          </a:xfrm>
          <a:prstGeom prst="roundRect">
            <a:avLst>
              <a:gd name="adj" fmla="val 12016"/>
            </a:avLst>
          </a:prstGeom>
          <a:solidFill>
            <a:srgbClr val="FDFCF8"/>
          </a:solidFill>
          <a:ln w="6350">
            <a:solidFill>
              <a:srgbClr val="C9C3B5"/>
            </a:solidFill>
            <a:prstDash val="solid"/>
          </a:ln>
        </p:spPr>
      </p:sp>
      <p:sp>
        <p:nvSpPr>
          <p:cNvPr id="14" name="Text 12"/>
          <p:cNvSpPr/>
          <p:nvPr/>
        </p:nvSpPr>
        <p:spPr>
          <a:xfrm>
            <a:off x="2698750" y="3857030"/>
            <a:ext cx="268160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JetBrains Mono" pitchFamily="49" charset="0"/>
                <a:ea typeface="JetBrains Mono" pitchFamily="49" charset="-122"/>
                <a:cs typeface="JetBrains Mono" pitchFamily="49" charset="-120"/>
              </a:rPr>
              <a:t>ModosNormales</a:t>
            </a:r>
            <a:endParaRPr lang="en-US" sz="1400" dirty="0"/>
          </a:p>
        </p:txBody>
      </p:sp>
      <p:sp>
        <p:nvSpPr>
          <p:cNvPr id="15" name="Text 13"/>
          <p:cNvSpPr/>
          <p:nvPr/>
        </p:nvSpPr>
        <p:spPr>
          <a:xfrm>
            <a:off x="2698750" y="4121150"/>
            <a:ext cx="268160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solución exacta (analítica)</a:t>
            </a:r>
            <a:endParaRPr lang="en-US" sz="1200" dirty="0"/>
          </a:p>
        </p:txBody>
      </p:sp>
      <p:sp>
        <p:nvSpPr>
          <p:cNvPr id="16" name="Shape 14"/>
          <p:cNvSpPr/>
          <p:nvPr/>
        </p:nvSpPr>
        <p:spPr>
          <a:xfrm>
            <a:off x="6353175" y="3686175"/>
            <a:ext cx="3803650" cy="819150"/>
          </a:xfrm>
          <a:prstGeom prst="roundRect">
            <a:avLst>
              <a:gd name="adj" fmla="val 12016"/>
            </a:avLst>
          </a:prstGeom>
          <a:solidFill>
            <a:srgbClr val="FDFCF8"/>
          </a:solidFill>
          <a:ln w="6350">
            <a:solidFill>
              <a:srgbClr val="C9C3B5"/>
            </a:solidFill>
            <a:prstDash val="solid"/>
          </a:ln>
        </p:spPr>
      </p:sp>
      <p:sp>
        <p:nvSpPr>
          <p:cNvPr id="17" name="Text 15"/>
          <p:cNvSpPr/>
          <p:nvPr/>
        </p:nvSpPr>
        <p:spPr>
          <a:xfrm>
            <a:off x="6508750" y="3857030"/>
            <a:ext cx="35972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JetBrains Mono" pitchFamily="49" charset="0"/>
                <a:ea typeface="JetBrains Mono" pitchFamily="49" charset="-122"/>
                <a:cs typeface="JetBrains Mono" pitchFamily="49" charset="-120"/>
              </a:rPr>
              <a:t>IntegradorNumerico</a:t>
            </a:r>
            <a:endParaRPr lang="en-US" sz="1400" dirty="0"/>
          </a:p>
        </p:txBody>
      </p:sp>
      <p:sp>
        <p:nvSpPr>
          <p:cNvPr id="18" name="Text 16"/>
          <p:cNvSpPr/>
          <p:nvPr/>
        </p:nvSpPr>
        <p:spPr>
          <a:xfrm>
            <a:off x="6508750" y="4121150"/>
            <a:ext cx="35972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Template Method: define paso()</a:t>
            </a:r>
            <a:endParaRPr lang="en-US" sz="1200" dirty="0"/>
          </a:p>
        </p:txBody>
      </p:sp>
      <p:sp>
        <p:nvSpPr>
          <p:cNvPr id="19" name="Text 17"/>
          <p:cNvSpPr/>
          <p:nvPr/>
        </p:nvSpPr>
        <p:spPr>
          <a:xfrm>
            <a:off x="4067175" y="5019675"/>
            <a:ext cx="2152650" cy="755650"/>
          </a:xfrm>
          <a:prstGeom prst="roundRect">
            <a:avLst>
              <a:gd name="adj" fmla="val 13025"/>
            </a:avLst>
          </a:prstGeom>
          <a:solidFill>
            <a:srgbClr val="FDFCF8"/>
          </a:solidFill>
          <a:ln w="6350">
            <a:solidFill>
              <a:srgbClr val="C9C3B5"/>
            </a:solidFill>
            <a:prstDash val="solid"/>
          </a:ln>
        </p:spPr>
        <p:txBody>
          <a:bodyPr wrap="square" lIns="126747" tIns="126747" rIns="71502" bIns="126747" rtlCol="0" anchor="ctr">
            <a:normAutofit/>
          </a:bodyPr>
          <a:lstStyle/>
          <a:p>
            <a:pPr algn="l" indent="0" marL="0">
              <a:lnSpc>
                <a:spcPts val="1680"/>
              </a:lnSpc>
              <a:buNone/>
            </a:pPr>
            <a:r>
              <a:rPr lang="en-US" sz="1400" b="1" dirty="0">
                <a:solidFill>
                  <a:srgbClr val="14213D"/>
                </a:solidFill>
                <a:latin typeface="JetBrains Mono" pitchFamily="49" charset="0"/>
                <a:ea typeface="JetBrains Mono" pitchFamily="49" charset="-122"/>
                <a:cs typeface="JetBrains Mono" pitchFamily="49" charset="-120"/>
              </a:rPr>
              <a:t>EulerExplicito</a:t>
            </a:r>
            <a:endParaRPr lang="en-US" sz="1400" dirty="0"/>
          </a:p>
        </p:txBody>
      </p:sp>
      <p:sp>
        <p:nvSpPr>
          <p:cNvPr id="20" name="Text 18"/>
          <p:cNvSpPr/>
          <p:nvPr/>
        </p:nvSpPr>
        <p:spPr>
          <a:xfrm>
            <a:off x="6416675" y="5019675"/>
            <a:ext cx="2152650" cy="755650"/>
          </a:xfrm>
          <a:prstGeom prst="roundRect">
            <a:avLst>
              <a:gd name="adj" fmla="val 13025"/>
            </a:avLst>
          </a:prstGeom>
          <a:solidFill>
            <a:srgbClr val="FDFCF8"/>
          </a:solidFill>
          <a:ln w="6350">
            <a:solidFill>
              <a:srgbClr val="C9C3B5"/>
            </a:solidFill>
            <a:prstDash val="solid"/>
          </a:ln>
        </p:spPr>
        <p:txBody>
          <a:bodyPr wrap="square" lIns="126747" tIns="126747" rIns="71502" bIns="126747" rtlCol="0" anchor="ctr">
            <a:normAutofit/>
          </a:bodyPr>
          <a:lstStyle/>
          <a:p>
            <a:pPr algn="l" indent="0" marL="0">
              <a:lnSpc>
                <a:spcPts val="1680"/>
              </a:lnSpc>
              <a:buNone/>
            </a:pPr>
            <a:r>
              <a:rPr lang="en-US" sz="1400" b="1" dirty="0">
                <a:solidFill>
                  <a:srgbClr val="14213D"/>
                </a:solidFill>
                <a:latin typeface="JetBrains Mono" pitchFamily="49" charset="0"/>
                <a:ea typeface="JetBrains Mono" pitchFamily="49" charset="-122"/>
                <a:cs typeface="JetBrains Mono" pitchFamily="49" charset="-120"/>
              </a:rPr>
              <a:t>VelocityVerlet</a:t>
            </a:r>
            <a:endParaRPr lang="en-US" sz="1400" dirty="0"/>
          </a:p>
        </p:txBody>
      </p:sp>
      <p:sp>
        <p:nvSpPr>
          <p:cNvPr id="21" name="Text 19"/>
          <p:cNvSpPr/>
          <p:nvPr/>
        </p:nvSpPr>
        <p:spPr>
          <a:xfrm>
            <a:off x="8766175" y="5019675"/>
            <a:ext cx="2152650" cy="755650"/>
          </a:xfrm>
          <a:prstGeom prst="roundRect">
            <a:avLst>
              <a:gd name="adj" fmla="val 13025"/>
            </a:avLst>
          </a:prstGeom>
          <a:solidFill>
            <a:srgbClr val="FDFCF8"/>
          </a:solidFill>
          <a:ln w="6350">
            <a:solidFill>
              <a:srgbClr val="C9C3B5"/>
            </a:solidFill>
            <a:prstDash val="solid"/>
          </a:ln>
        </p:spPr>
        <p:txBody>
          <a:bodyPr wrap="square" lIns="126747" tIns="126747" rIns="71502" bIns="126747" rtlCol="0" anchor="ctr">
            <a:normAutofit/>
          </a:bodyPr>
          <a:lstStyle/>
          <a:p>
            <a:pPr algn="l" indent="0" marL="0">
              <a:lnSpc>
                <a:spcPts val="1680"/>
              </a:lnSpc>
              <a:buNone/>
            </a:pPr>
            <a:r>
              <a:rPr lang="en-US" sz="1400" b="1" dirty="0">
                <a:solidFill>
                  <a:srgbClr val="14213D"/>
                </a:solidFill>
                <a:latin typeface="JetBrains Mono" pitchFamily="49" charset="0"/>
                <a:ea typeface="JetBrains Mono" pitchFamily="49" charset="-122"/>
                <a:cs typeface="JetBrains Mono" pitchFamily="49" charset="-120"/>
              </a:rPr>
              <a:t>RungeKutta4</a:t>
            </a:r>
            <a:endParaRPr lang="en-US" sz="1400" dirty="0"/>
          </a:p>
        </p:txBody>
      </p:sp>
      <p:pic>
        <p:nvPicPr>
          <p:cNvPr id="22" name="Image 0" descr="connector">    </p:cNvPr>
          <p:cNvPicPr>
            <a:picLocks noChangeAspect="1"/>
          </p:cNvPicPr>
          <p:nvPr/>
        </p:nvPicPr>
        <p:blipFill>
          <a:blip r:embed="rId1"/>
          <a:srcRect l="0" r="0" t="0" b="0"/>
          <a:stretch/>
        </p:blipFill>
        <p:spPr>
          <a:xfrm>
            <a:off x="3556000" y="2520950"/>
            <a:ext cx="1066800" cy="101600"/>
          </a:xfrm>
          <a:prstGeom prst="rect">
            <a:avLst/>
          </a:prstGeom>
        </p:spPr>
      </p:pic>
      <p:pic>
        <p:nvPicPr>
          <p:cNvPr id="23" name="Image 1" descr="connector">    </p:cNvPr>
          <p:cNvPicPr>
            <a:picLocks noChangeAspect="1"/>
          </p:cNvPicPr>
          <p:nvPr/>
        </p:nvPicPr>
        <p:blipFill>
          <a:blip r:embed="rId2"/>
          <a:srcRect l="0" r="0" t="0" b="0"/>
          <a:stretch/>
        </p:blipFill>
        <p:spPr>
          <a:xfrm>
            <a:off x="8077200" y="2520950"/>
            <a:ext cx="863600" cy="101600"/>
          </a:xfrm>
          <a:prstGeom prst="rect">
            <a:avLst/>
          </a:prstGeom>
        </p:spPr>
      </p:pic>
      <p:pic>
        <p:nvPicPr>
          <p:cNvPr id="24" name="Image 2" descr="connector">    </p:cNvPr>
          <p:cNvPicPr>
            <a:picLocks noChangeAspect="1"/>
          </p:cNvPicPr>
          <p:nvPr/>
        </p:nvPicPr>
        <p:blipFill>
          <a:blip r:embed="rId3"/>
          <a:srcRect l="0" r="0" t="0" b="0"/>
          <a:stretch/>
        </p:blipFill>
        <p:spPr>
          <a:xfrm>
            <a:off x="3949700" y="2997200"/>
            <a:ext cx="1689100" cy="736600"/>
          </a:xfrm>
          <a:prstGeom prst="rect">
            <a:avLst/>
          </a:prstGeom>
        </p:spPr>
      </p:pic>
      <p:pic>
        <p:nvPicPr>
          <p:cNvPr id="25" name="Image 3" descr="connector">    </p:cNvPr>
          <p:cNvPicPr>
            <a:picLocks noChangeAspect="1"/>
          </p:cNvPicPr>
          <p:nvPr/>
        </p:nvPicPr>
        <p:blipFill>
          <a:blip r:embed="rId4"/>
          <a:srcRect l="0" r="0" t="0" b="0"/>
          <a:stretch/>
        </p:blipFill>
        <p:spPr>
          <a:xfrm>
            <a:off x="7061200" y="2997200"/>
            <a:ext cx="1244600" cy="736600"/>
          </a:xfrm>
          <a:prstGeom prst="rect">
            <a:avLst/>
          </a:prstGeom>
        </p:spPr>
      </p:pic>
      <p:pic>
        <p:nvPicPr>
          <p:cNvPr id="26" name="Image 4" descr="connector">    </p:cNvPr>
          <p:cNvPicPr>
            <a:picLocks noChangeAspect="1"/>
          </p:cNvPicPr>
          <p:nvPr/>
        </p:nvPicPr>
        <p:blipFill>
          <a:blip r:embed="rId5"/>
          <a:srcRect l="0" r="0" t="0" b="0"/>
          <a:stretch/>
        </p:blipFill>
        <p:spPr>
          <a:xfrm>
            <a:off x="5092700" y="4457700"/>
            <a:ext cx="2324100" cy="609600"/>
          </a:xfrm>
          <a:prstGeom prst="rect">
            <a:avLst/>
          </a:prstGeom>
        </p:spPr>
      </p:pic>
      <p:pic>
        <p:nvPicPr>
          <p:cNvPr id="27" name="Image 5" descr="connector">    </p:cNvPr>
          <p:cNvPicPr>
            <a:picLocks noChangeAspect="1"/>
          </p:cNvPicPr>
          <p:nvPr/>
        </p:nvPicPr>
        <p:blipFill>
          <a:blip r:embed="rId6"/>
          <a:srcRect l="0" r="0" t="0" b="0"/>
          <a:stretch/>
        </p:blipFill>
        <p:spPr>
          <a:xfrm>
            <a:off x="7442200" y="4457700"/>
            <a:ext cx="863600" cy="609600"/>
          </a:xfrm>
          <a:prstGeom prst="rect">
            <a:avLst/>
          </a:prstGeom>
        </p:spPr>
      </p:pic>
      <p:pic>
        <p:nvPicPr>
          <p:cNvPr id="28" name="Image 6" descr="connector">    </p:cNvPr>
          <p:cNvPicPr>
            <a:picLocks noChangeAspect="1"/>
          </p:cNvPicPr>
          <p:nvPr/>
        </p:nvPicPr>
        <p:blipFill>
          <a:blip r:embed="rId7"/>
          <a:srcRect l="0" r="0" t="0" b="0"/>
          <a:stretch/>
        </p:blipFill>
        <p:spPr>
          <a:xfrm>
            <a:off x="9093200" y="4457700"/>
            <a:ext cx="800100" cy="609600"/>
          </a:xfrm>
          <a:prstGeom prst="rect">
            <a:avLst/>
          </a:prstGeom>
        </p:spPr>
      </p:pic>
      <p:sp>
        <p:nvSpPr>
          <p:cNvPr id="29" name="Text 20"/>
          <p:cNvSpPr/>
          <p:nvPr/>
        </p:nvSpPr>
        <p:spPr>
          <a:xfrm>
            <a:off x="3657600" y="2222500"/>
            <a:ext cx="876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2F6FB3"/>
                </a:solidFill>
                <a:latin typeface="IBM Plex Sans" pitchFamily="34" charset="0"/>
                <a:ea typeface="IBM Plex Sans" pitchFamily="34" charset="-122"/>
                <a:cs typeface="IBM Plex Sans" pitchFamily="34" charset="-120"/>
              </a:rPr>
              <a:t>usa</a:t>
            </a:r>
            <a:endParaRPr lang="en-US" sz="1200" dirty="0"/>
          </a:p>
        </p:txBody>
      </p:sp>
      <p:sp>
        <p:nvSpPr>
          <p:cNvPr id="30" name="Text 21"/>
          <p:cNvSpPr/>
          <p:nvPr/>
        </p:nvSpPr>
        <p:spPr>
          <a:xfrm>
            <a:off x="8166100" y="2222500"/>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4531A"/>
                </a:solidFill>
                <a:latin typeface="IBM Plex Sans" pitchFamily="34" charset="0"/>
                <a:ea typeface="IBM Plex Sans" pitchFamily="34" charset="-122"/>
                <a:cs typeface="IBM Plex Sans" pitchFamily="34" charset="-120"/>
              </a:rPr>
              <a:t>crea</a:t>
            </a:r>
            <a:endParaRPr lang="en-US" sz="1200" dirty="0"/>
          </a:p>
        </p:txBody>
      </p:sp>
      <p:sp>
        <p:nvSpPr>
          <p:cNvPr id="31" name="Text 22"/>
          <p:cNvSpPr/>
          <p:nvPr/>
        </p:nvSpPr>
        <p:spPr>
          <a:xfrm>
            <a:off x="812800" y="5016500"/>
            <a:ext cx="300863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Triángulo abierto = «hereda de». Agregar un método nuevo no obliga a cambiar el Simulador ni la GUI.</a:t>
            </a:r>
            <a:endParaRPr lang="en-US" sz="1200" dirty="0"/>
          </a:p>
        </p:txBody>
      </p:sp>
      <p:sp>
        <p:nvSpPr>
          <p:cNvPr id="32" name="Text 2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Osciladores acoplados · de la física a PyPI</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2 · DISEÑO · 15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¿Por qué Strategy y no otra cosa?</a:t>
            </a:r>
            <a:endParaRPr lang="en-US" sz="3000" dirty="0"/>
          </a:p>
        </p:txBody>
      </p:sp>
      <p:sp>
        <p:nvSpPr>
          <p:cNvPr id="4" name="Shape 2"/>
          <p:cNvSpPr/>
          <p:nvPr/>
        </p:nvSpPr>
        <p:spPr>
          <a:xfrm>
            <a:off x="815975" y="1873845"/>
            <a:ext cx="2482850" cy="1357511"/>
          </a:xfrm>
          <a:prstGeom prst="roundRect">
            <a:avLst>
              <a:gd name="adj" fmla="val 7250"/>
            </a:avLst>
          </a:prstGeom>
          <a:solidFill>
            <a:srgbClr val="FDFCF8"/>
          </a:solidFill>
          <a:ln w="6350">
            <a:solidFill>
              <a:srgbClr val="E2DED3"/>
            </a:solidFill>
            <a:prstDash val="solid"/>
          </a:ln>
        </p:spPr>
      </p:sp>
      <p:sp>
        <p:nvSpPr>
          <p:cNvPr id="5" name="Text 3"/>
          <p:cNvSpPr/>
          <p:nvPr/>
        </p:nvSpPr>
        <p:spPr>
          <a:xfrm>
            <a:off x="1022350" y="2080220"/>
            <a:ext cx="21322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Comparar es la meta</a:t>
            </a:r>
            <a:endParaRPr lang="en-US" sz="1500" dirty="0"/>
          </a:p>
        </p:txBody>
      </p:sp>
      <p:sp>
        <p:nvSpPr>
          <p:cNvPr id="6" name="Text 4"/>
          <p:cNvSpPr/>
          <p:nvPr/>
        </p:nvSpPr>
        <p:spPr>
          <a:xfrm>
            <a:off x="1022350" y="2385020"/>
            <a:ext cx="213220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Mismo sistema, otro método y la misma salida: un Resultado.</a:t>
            </a:r>
            <a:endParaRPr lang="en-US" sz="1200" dirty="0"/>
          </a:p>
        </p:txBody>
      </p:sp>
      <p:sp>
        <p:nvSpPr>
          <p:cNvPr id="7" name="Shape 5"/>
          <p:cNvSpPr/>
          <p:nvPr/>
        </p:nvSpPr>
        <p:spPr>
          <a:xfrm>
            <a:off x="3508375" y="1873845"/>
            <a:ext cx="2482850" cy="1357511"/>
          </a:xfrm>
          <a:prstGeom prst="roundRect">
            <a:avLst>
              <a:gd name="adj" fmla="val 7250"/>
            </a:avLst>
          </a:prstGeom>
          <a:solidFill>
            <a:srgbClr val="FDFCF8"/>
          </a:solidFill>
          <a:ln w="6350">
            <a:solidFill>
              <a:srgbClr val="E2DED3"/>
            </a:solidFill>
            <a:prstDash val="solid"/>
          </a:ln>
        </p:spPr>
      </p:sp>
      <p:sp>
        <p:nvSpPr>
          <p:cNvPr id="8" name="Text 6"/>
          <p:cNvSpPr/>
          <p:nvPr/>
        </p:nvSpPr>
        <p:spPr>
          <a:xfrm>
            <a:off x="3714750" y="2080220"/>
            <a:ext cx="21322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GUI desacoplada</a:t>
            </a:r>
            <a:endParaRPr lang="en-US" sz="1500" dirty="0"/>
          </a:p>
        </p:txBody>
      </p:sp>
      <p:sp>
        <p:nvSpPr>
          <p:cNvPr id="9" name="Text 7"/>
          <p:cNvSpPr/>
          <p:nvPr/>
        </p:nvSpPr>
        <p:spPr>
          <a:xfrm>
            <a:off x="3714750" y="2385020"/>
            <a:ext cx="213220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El menú se llena solo con la lista de la fábrica.</a:t>
            </a:r>
            <a:endParaRPr lang="en-US" sz="1200" dirty="0"/>
          </a:p>
        </p:txBody>
      </p:sp>
      <p:sp>
        <p:nvSpPr>
          <p:cNvPr id="10" name="Shape 8"/>
          <p:cNvSpPr/>
          <p:nvPr/>
        </p:nvSpPr>
        <p:spPr>
          <a:xfrm>
            <a:off x="6200775" y="1873845"/>
            <a:ext cx="2482850" cy="1357511"/>
          </a:xfrm>
          <a:prstGeom prst="roundRect">
            <a:avLst>
              <a:gd name="adj" fmla="val 7250"/>
            </a:avLst>
          </a:prstGeom>
          <a:solidFill>
            <a:srgbClr val="FDFCF8"/>
          </a:solidFill>
          <a:ln w="6350">
            <a:solidFill>
              <a:srgbClr val="E2DED3"/>
            </a:solidFill>
            <a:prstDash val="solid"/>
          </a:ln>
        </p:spPr>
      </p:sp>
      <p:sp>
        <p:nvSpPr>
          <p:cNvPr id="11" name="Text 9"/>
          <p:cNvSpPr/>
          <p:nvPr/>
        </p:nvSpPr>
        <p:spPr>
          <a:xfrm>
            <a:off x="6407150" y="2080220"/>
            <a:ext cx="21322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Física ≠ numérica</a:t>
            </a:r>
            <a:endParaRPr lang="en-US" sz="1500" dirty="0"/>
          </a:p>
        </p:txBody>
      </p:sp>
      <p:sp>
        <p:nvSpPr>
          <p:cNvPr id="12" name="Text 10"/>
          <p:cNvSpPr/>
          <p:nvPr/>
        </p:nvSpPr>
        <p:spPr>
          <a:xfrm>
            <a:off x="6407150" y="2385020"/>
            <a:ext cx="213220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Un sistema de tres masas no es «un sistema RK4».</a:t>
            </a:r>
            <a:endParaRPr lang="en-US" sz="1200" dirty="0"/>
          </a:p>
        </p:txBody>
      </p:sp>
      <p:sp>
        <p:nvSpPr>
          <p:cNvPr id="13" name="Shape 11"/>
          <p:cNvSpPr/>
          <p:nvPr/>
        </p:nvSpPr>
        <p:spPr>
          <a:xfrm>
            <a:off x="8893175" y="1873845"/>
            <a:ext cx="2482850" cy="1357511"/>
          </a:xfrm>
          <a:prstGeom prst="roundRect">
            <a:avLst>
              <a:gd name="adj" fmla="val 7250"/>
            </a:avLst>
          </a:prstGeom>
          <a:solidFill>
            <a:srgbClr val="FDFCF8"/>
          </a:solidFill>
          <a:ln w="6350">
            <a:solidFill>
              <a:srgbClr val="E2DED3"/>
            </a:solidFill>
            <a:prstDash val="solid"/>
          </a:ln>
        </p:spPr>
      </p:sp>
      <p:sp>
        <p:nvSpPr>
          <p:cNvPr id="14" name="Text 12"/>
          <p:cNvSpPr/>
          <p:nvPr/>
        </p:nvSpPr>
        <p:spPr>
          <a:xfrm>
            <a:off x="9099550" y="2080220"/>
            <a:ext cx="21322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Pruebas y retos</a:t>
            </a:r>
            <a:endParaRPr lang="en-US" sz="1500" dirty="0"/>
          </a:p>
        </p:txBody>
      </p:sp>
      <p:sp>
        <p:nvSpPr>
          <p:cNvPr id="15" name="Text 13"/>
          <p:cNvSpPr/>
          <p:nvPr/>
        </p:nvSpPr>
        <p:spPr>
          <a:xfrm>
            <a:off x="9099550" y="2385020"/>
            <a:ext cx="213220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Cada método se valida contra el exacto; el amortiguamiento lo extiende.</a:t>
            </a:r>
            <a:endParaRPr lang="en-US" sz="1200" dirty="0"/>
          </a:p>
        </p:txBody>
      </p:sp>
      <p:sp>
        <p:nvSpPr>
          <p:cNvPr id="16" name="Shape 14"/>
          <p:cNvSpPr/>
          <p:nvPr/>
        </p:nvSpPr>
        <p:spPr>
          <a:xfrm>
            <a:off x="812800" y="3437731"/>
            <a:ext cx="10566400" cy="1554361"/>
          </a:xfrm>
          <a:prstGeom prst="roundRect">
            <a:avLst>
              <a:gd name="adj" fmla="val 6536"/>
            </a:avLst>
          </a:prstGeom>
          <a:solidFill>
            <a:srgbClr val="14213D"/>
          </a:solidFill>
          <a:ln/>
        </p:spPr>
      </p:sp>
      <p:sp>
        <p:nvSpPr>
          <p:cNvPr id="17" name="Text 15"/>
          <p:cNvSpPr/>
          <p:nvPr/>
        </p:nvSpPr>
        <p:spPr>
          <a:xfrm>
            <a:off x="1066800" y="3691731"/>
            <a:ext cx="103601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F5EF"/>
                </a:solidFill>
                <a:latin typeface="IBM Plex Sans" pitchFamily="34" charset="0"/>
                <a:ea typeface="IBM Plex Sans" pitchFamily="34" charset="-122"/>
                <a:cs typeface="IBM Plex Sans" pitchFamily="34" charset="-120"/>
              </a:rPr>
              <a:t>ALTERNATIVAS DESCARTADAS</a:t>
            </a:r>
            <a:endParaRPr lang="en-US" sz="1200" dirty="0"/>
          </a:p>
        </p:txBody>
      </p:sp>
      <p:sp>
        <p:nvSpPr>
          <p:cNvPr id="18" name="Text 16"/>
          <p:cNvSpPr/>
          <p:nvPr/>
        </p:nvSpPr>
        <p:spPr>
          <a:xfrm>
            <a:off x="1066800" y="4032052"/>
            <a:ext cx="327893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35E"/>
                </a:solidFill>
                <a:latin typeface="Rubik" pitchFamily="34" charset="0"/>
                <a:ea typeface="Rubik" pitchFamily="34" charset="-122"/>
                <a:cs typeface="Rubik" pitchFamily="34" charset="-120"/>
              </a:rPr>
              <a:t>State</a:t>
            </a:r>
            <a:endParaRPr lang="en-US" sz="1500" dirty="0"/>
          </a:p>
        </p:txBody>
      </p:sp>
      <p:sp>
        <p:nvSpPr>
          <p:cNvPr id="19" name="Text 17"/>
          <p:cNvSpPr/>
          <p:nvPr/>
        </p:nvSpPr>
        <p:spPr>
          <a:xfrm>
            <a:off x="1066800" y="4311452"/>
            <a:ext cx="327893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Mismo esqueleto, otra intención: aquí no hay transiciones; elige el usuario.</a:t>
            </a:r>
            <a:endParaRPr lang="en-US" sz="1200" dirty="0"/>
          </a:p>
        </p:txBody>
      </p:sp>
      <p:sp>
        <p:nvSpPr>
          <p:cNvPr id="20" name="Text 18"/>
          <p:cNvSpPr/>
          <p:nvPr/>
        </p:nvSpPr>
        <p:spPr>
          <a:xfrm>
            <a:off x="4504234" y="4032052"/>
            <a:ext cx="327903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35E"/>
                </a:solidFill>
                <a:latin typeface="Rubik" pitchFamily="34" charset="0"/>
                <a:ea typeface="Rubik" pitchFamily="34" charset="-122"/>
                <a:cs typeface="Rubik" pitchFamily="34" charset="-120"/>
              </a:rPr>
              <a:t>Sólo Template Method</a:t>
            </a:r>
            <a:endParaRPr lang="en-US" sz="1500" dirty="0"/>
          </a:p>
        </p:txBody>
      </p:sp>
      <p:sp>
        <p:nvSpPr>
          <p:cNvPr id="21" name="Text 19"/>
          <p:cNvSpPr/>
          <p:nvPr/>
        </p:nvSpPr>
        <p:spPr>
          <a:xfrm>
            <a:off x="4504234" y="4311452"/>
            <a:ext cx="327903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Sirve para los numéricos, pero la solución exacta no avanza paso a paso.</a:t>
            </a:r>
            <a:endParaRPr lang="en-US" sz="1200" dirty="0"/>
          </a:p>
        </p:txBody>
      </p:sp>
      <p:sp>
        <p:nvSpPr>
          <p:cNvPr id="22" name="Text 20"/>
          <p:cNvSpPr/>
          <p:nvPr/>
        </p:nvSpPr>
        <p:spPr>
          <a:xfrm>
            <a:off x="7941766" y="4032052"/>
            <a:ext cx="327893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35E"/>
                </a:solidFill>
                <a:latin typeface="Rubik" pitchFamily="34" charset="0"/>
                <a:ea typeface="Rubik" pitchFamily="34" charset="-122"/>
                <a:cs typeface="Rubik" pitchFamily="34" charset="-120"/>
              </a:rPr>
              <a:t>Sólo funciones</a:t>
            </a:r>
            <a:endParaRPr lang="en-US" sz="1500" dirty="0"/>
          </a:p>
        </p:txBody>
      </p:sp>
      <p:sp>
        <p:nvSpPr>
          <p:cNvPr id="23" name="Text 21"/>
          <p:cNvSpPr/>
          <p:nvPr/>
        </p:nvSpPr>
        <p:spPr>
          <a:xfrm>
            <a:off x="7941766" y="4311452"/>
            <a:ext cx="327893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Más corto en Python, pero sin nombre propio ni utilidades compartidas.</a:t>
            </a:r>
            <a:endParaRPr lang="en-US" sz="1200" dirty="0"/>
          </a:p>
        </p:txBody>
      </p:sp>
      <p:sp>
        <p:nvSpPr>
          <p:cNvPr id="24" name="Text 2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Osciladores acoplados · de la física a PyPI</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2 · DISEÑO · 15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Un patrón principal y tres de apoyo</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83370"/>
          <a:ext cx="10553700" cy="1796355"/>
        </p:xfrm>
        <a:graphic>
          <a:graphicData uri="http://schemas.openxmlformats.org/drawingml/2006/table">
            <a:tbl>
              <a:tblPr/>
              <a:tblGrid>
                <a:gridCol w="2321814"/>
                <a:gridCol w="4010406"/>
                <a:gridCol w="4221480"/>
              </a:tblGrid>
              <a:tr h="359271">
                <a:tc>
                  <a:txBody>
                    <a:bodyPr/>
                    <a:lstStyle/>
                    <a:p>
                      <a:pPr indent="0" marL="0">
                        <a:lnSpc>
                          <a:spcPts val="1820"/>
                        </a:lnSpc>
                        <a:buNone/>
                      </a:pPr>
                      <a:r>
                        <a:rPr lang="en-US" sz="1300" b="1" dirty="0">
                          <a:solidFill>
                            <a:srgbClr val="3E4A5C"/>
                          </a:solidFill>
                          <a:latin typeface="IBM Plex Sans" pitchFamily="34" charset="0"/>
                          <a:ea typeface="IBM Plex Sans" pitchFamily="34" charset="-122"/>
                          <a:cs typeface="IBM Plex Sans" pitchFamily="34" charset="-120"/>
                        </a:rPr>
                        <a:t>Patrón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1820"/>
                        </a:lnSpc>
                        <a:buNone/>
                      </a:pPr>
                      <a:r>
                        <a:rPr lang="en-US" sz="1300" b="1" dirty="0">
                          <a:solidFill>
                            <a:srgbClr val="3E4A5C"/>
                          </a:solidFill>
                          <a:latin typeface="IBM Plex Sans" pitchFamily="34" charset="0"/>
                          <a:ea typeface="IBM Plex Sans" pitchFamily="34" charset="-122"/>
                          <a:cs typeface="IBM Plex Sans" pitchFamily="34" charset="-120"/>
                        </a:rPr>
                        <a:t>Dónde está</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1820"/>
                        </a:lnSpc>
                        <a:buNone/>
                      </a:pPr>
                      <a:r>
                        <a:rPr lang="en-US" sz="1300" b="1" dirty="0">
                          <a:solidFill>
                            <a:srgbClr val="3E4A5C"/>
                          </a:solidFill>
                          <a:latin typeface="IBM Plex Sans" pitchFamily="34" charset="0"/>
                          <a:ea typeface="IBM Plex Sans" pitchFamily="34" charset="-122"/>
                          <a:cs typeface="IBM Plex Sans" pitchFamily="34" charset="-120"/>
                        </a:rPr>
                        <a:t>Qué resuelve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r>
              <a:tr h="359271">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Strategy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Integrador + Simulador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Cambiar de método sin tocar lo demás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Template Method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IntegradorNumerico → paso()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El bucle temporal se escribe una vez</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r>
              <a:tr h="359271">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Fábrica con registro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FabricaIntegradores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Crear métodos por nombre desde la GUI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Observador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Simulador.suscribir()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La GUI reacciona sin acoplarse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r>
            </a:tbl>
          </a:graphicData>
        </a:graphic>
      </p:graphicFrame>
      <p:sp>
        <p:nvSpPr>
          <p:cNvPr id="5" name="Shape 2"/>
          <p:cNvSpPr/>
          <p:nvPr/>
        </p:nvSpPr>
        <p:spPr>
          <a:xfrm>
            <a:off x="812800" y="4511080"/>
            <a:ext cx="10566400" cy="1330920"/>
          </a:xfrm>
          <a:prstGeom prst="roundRect">
            <a:avLst>
              <a:gd name="adj" fmla="val 7634"/>
            </a:avLst>
          </a:prstGeom>
          <a:solidFill>
            <a:srgbClr val="14213D"/>
          </a:solidFill>
          <a:ln/>
        </p:spPr>
      </p:sp>
      <p:sp>
        <p:nvSpPr>
          <p:cNvPr id="6" name="Text 3"/>
          <p:cNvSpPr/>
          <p:nvPr/>
        </p:nvSpPr>
        <p:spPr>
          <a:xfrm>
            <a:off x="1066800" y="4765080"/>
            <a:ext cx="103601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A35E"/>
                </a:solidFill>
                <a:latin typeface="IBM Plex Sans" pitchFamily="34" charset="0"/>
                <a:ea typeface="IBM Plex Sans" pitchFamily="34" charset="-122"/>
                <a:cs typeface="IBM Plex Sans" pitchFamily="34" charset="-120"/>
              </a:rPr>
              <a:t>PRINCIPIO ABIERTO/CERRADO</a:t>
            </a:r>
            <a:endParaRPr lang="en-US" sz="1200" dirty="0"/>
          </a:p>
        </p:txBody>
      </p:sp>
      <p:sp>
        <p:nvSpPr>
          <p:cNvPr id="7" name="Text 4"/>
          <p:cNvSpPr/>
          <p:nvPr/>
        </p:nvSpPr>
        <p:spPr>
          <a:xfrm>
            <a:off x="1066800" y="5054600"/>
            <a:ext cx="1036015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EF"/>
                </a:solidFill>
                <a:latin typeface="IBM Plex Sans" pitchFamily="34" charset="0"/>
                <a:ea typeface="IBM Plex Sans" pitchFamily="34" charset="-122"/>
                <a:cs typeface="IBM Plex Sans" pitchFamily="34" charset="-120"/>
              </a:rPr>
              <a:t>Agregar un integrador nuevo = escribir una clase y decorarla con @FabricaIntegradores.registrar. Ningún archivo existente cambia.</a:t>
            </a:r>
            <a:endParaRPr lang="en-US" sz="15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Osciladores acoplados · de la física a PyPI</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3 · MODELO · 20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Antes del código: el Python que vamos a leer</a:t>
            </a:r>
            <a:endParaRPr lang="en-US" sz="3000" dirty="0"/>
          </a:p>
        </p:txBody>
      </p:sp>
      <p:sp>
        <p:nvSpPr>
          <p:cNvPr id="4" name="Text 2"/>
          <p:cNvSpPr/>
          <p:nvPr/>
        </p:nvSpPr>
        <p:spPr>
          <a:xfrm>
            <a:off x="812800" y="1870670"/>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IBM Plex Sans" pitchFamily="34" charset="0"/>
                <a:ea typeface="IBM Plex Sans" pitchFamily="34" charset="-122"/>
                <a:cs typeface="IBM Plex Sans" pitchFamily="34" charset="-120"/>
              </a:rPr>
              <a:t>CÓDIGO</a:t>
            </a:r>
            <a:endParaRPr lang="en-US" sz="1200" dirty="0"/>
          </a:p>
        </p:txBody>
      </p:sp>
      <p:sp>
        <p:nvSpPr>
          <p:cNvPr id="5" name="Text 3"/>
          <p:cNvSpPr/>
          <p:nvPr/>
        </p:nvSpPr>
        <p:spPr>
          <a:xfrm>
            <a:off x="4064000" y="1870670"/>
            <a:ext cx="753465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IBM Plex Sans" pitchFamily="34" charset="0"/>
                <a:ea typeface="IBM Plex Sans" pitchFamily="34" charset="-122"/>
                <a:cs typeface="IBM Plex Sans" pitchFamily="34" charset="-120"/>
              </a:rPr>
              <a:t>QUÉ SIGNIFICA</a:t>
            </a:r>
            <a:endParaRPr lang="en-US" sz="1200" dirty="0"/>
          </a:p>
        </p:txBody>
      </p:sp>
      <p:sp>
        <p:nvSpPr>
          <p:cNvPr id="6" name="Text 4"/>
          <p:cNvSpPr/>
          <p:nvPr/>
        </p:nvSpPr>
        <p:spPr>
          <a:xfrm>
            <a:off x="812800" y="2172891"/>
            <a:ext cx="3048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class Nombre:</a:t>
            </a:r>
            <a:endParaRPr lang="en-US" sz="1200" dirty="0"/>
          </a:p>
        </p:txBody>
      </p:sp>
      <p:sp>
        <p:nvSpPr>
          <p:cNvPr id="7" name="Text 5"/>
          <p:cNvSpPr/>
          <p:nvPr/>
        </p:nvSpPr>
        <p:spPr>
          <a:xfrm>
            <a:off x="4064000" y="2172891"/>
            <a:ext cx="753465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Un molde, como el plano de una casa. Nombre(...) construye un objeto concreto: una casa hecha con ese plano.</a:t>
            </a:r>
            <a:endParaRPr lang="en-US" sz="1200" dirty="0"/>
          </a:p>
        </p:txBody>
      </p:sp>
      <p:sp>
        <p:nvSpPr>
          <p:cNvPr id="8" name="Text 6"/>
          <p:cNvSpPr/>
          <p:nvPr/>
        </p:nvSpPr>
        <p:spPr>
          <a:xfrm>
            <a:off x="812800" y="2688431"/>
            <a:ext cx="3048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self</a:t>
            </a:r>
            <a:endParaRPr lang="en-US" sz="1200" dirty="0"/>
          </a:p>
        </p:txBody>
      </p:sp>
      <p:sp>
        <p:nvSpPr>
          <p:cNvPr id="9" name="Text 7"/>
          <p:cNvSpPr/>
          <p:nvPr/>
        </p:nvSpPr>
        <p:spPr>
          <a:xfrm>
            <a:off x="4064000" y="2688431"/>
            <a:ext cx="75346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Dentro de la clase significa «yo mismo»: el objeto concreto que está ejecutando el método.</a:t>
            </a:r>
            <a:endParaRPr lang="en-US" sz="1200" dirty="0"/>
          </a:p>
        </p:txBody>
      </p:sp>
      <p:sp>
        <p:nvSpPr>
          <p:cNvPr id="10" name="Text 8"/>
          <p:cNvSpPr/>
          <p:nvPr/>
        </p:nvSpPr>
        <p:spPr>
          <a:xfrm>
            <a:off x="812800" y="3066852"/>
            <a:ext cx="3048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def __init__(self, ...):</a:t>
            </a:r>
            <a:endParaRPr lang="en-US" sz="1200" dirty="0"/>
          </a:p>
        </p:txBody>
      </p:sp>
      <p:sp>
        <p:nvSpPr>
          <p:cNvPr id="11" name="Text 9"/>
          <p:cNvSpPr/>
          <p:nvPr/>
        </p:nvSpPr>
        <p:spPr>
          <a:xfrm>
            <a:off x="4064000" y="3066852"/>
            <a:ext cx="75346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El constructor. Se ejecuta solo al crear el objeto y guarda sus datos iniciales.</a:t>
            </a:r>
            <a:endParaRPr lang="en-US" sz="1200" dirty="0"/>
          </a:p>
        </p:txBody>
      </p:sp>
      <p:sp>
        <p:nvSpPr>
          <p:cNvPr id="12" name="Text 10"/>
          <p:cNvSpPr/>
          <p:nvPr/>
        </p:nvSpPr>
        <p:spPr>
          <a:xfrm>
            <a:off x="812800" y="3445272"/>
            <a:ext cx="3048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self._m</a:t>
            </a:r>
            <a:endParaRPr lang="en-US" sz="1200" dirty="0"/>
          </a:p>
        </p:txBody>
      </p:sp>
      <p:sp>
        <p:nvSpPr>
          <p:cNvPr id="13" name="Text 11"/>
          <p:cNvSpPr/>
          <p:nvPr/>
        </p:nvSpPr>
        <p:spPr>
          <a:xfrm>
            <a:off x="4064000" y="3445272"/>
            <a:ext cx="8128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Un atributo: un dato que el objeto recuerda. El guion bajo avisa «es interno, no lo cambies desde afuera».</a:t>
            </a:r>
            <a:endParaRPr lang="en-US" sz="1200" dirty="0"/>
          </a:p>
        </p:txBody>
      </p:sp>
      <p:sp>
        <p:nvSpPr>
          <p:cNvPr id="14" name="Text 12"/>
          <p:cNvSpPr/>
          <p:nvPr/>
        </p:nvSpPr>
        <p:spPr>
          <a:xfrm>
            <a:off x="812800" y="3823692"/>
            <a:ext cx="3048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@decorador</a:t>
            </a:r>
            <a:endParaRPr lang="en-US" sz="1200" dirty="0"/>
          </a:p>
        </p:txBody>
      </p:sp>
      <p:sp>
        <p:nvSpPr>
          <p:cNvPr id="15" name="Text 13"/>
          <p:cNvSpPr/>
          <p:nvPr/>
        </p:nvSpPr>
        <p:spPr>
          <a:xfrm>
            <a:off x="4064000" y="3823692"/>
            <a:ext cx="753465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Una etiqueta encima de una función que cambia cómo se comporta (por ejemplo @property o @staticmethod).</a:t>
            </a:r>
            <a:endParaRPr lang="en-US" sz="1200" dirty="0"/>
          </a:p>
        </p:txBody>
      </p:sp>
      <p:sp>
        <p:nvSpPr>
          <p:cNvPr id="16" name="Text 14"/>
          <p:cNvSpPr/>
          <p:nvPr/>
        </p:nvSpPr>
        <p:spPr>
          <a:xfrm>
            <a:off x="812800" y="4339233"/>
            <a:ext cx="3048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np.array([1, 2, 3])</a:t>
            </a:r>
            <a:endParaRPr lang="en-US" sz="1200" dirty="0"/>
          </a:p>
        </p:txBody>
      </p:sp>
      <p:sp>
        <p:nvSpPr>
          <p:cNvPr id="17" name="Text 15"/>
          <p:cNvSpPr/>
          <p:nvPr/>
        </p:nvSpPr>
        <p:spPr>
          <a:xfrm>
            <a:off x="4064000" y="4339233"/>
            <a:ext cx="75346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Un arreglo de NumPy: una lista de números con la que se hacen cuentas de una vez, sin ciclos.</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Osciladores acoplados · de la física a PyPI</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3 · MODELO · 20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La clase SistemaOsciladores</a:t>
            </a:r>
            <a:endParaRPr lang="en-US" sz="3000" dirty="0"/>
          </a:p>
        </p:txBody>
      </p:sp>
      <p:sp>
        <p:nvSpPr>
          <p:cNvPr id="4" name="Text 2"/>
          <p:cNvSpPr/>
          <p:nvPr/>
        </p:nvSpPr>
        <p:spPr>
          <a:xfrm>
            <a:off x="812800" y="1870670"/>
            <a:ext cx="6223000" cy="3819525"/>
          </a:xfrm>
          <a:prstGeom prst="roundRect">
            <a:avLst>
              <a:gd name="adj" fmla="val 2660"/>
            </a:avLst>
          </a:prstGeom>
          <a:solidFill>
            <a:srgbClr val="14213D"/>
          </a:solidFill>
          <a:ln/>
        </p:spPr>
        <p:txBody>
          <a:bodyPr wrap="none" lIns="224242" tIns="173442" rIns="52792" bIns="148042" rtlCol="0" anchor="t">
            <a:normAutofit/>
          </a:bodyPr>
          <a:lstStyle/>
          <a:p>
            <a:pPr algn="l" indent="0" marL="0">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class</a:t>
            </a:r>
            <a:r>
              <a:rPr lang="en-US" sz="1200" dirty="0">
                <a:solidFill>
                  <a:srgbClr val="E8EDF5"/>
                </a:solidFill>
                <a:latin typeface="JetBrains Mono" pitchFamily="49" charset="0"/>
                <a:ea typeface="JetBrains Mono" pitchFamily="49" charset="-122"/>
                <a:cs typeface="JetBrains Mono" pitchFamily="49" charset="-120"/>
              </a:rPr>
              <a:t> SistemaOsciladores:</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__init__(self, masas, constantes):</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self._m = np.asarray(masas, dtype=float)</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self._k = np.asarray(constantes, dtype=float)</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if</a:t>
            </a:r>
            <a:r>
              <a:rPr lang="en-US" sz="1200" dirty="0">
                <a:solidFill>
                  <a:srgbClr val="E8EDF5"/>
                </a:solidFill>
                <a:latin typeface="JetBrains Mono" pitchFamily="49" charset="0"/>
                <a:ea typeface="JetBrains Mono" pitchFamily="49" charset="-122"/>
                <a:cs typeface="JetBrains Mono" pitchFamily="49" charset="-120"/>
              </a:rPr>
              <a:t> self._k.size != self._m.size + 1:</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raise</a:t>
            </a:r>
            <a:r>
              <a:rPr lang="en-US" sz="1200" dirty="0">
                <a:solidFill>
                  <a:srgbClr val="E8EDF5"/>
                </a:solidFill>
                <a:latin typeface="JetBrains Mono" pitchFamily="49" charset="0"/>
                <a:ea typeface="JetBrains Mono" pitchFamily="49" charset="-122"/>
                <a:cs typeface="JetBrains Mono" pitchFamily="49" charset="-120"/>
              </a:rPr>
              <a:t> ValueError("Se necesitan N+1 constantes")</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self._K = self._construir_rigidez(self._k)</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@staticmethod</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_construir_rigidez(k):</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n = k.size - 1</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K = np.zeros((n, n))</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for</a:t>
            </a:r>
            <a:r>
              <a:rPr lang="en-US" sz="1200" dirty="0">
                <a:solidFill>
                  <a:srgbClr val="E8EDF5"/>
                </a:solidFill>
                <a:latin typeface="JetBrains Mono" pitchFamily="49" charset="0"/>
                <a:ea typeface="JetBrains Mono" pitchFamily="49" charset="-122"/>
                <a:cs typeface="JetBrains Mono" pitchFamily="49" charset="-120"/>
              </a:rPr>
              <a:t> i </a:t>
            </a:r>
            <a:r>
              <a:rPr lang="en-US" sz="1200" dirty="0">
                <a:solidFill>
                  <a:srgbClr val="F0A35E"/>
                </a:solidFill>
                <a:latin typeface="JetBrains Mono" pitchFamily="49" charset="0"/>
                <a:ea typeface="JetBrains Mono" pitchFamily="49" charset="-122"/>
                <a:cs typeface="JetBrains Mono" pitchFamily="49" charset="-120"/>
              </a:rPr>
              <a:t>in</a:t>
            </a:r>
            <a:r>
              <a:rPr lang="en-US" sz="1200" dirty="0">
                <a:solidFill>
                  <a:srgbClr val="E8EDF5"/>
                </a:solidFill>
                <a:latin typeface="JetBrains Mono" pitchFamily="49" charset="0"/>
                <a:ea typeface="JetBrains Mono" pitchFamily="49" charset="-122"/>
                <a:cs typeface="JetBrains Mono" pitchFamily="49" charset="-120"/>
              </a:rPr>
              <a:t> range(n):</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K[i, i] = k[i] + k[i + 1]</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if</a:t>
            </a:r>
            <a:r>
              <a:rPr lang="en-US" sz="1200" dirty="0">
                <a:solidFill>
                  <a:srgbClr val="E8EDF5"/>
                </a:solidFill>
                <a:latin typeface="JetBrains Mono" pitchFamily="49" charset="0"/>
                <a:ea typeface="JetBrains Mono" pitchFamily="49" charset="-122"/>
                <a:cs typeface="JetBrains Mono" pitchFamily="49" charset="-120"/>
              </a:rPr>
              <a:t> i &lt; n - 1:</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K[i, i + 1] = K[i + 1, i] = -k[i + 1]</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return</a:t>
            </a:r>
            <a:r>
              <a:rPr lang="en-US" sz="1200" dirty="0">
                <a:solidFill>
                  <a:srgbClr val="E8EDF5"/>
                </a:solidFill>
                <a:latin typeface="JetBrains Mono" pitchFamily="49" charset="0"/>
                <a:ea typeface="JetBrains Mono" pitchFamily="49" charset="-122"/>
                <a:cs typeface="JetBrains Mono" pitchFamily="49" charset="-120"/>
              </a:rPr>
              <a:t> K</a:t>
            </a:r>
            <a:endParaRPr lang="en-US" sz="1200" dirty="0"/>
          </a:p>
        </p:txBody>
      </p:sp>
      <p:sp>
        <p:nvSpPr>
          <p:cNvPr id="5" name="Shape 3"/>
          <p:cNvSpPr/>
          <p:nvPr/>
        </p:nvSpPr>
        <p:spPr>
          <a:xfrm>
            <a:off x="7242175" y="1873845"/>
            <a:ext cx="4133850" cy="1144191"/>
          </a:xfrm>
          <a:prstGeom prst="roundRect">
            <a:avLst>
              <a:gd name="adj" fmla="val 8602"/>
            </a:avLst>
          </a:prstGeom>
          <a:solidFill>
            <a:srgbClr val="FDFCF8"/>
          </a:solidFill>
          <a:ln w="6350">
            <a:solidFill>
              <a:srgbClr val="E2DED3"/>
            </a:solidFill>
            <a:prstDash val="solid"/>
          </a:ln>
        </p:spPr>
      </p:sp>
      <p:sp>
        <p:nvSpPr>
          <p:cNvPr id="6" name="Text 4"/>
          <p:cNvSpPr/>
          <p:nvPr/>
        </p:nvSpPr>
        <p:spPr>
          <a:xfrm>
            <a:off x="7448550" y="2080220"/>
            <a:ext cx="383273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Encapsular</a:t>
            </a:r>
            <a:endParaRPr lang="en-US" sz="1500" dirty="0"/>
          </a:p>
        </p:txBody>
      </p:sp>
      <p:sp>
        <p:nvSpPr>
          <p:cNvPr id="7" name="Text 5"/>
          <p:cNvSpPr/>
          <p:nvPr/>
        </p:nvSpPr>
        <p:spPr>
          <a:xfrm>
            <a:off x="7448550" y="2385020"/>
            <a:ext cx="383273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Atributos _privados y propiedades que devuelven copias.</a:t>
            </a:r>
            <a:endParaRPr lang="en-US" sz="1200" dirty="0"/>
          </a:p>
        </p:txBody>
      </p:sp>
      <p:sp>
        <p:nvSpPr>
          <p:cNvPr id="8" name="Shape 6"/>
          <p:cNvSpPr/>
          <p:nvPr/>
        </p:nvSpPr>
        <p:spPr>
          <a:xfrm>
            <a:off x="7242175" y="3176786"/>
            <a:ext cx="4133850" cy="930870"/>
          </a:xfrm>
          <a:prstGeom prst="roundRect">
            <a:avLst>
              <a:gd name="adj" fmla="val 10573"/>
            </a:avLst>
          </a:prstGeom>
          <a:solidFill>
            <a:srgbClr val="FDFCF8"/>
          </a:solidFill>
          <a:ln w="6350">
            <a:solidFill>
              <a:srgbClr val="E2DED3"/>
            </a:solidFill>
            <a:prstDash val="solid"/>
          </a:ln>
        </p:spPr>
      </p:sp>
      <p:sp>
        <p:nvSpPr>
          <p:cNvPr id="9" name="Text 7"/>
          <p:cNvSpPr/>
          <p:nvPr/>
        </p:nvSpPr>
        <p:spPr>
          <a:xfrm>
            <a:off x="7448550" y="3383161"/>
            <a:ext cx="383273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Validar al construir</a:t>
            </a:r>
            <a:endParaRPr lang="en-US" sz="1500" dirty="0"/>
          </a:p>
        </p:txBody>
      </p:sp>
      <p:sp>
        <p:nvSpPr>
          <p:cNvPr id="10" name="Text 8"/>
          <p:cNvSpPr/>
          <p:nvPr/>
        </p:nvSpPr>
        <p:spPr>
          <a:xfrm>
            <a:off x="7448550" y="3687961"/>
            <a:ext cx="392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Masas &gt; 0, k ≥ 0 y N + 1 resortes: nunca nace inválido.</a:t>
            </a:r>
            <a:endParaRPr lang="en-US" sz="1200" dirty="0"/>
          </a:p>
        </p:txBody>
      </p:sp>
      <p:sp>
        <p:nvSpPr>
          <p:cNvPr id="11" name="Shape 9"/>
          <p:cNvSpPr/>
          <p:nvPr/>
        </p:nvSpPr>
        <p:spPr>
          <a:xfrm>
            <a:off x="7242175" y="4266406"/>
            <a:ext cx="4133850" cy="1144191"/>
          </a:xfrm>
          <a:prstGeom prst="roundRect">
            <a:avLst>
              <a:gd name="adj" fmla="val 8602"/>
            </a:avLst>
          </a:prstGeom>
          <a:solidFill>
            <a:srgbClr val="FDFCF8"/>
          </a:solidFill>
          <a:ln w="6350">
            <a:solidFill>
              <a:srgbClr val="E2DED3"/>
            </a:solidFill>
            <a:prstDash val="solid"/>
          </a:ln>
        </p:spPr>
      </p:sp>
      <p:sp>
        <p:nvSpPr>
          <p:cNvPr id="12" name="Text 10"/>
          <p:cNvSpPr/>
          <p:nvPr/>
        </p:nvSpPr>
        <p:spPr>
          <a:xfrm>
            <a:off x="7448550" y="4472781"/>
            <a:ext cx="383273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Constructor alternativo</a:t>
            </a:r>
            <a:endParaRPr lang="en-US" sz="1500" dirty="0"/>
          </a:p>
        </p:txBody>
      </p:sp>
      <p:sp>
        <p:nvSpPr>
          <p:cNvPr id="13" name="Text 11"/>
          <p:cNvSpPr/>
          <p:nvPr/>
        </p:nvSpPr>
        <p:spPr>
          <a:xfrm>
            <a:off x="7448550" y="4777581"/>
            <a:ext cx="383273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uniforme(n, masa, k) crea una cadena de elementos iguales.</a:t>
            </a:r>
            <a:endParaRPr lang="en-US" sz="12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Osciladores acoplados · de la física a PyPI</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3 · MODELO · 20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SistemaOsciladores, paso a paso</a:t>
            </a:r>
            <a:endParaRPr lang="en-US" sz="3000" dirty="0"/>
          </a:p>
        </p:txBody>
      </p:sp>
      <p:sp>
        <p:nvSpPr>
          <p:cNvPr id="4" name="Text 2"/>
          <p:cNvSpPr/>
          <p:nvPr/>
        </p:nvSpPr>
        <p:spPr>
          <a:xfrm>
            <a:off x="812800" y="1870670"/>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IBM Plex Sans" pitchFamily="34" charset="0"/>
                <a:ea typeface="IBM Plex Sans" pitchFamily="34" charset="-122"/>
                <a:cs typeface="IBM Plex Sans" pitchFamily="34" charset="-120"/>
              </a:rPr>
              <a:t>CÓDIGO</a:t>
            </a:r>
            <a:endParaRPr lang="en-US" sz="1200" dirty="0"/>
          </a:p>
        </p:txBody>
      </p:sp>
      <p:sp>
        <p:nvSpPr>
          <p:cNvPr id="5" name="Text 3"/>
          <p:cNvSpPr/>
          <p:nvPr/>
        </p:nvSpPr>
        <p:spPr>
          <a:xfrm>
            <a:off x="3810000" y="1870670"/>
            <a:ext cx="410743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IBM Plex Sans" pitchFamily="34" charset="0"/>
                <a:ea typeface="IBM Plex Sans" pitchFamily="34" charset="-122"/>
                <a:cs typeface="IBM Plex Sans" pitchFamily="34" charset="-120"/>
              </a:rPr>
              <a:t>QUÉ SIGNIFICA</a:t>
            </a:r>
            <a:endParaRPr lang="en-US" sz="1200" dirty="0"/>
          </a:p>
        </p:txBody>
      </p:sp>
      <p:sp>
        <p:nvSpPr>
          <p:cNvPr id="6" name="Text 4"/>
          <p:cNvSpPr/>
          <p:nvPr/>
        </p:nvSpPr>
        <p:spPr>
          <a:xfrm>
            <a:off x="812800" y="2172891"/>
            <a:ext cx="2794000" cy="502841"/>
          </a:xfrm>
          <a:prstGeom prst="roundRect">
            <a:avLst>
              <a:gd name="adj" fmla="val 10103"/>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np.asarray(masas, dtype=float)</a:t>
            </a:r>
            <a:endParaRPr lang="en-US" sz="1200" dirty="0"/>
          </a:p>
        </p:txBody>
      </p:sp>
      <p:sp>
        <p:nvSpPr>
          <p:cNvPr id="7" name="Text 5"/>
          <p:cNvSpPr/>
          <p:nvPr/>
        </p:nvSpPr>
        <p:spPr>
          <a:xfrm>
            <a:off x="3810000" y="2172891"/>
            <a:ext cx="41074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Convierte la lista del usuario, como [1, 1, 1], en un arreglo de decimales.</a:t>
            </a:r>
            <a:endParaRPr lang="en-US" sz="1200" dirty="0"/>
          </a:p>
        </p:txBody>
      </p:sp>
      <p:sp>
        <p:nvSpPr>
          <p:cNvPr id="8" name="Text 6"/>
          <p:cNvSpPr/>
          <p:nvPr/>
        </p:nvSpPr>
        <p:spPr>
          <a:xfrm>
            <a:off x="812800" y="2764631"/>
            <a:ext cx="2794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if … : raise ValueError(…)</a:t>
            </a:r>
            <a:endParaRPr lang="en-US" sz="1200" dirty="0"/>
          </a:p>
        </p:txBody>
      </p:sp>
      <p:sp>
        <p:nvSpPr>
          <p:cNvPr id="9" name="Text 7"/>
          <p:cNvSpPr/>
          <p:nvPr/>
        </p:nvSpPr>
        <p:spPr>
          <a:xfrm>
            <a:off x="3810000" y="2764631"/>
            <a:ext cx="41074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Si los datos no tienen sentido, se detiene con un mensaje claro.</a:t>
            </a:r>
            <a:endParaRPr lang="en-US" sz="1200" dirty="0"/>
          </a:p>
        </p:txBody>
      </p:sp>
      <p:sp>
        <p:nvSpPr>
          <p:cNvPr id="10" name="Text 8"/>
          <p:cNvSpPr/>
          <p:nvPr/>
        </p:nvSpPr>
        <p:spPr>
          <a:xfrm>
            <a:off x="812800" y="3280172"/>
            <a:ext cx="2794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@staticmethod</a:t>
            </a:r>
            <a:endParaRPr lang="en-US" sz="1200" dirty="0"/>
          </a:p>
        </p:txBody>
      </p:sp>
      <p:sp>
        <p:nvSpPr>
          <p:cNvPr id="11" name="Text 9"/>
          <p:cNvSpPr/>
          <p:nvPr/>
        </p:nvSpPr>
        <p:spPr>
          <a:xfrm>
            <a:off x="3810000" y="3280172"/>
            <a:ext cx="41074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Función de la clase que no usa self: sólo trabaja con lo que recibe.</a:t>
            </a:r>
            <a:endParaRPr lang="en-US" sz="1200" dirty="0"/>
          </a:p>
        </p:txBody>
      </p:sp>
      <p:sp>
        <p:nvSpPr>
          <p:cNvPr id="12" name="Text 10"/>
          <p:cNvSpPr/>
          <p:nvPr/>
        </p:nvSpPr>
        <p:spPr>
          <a:xfrm>
            <a:off x="812800" y="3795713"/>
            <a:ext cx="2794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for i in range(n):</a:t>
            </a:r>
            <a:endParaRPr lang="en-US" sz="1200" dirty="0"/>
          </a:p>
        </p:txBody>
      </p:sp>
      <p:sp>
        <p:nvSpPr>
          <p:cNvPr id="13" name="Text 11"/>
          <p:cNvSpPr/>
          <p:nvPr/>
        </p:nvSpPr>
        <p:spPr>
          <a:xfrm>
            <a:off x="3810000" y="3795713"/>
            <a:ext cx="41074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Repite el bloque con i = 0, 1, …, n − 1: una vez por cada fila de K.</a:t>
            </a:r>
            <a:endParaRPr lang="en-US" sz="1200" dirty="0"/>
          </a:p>
        </p:txBody>
      </p:sp>
      <p:sp>
        <p:nvSpPr>
          <p:cNvPr id="14" name="Text 12"/>
          <p:cNvSpPr/>
          <p:nvPr/>
        </p:nvSpPr>
        <p:spPr>
          <a:xfrm>
            <a:off x="812800" y="4311253"/>
            <a:ext cx="2794000" cy="502841"/>
          </a:xfrm>
          <a:prstGeom prst="roundRect">
            <a:avLst>
              <a:gd name="adj" fmla="val 10103"/>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K[i, i + 1] = K[i + 1, i] = -k[i + 1]</a:t>
            </a:r>
            <a:endParaRPr lang="en-US" sz="1200" dirty="0"/>
          </a:p>
        </p:txBody>
      </p:sp>
      <p:sp>
        <p:nvSpPr>
          <p:cNvPr id="15" name="Text 13"/>
          <p:cNvSpPr/>
          <p:nvPr/>
        </p:nvSpPr>
        <p:spPr>
          <a:xfrm>
            <a:off x="3810000" y="4311253"/>
            <a:ext cx="41074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Escribe el mismo valor en dos casillas: por eso K queda simétrica.</a:t>
            </a:r>
            <a:endParaRPr lang="en-US" sz="1200" dirty="0"/>
          </a:p>
        </p:txBody>
      </p:sp>
      <p:sp>
        <p:nvSpPr>
          <p:cNvPr id="16" name="Text 14"/>
          <p:cNvSpPr/>
          <p:nvPr/>
        </p:nvSpPr>
        <p:spPr>
          <a:xfrm>
            <a:off x="8001000" y="1870670"/>
            <a:ext cx="34795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3"/>
                </a:solidFill>
                <a:latin typeface="IBM Plex Sans" pitchFamily="34" charset="0"/>
                <a:ea typeface="IBM Plex Sans" pitchFamily="34" charset="-122"/>
                <a:cs typeface="IBM Plex Sans" pitchFamily="34" charset="-120"/>
              </a:rPr>
              <a:t>EJEMPLO A MANO: 2 MASAS</a:t>
            </a:r>
            <a:endParaRPr lang="en-US" sz="1200" dirty="0"/>
          </a:p>
        </p:txBody>
      </p:sp>
      <p:sp>
        <p:nvSpPr>
          <p:cNvPr id="17" name="Text 15"/>
          <p:cNvSpPr/>
          <p:nvPr/>
        </p:nvSpPr>
        <p:spPr>
          <a:xfrm>
            <a:off x="8001000" y="2185591"/>
            <a:ext cx="3378200" cy="1899642"/>
          </a:xfrm>
          <a:prstGeom prst="roundRect">
            <a:avLst>
              <a:gd name="adj" fmla="val 5348"/>
            </a:avLst>
          </a:prstGeom>
          <a:solidFill>
            <a:srgbClr val="14213D"/>
          </a:solidFill>
          <a:ln/>
        </p:spPr>
        <p:txBody>
          <a:bodyPr wrap="none" lIns="224242" tIns="173442" rIns="138136" bIns="148042" rtlCol="0" anchor="t">
            <a:normAutofit/>
          </a:bodyPr>
          <a:lstStyle/>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k = [10, 5, 10]   → n = 2</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i = 0: K[0,0] = 10 + 5 = 15</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K[0,1] = K[1,0] = -5</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i = 1: K[1,1] = 5 + 10 = 15</a:t>
            </a:r>
            <a:endParaRPr lang="en-US" sz="1200" dirty="0"/>
          </a:p>
          <a:p>
            <a:pPr algn="l" indent="0" marL="0">
              <a:lnSpc>
                <a:spcPts val="1680"/>
              </a:lnSpc>
              <a:buNone/>
            </a:pP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K = [[ 15, -5],</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 -5, 15]]</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Osciladores acoplados · de la física a PyPI</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3 · MODELO · 20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Modos normales con siete líneas de NumPy</a:t>
            </a:r>
            <a:endParaRPr lang="en-US" sz="3000" dirty="0"/>
          </a:p>
        </p:txBody>
      </p:sp>
      <p:sp>
        <p:nvSpPr>
          <p:cNvPr id="4" name="Text 2"/>
          <p:cNvSpPr/>
          <p:nvPr/>
        </p:nvSpPr>
        <p:spPr>
          <a:xfrm>
            <a:off x="812800" y="1870670"/>
            <a:ext cx="10566400" cy="1899642"/>
          </a:xfrm>
          <a:prstGeom prst="roundRect">
            <a:avLst>
              <a:gd name="adj" fmla="val 5348"/>
            </a:avLst>
          </a:prstGeom>
          <a:solidFill>
            <a:srgbClr val="14213D"/>
          </a:solidFill>
          <a:ln/>
        </p:spPr>
        <p:txBody>
          <a:bodyPr wrap="none" lIns="224242" tIns="173442" rIns="0" bIns="148042" rtlCol="0" anchor="t">
            <a:normAutofit/>
          </a:bodyPr>
          <a:lstStyle/>
          <a:p>
            <a:pPr algn="l" indent="0" marL="0">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modos_normales(self):</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m_inv_raiz = 1.0 / np.sqrt(self._m)                        </a:t>
            </a:r>
            <a:r>
              <a:rPr lang="en-US" sz="1200" dirty="0">
                <a:solidFill>
                  <a:srgbClr val="8DA2BF"/>
                </a:solidFill>
                <a:latin typeface="JetBrains Mono" pitchFamily="49" charset="0"/>
                <a:ea typeface="JetBrains Mono" pitchFamily="49" charset="-122"/>
                <a:cs typeface="JetBrains Mono" pitchFamily="49" charset="-120"/>
              </a:rPr>
              <a:t># M^(-1/2)</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 = (m_inv_raiz[:, None] * self._K) * m_inv_raiz[None, :]  </a:t>
            </a:r>
            <a:r>
              <a:rPr lang="en-US" sz="1200" dirty="0">
                <a:solidFill>
                  <a:srgbClr val="8DA2BF"/>
                </a:solidFill>
                <a:latin typeface="JetBrains Mono" pitchFamily="49" charset="0"/>
                <a:ea typeface="JetBrains Mono" pitchFamily="49" charset="-122"/>
                <a:cs typeface="JetBrains Mono" pitchFamily="49" charset="-120"/>
              </a:rPr>
              <a:t># simétrica</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w2, U = np.linalg.eigh(A)</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w2 = np.clip(w2, 0.0, None)          </a:t>
            </a:r>
            <a:r>
              <a:rPr lang="en-US" sz="1200" dirty="0">
                <a:solidFill>
                  <a:srgbClr val="8DA2BF"/>
                </a:solidFill>
                <a:latin typeface="JetBrains Mono" pitchFamily="49" charset="0"/>
                <a:ea typeface="JetBrains Mono" pitchFamily="49" charset="-122"/>
                <a:cs typeface="JetBrains Mono" pitchFamily="49" charset="-120"/>
              </a:rPr>
              <a:t># elimina -1e-16 numéricos</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phi = m_inv_raiz[:, None] * U        </a:t>
            </a:r>
            <a:r>
              <a:rPr lang="en-US" sz="1200" dirty="0">
                <a:solidFill>
                  <a:srgbClr val="8DA2BF"/>
                </a:solidFill>
                <a:latin typeface="JetBrains Mono" pitchFamily="49" charset="0"/>
                <a:ea typeface="JetBrains Mono" pitchFamily="49" charset="-122"/>
                <a:cs typeface="JetBrains Mono" pitchFamily="49" charset="-120"/>
              </a:rPr>
              <a:t># modos con Φᵀ M Φ = I</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return</a:t>
            </a:r>
            <a:r>
              <a:rPr lang="en-US" sz="1200" dirty="0">
                <a:solidFill>
                  <a:srgbClr val="E8EDF5"/>
                </a:solidFill>
                <a:latin typeface="JetBrains Mono" pitchFamily="49" charset="0"/>
                <a:ea typeface="JetBrains Mono" pitchFamily="49" charset="-122"/>
                <a:cs typeface="JetBrains Mono" pitchFamily="49" charset="-120"/>
              </a:rPr>
              <a:t> np.sqrt(w2), phi</a:t>
            </a:r>
            <a:endParaRPr lang="en-US" sz="1200" dirty="0"/>
          </a:p>
        </p:txBody>
      </p:sp>
      <p:sp>
        <p:nvSpPr>
          <p:cNvPr id="5" name="Shape 3"/>
          <p:cNvSpPr/>
          <p:nvPr/>
        </p:nvSpPr>
        <p:spPr>
          <a:xfrm>
            <a:off x="815975" y="3976687"/>
            <a:ext cx="3384550" cy="1144191"/>
          </a:xfrm>
          <a:prstGeom prst="roundRect">
            <a:avLst>
              <a:gd name="adj" fmla="val 8602"/>
            </a:avLst>
          </a:prstGeom>
          <a:solidFill>
            <a:srgbClr val="FDFCF8"/>
          </a:solidFill>
          <a:ln w="6350">
            <a:solidFill>
              <a:srgbClr val="E2DED3"/>
            </a:solidFill>
            <a:prstDash val="solid"/>
          </a:ln>
        </p:spPr>
      </p:sp>
      <p:sp>
        <p:nvSpPr>
          <p:cNvPr id="6" name="Text 4"/>
          <p:cNvSpPr/>
          <p:nvPr/>
        </p:nvSpPr>
        <p:spPr>
          <a:xfrm>
            <a:off x="1022350" y="4183063"/>
            <a:ext cx="306095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Frecuencias</a:t>
            </a:r>
            <a:endParaRPr lang="en-US" sz="1500" dirty="0"/>
          </a:p>
        </p:txBody>
      </p:sp>
      <p:sp>
        <p:nvSpPr>
          <p:cNvPr id="7" name="Text 5"/>
          <p:cNvSpPr/>
          <p:nvPr/>
        </p:nvSpPr>
        <p:spPr>
          <a:xfrm>
            <a:off x="1022350" y="4487863"/>
            <a:ext cx="30609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frecuencias_hz() devuelve f = ω / 2π para cada modo.</a:t>
            </a:r>
            <a:endParaRPr lang="en-US" sz="1200" dirty="0"/>
          </a:p>
        </p:txBody>
      </p:sp>
      <p:sp>
        <p:nvSpPr>
          <p:cNvPr id="8" name="Shape 6"/>
          <p:cNvSpPr/>
          <p:nvPr/>
        </p:nvSpPr>
        <p:spPr>
          <a:xfrm>
            <a:off x="4410075" y="3976687"/>
            <a:ext cx="3384550" cy="1144191"/>
          </a:xfrm>
          <a:prstGeom prst="roundRect">
            <a:avLst>
              <a:gd name="adj" fmla="val 8602"/>
            </a:avLst>
          </a:prstGeom>
          <a:solidFill>
            <a:srgbClr val="FDFCF8"/>
          </a:solidFill>
          <a:ln w="6350">
            <a:solidFill>
              <a:srgbClr val="E2DED3"/>
            </a:solidFill>
            <a:prstDash val="solid"/>
          </a:ln>
        </p:spPr>
      </p:sp>
      <p:sp>
        <p:nvSpPr>
          <p:cNvPr id="9" name="Text 7"/>
          <p:cNvSpPr/>
          <p:nvPr/>
        </p:nvSpPr>
        <p:spPr>
          <a:xfrm>
            <a:off x="4616450" y="4183063"/>
            <a:ext cx="306095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Excitar un modo</a:t>
            </a:r>
            <a:endParaRPr lang="en-US" sz="1500" dirty="0"/>
          </a:p>
        </p:txBody>
      </p:sp>
      <p:sp>
        <p:nvSpPr>
          <p:cNvPr id="10" name="Text 8"/>
          <p:cNvSpPr/>
          <p:nvPr/>
        </p:nvSpPr>
        <p:spPr>
          <a:xfrm>
            <a:off x="4616450" y="4487863"/>
            <a:ext cx="30609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condicion_modo(j) da un x(0) que activa sólo el modo j.</a:t>
            </a:r>
            <a:endParaRPr lang="en-US" sz="1200" dirty="0"/>
          </a:p>
        </p:txBody>
      </p:sp>
      <p:sp>
        <p:nvSpPr>
          <p:cNvPr id="11" name="Shape 9"/>
          <p:cNvSpPr/>
          <p:nvPr/>
        </p:nvSpPr>
        <p:spPr>
          <a:xfrm>
            <a:off x="8001000" y="3973512"/>
            <a:ext cx="3378200" cy="1150541"/>
          </a:xfrm>
          <a:prstGeom prst="roundRect">
            <a:avLst>
              <a:gd name="adj" fmla="val 8831"/>
            </a:avLst>
          </a:prstGeom>
          <a:solidFill>
            <a:srgbClr val="14213D"/>
          </a:solidFill>
          <a:ln/>
        </p:spPr>
      </p:sp>
      <p:sp>
        <p:nvSpPr>
          <p:cNvPr id="12" name="Text 10"/>
          <p:cNvSpPr/>
          <p:nvPr/>
        </p:nvSpPr>
        <p:spPr>
          <a:xfrm>
            <a:off x="8204200" y="4176712"/>
            <a:ext cx="306095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35E"/>
                </a:solidFill>
                <a:latin typeface="Rubik" pitchFamily="34" charset="0"/>
                <a:ea typeface="Rubik" pitchFamily="34" charset="-122"/>
                <a:cs typeface="Rubik" pitchFamily="34" charset="-120"/>
              </a:rPr>
              <a:t>Comprobar</a:t>
            </a:r>
            <a:endParaRPr lang="en-US" sz="1500" dirty="0"/>
          </a:p>
        </p:txBody>
      </p:sp>
      <p:sp>
        <p:nvSpPr>
          <p:cNvPr id="13" name="Text 11"/>
          <p:cNvSpPr/>
          <p:nvPr/>
        </p:nvSpPr>
        <p:spPr>
          <a:xfrm>
            <a:off x="8204200" y="4481513"/>
            <a:ext cx="30609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Con dos masas iguales deben salir √(k/m) y √(3k/m).</a:t>
            </a:r>
            <a:endParaRPr lang="en-US" sz="12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Osciladores acoplados · de la física a PyPI</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3 · MODELO · 20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Las siete líneas, traducidas</a:t>
            </a:r>
            <a:endParaRPr lang="en-US" sz="3000" dirty="0"/>
          </a:p>
        </p:txBody>
      </p:sp>
      <p:sp>
        <p:nvSpPr>
          <p:cNvPr id="4" name="Text 2"/>
          <p:cNvSpPr/>
          <p:nvPr/>
        </p:nvSpPr>
        <p:spPr>
          <a:xfrm>
            <a:off x="812800" y="1870670"/>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IBM Plex Sans" pitchFamily="34" charset="0"/>
                <a:ea typeface="IBM Plex Sans" pitchFamily="34" charset="-122"/>
                <a:cs typeface="IBM Plex Sans" pitchFamily="34" charset="-120"/>
              </a:rPr>
              <a:t>CÓDIGO</a:t>
            </a:r>
            <a:endParaRPr lang="en-US" sz="1200" dirty="0"/>
          </a:p>
        </p:txBody>
      </p:sp>
      <p:sp>
        <p:nvSpPr>
          <p:cNvPr id="5" name="Text 3"/>
          <p:cNvSpPr/>
          <p:nvPr/>
        </p:nvSpPr>
        <p:spPr>
          <a:xfrm>
            <a:off x="3810000" y="1870670"/>
            <a:ext cx="410743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IBM Plex Sans" pitchFamily="34" charset="0"/>
                <a:ea typeface="IBM Plex Sans" pitchFamily="34" charset="-122"/>
                <a:cs typeface="IBM Plex Sans" pitchFamily="34" charset="-120"/>
              </a:rPr>
              <a:t>QUÉ SIGNIFICA</a:t>
            </a:r>
            <a:endParaRPr lang="en-US" sz="1200" dirty="0"/>
          </a:p>
        </p:txBody>
      </p:sp>
      <p:sp>
        <p:nvSpPr>
          <p:cNvPr id="6" name="Text 4"/>
          <p:cNvSpPr/>
          <p:nvPr/>
        </p:nvSpPr>
        <p:spPr>
          <a:xfrm>
            <a:off x="812800" y="2172891"/>
            <a:ext cx="2794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1.0 / np.sqrt(self._m)</a:t>
            </a:r>
            <a:endParaRPr lang="en-US" sz="1200" dirty="0"/>
          </a:p>
        </p:txBody>
      </p:sp>
      <p:sp>
        <p:nvSpPr>
          <p:cNvPr id="7" name="Text 5"/>
          <p:cNvSpPr/>
          <p:nvPr/>
        </p:nvSpPr>
        <p:spPr>
          <a:xfrm>
            <a:off x="3810000" y="2172891"/>
            <a:ext cx="41074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Calcula 1/√mᵢ para todas las masas a la vez, sin escribir un ciclo.</a:t>
            </a:r>
            <a:endParaRPr lang="en-US" sz="1200" dirty="0"/>
          </a:p>
        </p:txBody>
      </p:sp>
      <p:sp>
        <p:nvSpPr>
          <p:cNvPr id="8" name="Text 6"/>
          <p:cNvSpPr/>
          <p:nvPr/>
        </p:nvSpPr>
        <p:spPr>
          <a:xfrm>
            <a:off x="812800" y="2688431"/>
            <a:ext cx="2794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v[:, None] y v[None, :]</a:t>
            </a:r>
            <a:endParaRPr lang="en-US" sz="1200" dirty="0"/>
          </a:p>
        </p:txBody>
      </p:sp>
      <p:sp>
        <p:nvSpPr>
          <p:cNvPr id="9" name="Text 7"/>
          <p:cNvSpPr/>
          <p:nvPr/>
        </p:nvSpPr>
        <p:spPr>
          <a:xfrm>
            <a:off x="3810000" y="2688431"/>
            <a:ext cx="410743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Ponen el vector de pie (columna) o acostado (fila). Al multiplicar, cada fila y columna de K se escala: eso es M⁻½ K M⁻½.</a:t>
            </a:r>
            <a:endParaRPr lang="en-US" sz="1200" dirty="0"/>
          </a:p>
        </p:txBody>
      </p:sp>
      <p:sp>
        <p:nvSpPr>
          <p:cNvPr id="10" name="Text 8"/>
          <p:cNvSpPr/>
          <p:nvPr/>
        </p:nvSpPr>
        <p:spPr>
          <a:xfrm>
            <a:off x="812800" y="3417292"/>
            <a:ext cx="2794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np.linalg.eigh(A)</a:t>
            </a:r>
            <a:endParaRPr lang="en-US" sz="1200" dirty="0"/>
          </a:p>
        </p:txBody>
      </p:sp>
      <p:sp>
        <p:nvSpPr>
          <p:cNvPr id="11" name="Text 9"/>
          <p:cNvSpPr/>
          <p:nvPr/>
        </p:nvSpPr>
        <p:spPr>
          <a:xfrm>
            <a:off x="3810000" y="3417292"/>
            <a:ext cx="41074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Resuelve autovalores de una matriz simétrica: da los ω², de menor a mayor, y los vectores propios.</a:t>
            </a:r>
            <a:endParaRPr lang="en-US" sz="1200" dirty="0"/>
          </a:p>
        </p:txBody>
      </p:sp>
      <p:sp>
        <p:nvSpPr>
          <p:cNvPr id="12" name="Text 10"/>
          <p:cNvSpPr/>
          <p:nvPr/>
        </p:nvSpPr>
        <p:spPr>
          <a:xfrm>
            <a:off x="812800" y="3932833"/>
            <a:ext cx="2794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np.clip(w2, 0.0, None)</a:t>
            </a:r>
            <a:endParaRPr lang="en-US" sz="1200" dirty="0"/>
          </a:p>
        </p:txBody>
      </p:sp>
      <p:sp>
        <p:nvSpPr>
          <p:cNvPr id="13" name="Text 11"/>
          <p:cNvSpPr/>
          <p:nvPr/>
        </p:nvSpPr>
        <p:spPr>
          <a:xfrm>
            <a:off x="3810000" y="3932833"/>
            <a:ext cx="41074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Cambia por 0 los negativos diminutos (−1e−16) que deja el redondeo, para que la raíz no falle.</a:t>
            </a:r>
            <a:endParaRPr lang="en-US" sz="1200" dirty="0"/>
          </a:p>
        </p:txBody>
      </p:sp>
      <p:sp>
        <p:nvSpPr>
          <p:cNvPr id="14" name="Text 12"/>
          <p:cNvSpPr/>
          <p:nvPr/>
        </p:nvSpPr>
        <p:spPr>
          <a:xfrm>
            <a:off x="812800" y="4448373"/>
            <a:ext cx="2794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return np.sqrt(w2), phi</a:t>
            </a:r>
            <a:endParaRPr lang="en-US" sz="1200" dirty="0"/>
          </a:p>
        </p:txBody>
      </p:sp>
      <p:sp>
        <p:nvSpPr>
          <p:cNvPr id="15" name="Text 13"/>
          <p:cNvSpPr/>
          <p:nvPr/>
        </p:nvSpPr>
        <p:spPr>
          <a:xfrm>
            <a:off x="3810000" y="4448373"/>
            <a:ext cx="41074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Devuelve dos cosas: las frecuencias ω y la matriz de modos, un modo por columna.</a:t>
            </a:r>
            <a:endParaRPr lang="en-US" sz="1200" dirty="0"/>
          </a:p>
        </p:txBody>
      </p:sp>
      <p:sp>
        <p:nvSpPr>
          <p:cNvPr id="16" name="Text 14"/>
          <p:cNvSpPr/>
          <p:nvPr/>
        </p:nvSpPr>
        <p:spPr>
          <a:xfrm>
            <a:off x="8001000" y="1870670"/>
            <a:ext cx="34795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3"/>
                </a:solidFill>
                <a:latin typeface="IBM Plex Sans" pitchFamily="34" charset="0"/>
                <a:ea typeface="IBM Plex Sans" pitchFamily="34" charset="-122"/>
                <a:cs typeface="IBM Plex Sans" pitchFamily="34" charset="-120"/>
              </a:rPr>
              <a:t>COMPROBACIÓN EN CONSOLA</a:t>
            </a:r>
            <a:endParaRPr lang="en-US" sz="1200" dirty="0"/>
          </a:p>
        </p:txBody>
      </p:sp>
      <p:sp>
        <p:nvSpPr>
          <p:cNvPr id="17" name="Text 15"/>
          <p:cNvSpPr/>
          <p:nvPr/>
        </p:nvSpPr>
        <p:spPr>
          <a:xfrm>
            <a:off x="8001000" y="2185591"/>
            <a:ext cx="3378200" cy="1899642"/>
          </a:xfrm>
          <a:prstGeom prst="roundRect">
            <a:avLst>
              <a:gd name="adj" fmla="val 5348"/>
            </a:avLst>
          </a:prstGeom>
          <a:solidFill>
            <a:srgbClr val="14213D"/>
          </a:solidFill>
          <a:ln/>
        </p:spPr>
        <p:txBody>
          <a:bodyPr wrap="none" lIns="224242" tIns="173442" rIns="138136" bIns="148042" rtlCol="0" anchor="t">
            <a:normAutofit/>
          </a:bodyPr>
          <a:lstStyle/>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&gt;&gt;&gt; s = SistemaOsciladores(</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[1, 1], [10, 10, 10])</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&gt;&gt;&gt; w, phi = s.modos_normales()</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&gt;&gt;&gt; w</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array([3.162, 5.477])</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&gt;&gt;&gt; np.sqrt([10, 30])</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array([3.162, 5.477])</a:t>
            </a:r>
            <a:endParaRPr lang="en-US" sz="1200" dirty="0"/>
          </a:p>
        </p:txBody>
      </p:sp>
      <p:sp>
        <p:nvSpPr>
          <p:cNvPr id="18" name="Text 16"/>
          <p:cNvSpPr/>
          <p:nvPr/>
        </p:nvSpPr>
        <p:spPr>
          <a:xfrm>
            <a:off x="8001000" y="4186833"/>
            <a:ext cx="34795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Coinciden con √(k/m) y √(3k/m) del tablero.</a:t>
            </a:r>
            <a:endParaRPr lang="en-US" sz="12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Osciladores acoplados · de la física a PyPI</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3 · MODELO · 20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Un objeto para el resultado</a:t>
            </a:r>
            <a:endParaRPr lang="en-US" sz="3000" dirty="0"/>
          </a:p>
        </p:txBody>
      </p:sp>
      <p:sp>
        <p:nvSpPr>
          <p:cNvPr id="4" name="Text 2"/>
          <p:cNvSpPr/>
          <p:nvPr/>
        </p:nvSpPr>
        <p:spPr>
          <a:xfrm>
            <a:off x="812800" y="1870670"/>
            <a:ext cx="6604000" cy="3179564"/>
          </a:xfrm>
          <a:prstGeom prst="roundRect">
            <a:avLst>
              <a:gd name="adj" fmla="val 3195"/>
            </a:avLst>
          </a:prstGeom>
          <a:solidFill>
            <a:srgbClr val="14213D"/>
          </a:solidFill>
          <a:ln/>
        </p:spPr>
        <p:txBody>
          <a:bodyPr wrap="none" lIns="224242" tIns="173442" rIns="41362" bIns="148042" rtlCol="0" anchor="t">
            <a:normAutofit/>
          </a:bodyPr>
          <a:lstStyle/>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@dataclass(frozen=True)</a:t>
            </a:r>
            <a:endParaRPr lang="en-US" sz="1200" dirty="0"/>
          </a:p>
          <a:p>
            <a:pPr algn="l" indent="0" marL="0">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class</a:t>
            </a:r>
            <a:r>
              <a:rPr lang="en-US" sz="1200" dirty="0">
                <a:solidFill>
                  <a:srgbClr val="E8EDF5"/>
                </a:solidFill>
                <a:latin typeface="JetBrains Mono" pitchFamily="49" charset="0"/>
                <a:ea typeface="JetBrains Mono" pitchFamily="49" charset="-122"/>
                <a:cs typeface="JetBrains Mono" pitchFamily="49" charset="-120"/>
              </a:rPr>
              <a:t> Resultado:</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t: np.ndarray          </a:t>
            </a:r>
            <a:r>
              <a:rPr lang="en-US" sz="1200" dirty="0">
                <a:solidFill>
                  <a:srgbClr val="8DA2BF"/>
                </a:solidFill>
                <a:latin typeface="JetBrains Mono" pitchFamily="49" charset="0"/>
                <a:ea typeface="JetBrains Mono" pitchFamily="49" charset="-122"/>
                <a:cs typeface="JetBrains Mono" pitchFamily="49" charset="-120"/>
              </a:rPr>
              <a:t># (T,)</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x: np.ndarray          </a:t>
            </a:r>
            <a:r>
              <a:rPr lang="en-US" sz="1200" dirty="0">
                <a:solidFill>
                  <a:srgbClr val="8DA2BF"/>
                </a:solidFill>
                <a:latin typeface="JetBrains Mono" pitchFamily="49" charset="0"/>
                <a:ea typeface="JetBrains Mono" pitchFamily="49" charset="-122"/>
                <a:cs typeface="JetBrains Mono" pitchFamily="49" charset="-120"/>
              </a:rPr>
              <a:t># (T, N)</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v: np.ndarray          </a:t>
            </a:r>
            <a:r>
              <a:rPr lang="en-US" sz="1200" dirty="0">
                <a:solidFill>
                  <a:srgbClr val="8DA2BF"/>
                </a:solidFill>
                <a:latin typeface="JetBrains Mono" pitchFamily="49" charset="0"/>
                <a:ea typeface="JetBrains Mono" pitchFamily="49" charset="-122"/>
                <a:cs typeface="JetBrains Mono" pitchFamily="49" charset="-120"/>
              </a:rPr>
              <a:t># (T, N)</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energia: np.ndarray    </a:t>
            </a:r>
            <a:r>
              <a:rPr lang="en-US" sz="1200" dirty="0">
                <a:solidFill>
                  <a:srgbClr val="8DA2BF"/>
                </a:solidFill>
                <a:latin typeface="JetBrains Mono" pitchFamily="49" charset="0"/>
                <a:ea typeface="JetBrains Mono" pitchFamily="49" charset="-122"/>
                <a:cs typeface="JetBrains Mono" pitchFamily="49" charset="-120"/>
              </a:rPr>
              <a:t># (T,)</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metodo: str</a:t>
            </a:r>
            <a:endParaRPr lang="en-US" sz="1200" dirty="0"/>
          </a:p>
          <a:p>
            <a:pPr algn="l" indent="0" marL="0">
              <a:lnSpc>
                <a:spcPts val="1680"/>
              </a:lnSpc>
              <a:buNone/>
            </a:pP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@property</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error_energia_relativo(self):</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return</a:t>
            </a:r>
            <a:r>
              <a:rPr lang="en-US" sz="1200" dirty="0">
                <a:solidFill>
                  <a:srgbClr val="E8EDF5"/>
                </a:solidFill>
                <a:latin typeface="JetBrains Mono" pitchFamily="49" charset="0"/>
                <a:ea typeface="JetBrains Mono" pitchFamily="49" charset="-122"/>
                <a:cs typeface="JetBrains Mono" pitchFamily="49" charset="-120"/>
              </a:rPr>
              <a:t> (self.energia - self.energia[0]) / self.energia[0]</a:t>
            </a:r>
            <a:endParaRPr lang="en-US" sz="1200" dirty="0"/>
          </a:p>
          <a:p>
            <a:pPr algn="l" indent="0" marL="0">
              <a:lnSpc>
                <a:spcPts val="1680"/>
              </a:lnSpc>
              <a:buNone/>
            </a:pP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a_csv(self, ruta): ...</a:t>
            </a:r>
            <a:endParaRPr lang="en-US" sz="1200" dirty="0"/>
          </a:p>
        </p:txBody>
      </p:sp>
      <p:sp>
        <p:nvSpPr>
          <p:cNvPr id="5" name="Shape 3"/>
          <p:cNvSpPr/>
          <p:nvPr/>
        </p:nvSpPr>
        <p:spPr>
          <a:xfrm>
            <a:off x="7620000" y="1870670"/>
            <a:ext cx="3759200" cy="1620441"/>
          </a:xfrm>
          <a:prstGeom prst="roundRect">
            <a:avLst>
              <a:gd name="adj" fmla="val 6270"/>
            </a:avLst>
          </a:prstGeom>
          <a:solidFill>
            <a:srgbClr val="14213D"/>
          </a:solidFill>
          <a:ln/>
        </p:spPr>
      </p:sp>
      <p:sp>
        <p:nvSpPr>
          <p:cNvPr id="6" name="Text 4"/>
          <p:cNvSpPr/>
          <p:nvPr/>
        </p:nvSpPr>
        <p:spPr>
          <a:xfrm>
            <a:off x="7823200" y="2073870"/>
            <a:ext cx="345338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35E"/>
                </a:solidFill>
                <a:latin typeface="Rubik" pitchFamily="34" charset="0"/>
                <a:ea typeface="Rubik" pitchFamily="34" charset="-122"/>
                <a:cs typeface="Rubik" pitchFamily="34" charset="-120"/>
              </a:rPr>
              <a:t>Energía mecánica</a:t>
            </a:r>
            <a:endParaRPr lang="en-US" sz="1500" dirty="0"/>
          </a:p>
        </p:txBody>
      </p:sp>
      <p:sp>
        <p:nvSpPr>
          <p:cNvPr id="7" name="Text 5"/>
          <p:cNvSpPr/>
          <p:nvPr/>
        </p:nvSpPr>
        <p:spPr>
          <a:xfrm>
            <a:off x="7823200" y="2404070"/>
            <a:ext cx="345338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7F5EF"/>
                </a:solidFill>
                <a:latin typeface="Rubik" pitchFamily="34" charset="0"/>
                <a:ea typeface="Rubik" pitchFamily="34" charset="-122"/>
                <a:cs typeface="Rubik" pitchFamily="34" charset="-120"/>
              </a:rPr>
              <a:t>E = ½ vᵀM v + ½ xᵀK x</a:t>
            </a:r>
            <a:endParaRPr lang="en-US" sz="2000" dirty="0"/>
          </a:p>
        </p:txBody>
      </p:sp>
      <p:sp>
        <p:nvSpPr>
          <p:cNvPr id="8" name="Text 6"/>
          <p:cNvSpPr/>
          <p:nvPr/>
        </p:nvSpPr>
        <p:spPr>
          <a:xfrm>
            <a:off x="7823200" y="2861270"/>
            <a:ext cx="34533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Debe ser constante: es nuestro termómetro de calidad numérica.</a:t>
            </a:r>
            <a:endParaRPr lang="en-US" sz="1200" dirty="0"/>
          </a:p>
        </p:txBody>
      </p:sp>
      <p:sp>
        <p:nvSpPr>
          <p:cNvPr id="9" name="Shape 7"/>
          <p:cNvSpPr/>
          <p:nvPr/>
        </p:nvSpPr>
        <p:spPr>
          <a:xfrm>
            <a:off x="7623175" y="3646686"/>
            <a:ext cx="3752850" cy="1144191"/>
          </a:xfrm>
          <a:prstGeom prst="roundRect">
            <a:avLst>
              <a:gd name="adj" fmla="val 8602"/>
            </a:avLst>
          </a:prstGeom>
          <a:solidFill>
            <a:srgbClr val="FDFCF8"/>
          </a:solidFill>
          <a:ln w="6350">
            <a:solidFill>
              <a:srgbClr val="E2DED3"/>
            </a:solidFill>
            <a:prstDash val="solid"/>
          </a:ln>
        </p:spPr>
      </p:sp>
      <p:sp>
        <p:nvSpPr>
          <p:cNvPr id="10" name="Text 8"/>
          <p:cNvSpPr/>
          <p:nvPr/>
        </p:nvSpPr>
        <p:spPr>
          <a:xfrm>
            <a:off x="7829550" y="3853061"/>
            <a:ext cx="34403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frozen=True</a:t>
            </a:r>
            <a:endParaRPr lang="en-US" sz="1500" dirty="0"/>
          </a:p>
        </p:txBody>
      </p:sp>
      <p:sp>
        <p:nvSpPr>
          <p:cNvPr id="11" name="Text 9"/>
          <p:cNvSpPr/>
          <p:nvPr/>
        </p:nvSpPr>
        <p:spPr>
          <a:xfrm>
            <a:off x="7829550" y="4157861"/>
            <a:ext cx="344030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El resultado es inmutable: la GUI puede graficarlo y guardarlo sin riesgo de alterarlo.</a:t>
            </a:r>
            <a:endParaRPr lang="en-US" sz="12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Osciladores acoplados · de la física a PyPI</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3 · MODELO · 20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Un Resultado es una tabla de números</a:t>
            </a:r>
            <a:endParaRPr lang="en-US" sz="3000" dirty="0"/>
          </a:p>
        </p:txBody>
      </p:sp>
      <p:sp>
        <p:nvSpPr>
          <p:cNvPr id="4" name="Text 2"/>
          <p:cNvSpPr/>
          <p:nvPr/>
        </p:nvSpPr>
        <p:spPr>
          <a:xfrm>
            <a:off x="812800" y="1870670"/>
            <a:ext cx="58864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3"/>
                </a:solidFill>
                <a:latin typeface="IBM Plex Sans" pitchFamily="34" charset="0"/>
                <a:ea typeface="IBM Plex Sans" pitchFamily="34" charset="-122"/>
                <a:cs typeface="IBM Plex Sans" pitchFamily="34" charset="-120"/>
              </a:rPr>
              <a:t>RES.T Y RES.X PARA 3 MASAS, DT = 0.01 S</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198291"/>
          <a:ext cx="5702300" cy="1662906"/>
        </p:xfrm>
        <a:graphic>
          <a:graphicData uri="http://schemas.openxmlformats.org/drawingml/2006/table">
            <a:tbl>
              <a:tblPr/>
              <a:tblGrid>
                <a:gridCol w="912368"/>
                <a:gridCol w="1197483"/>
                <a:gridCol w="1197483"/>
                <a:gridCol w="1197483"/>
                <a:gridCol w="1197483"/>
              </a:tblGrid>
              <a:tr h="332581">
                <a:tc>
                  <a:txBody>
                    <a:bodyPr/>
                    <a:lstStyle/>
                    <a:p>
                      <a:pPr indent="0" marL="0">
                        <a:lnSpc>
                          <a:spcPts val="1680"/>
                        </a:lnSpc>
                        <a:buNone/>
                      </a:pPr>
                      <a:r>
                        <a:rPr lang="en-US" sz="1200" b="1" dirty="0">
                          <a:solidFill>
                            <a:srgbClr val="3E4A5C"/>
                          </a:solidFill>
                          <a:latin typeface="IBM Plex Sans" pitchFamily="34" charset="0"/>
                          <a:ea typeface="IBM Plex Sans" pitchFamily="34" charset="-122"/>
                          <a:cs typeface="IBM Plex Sans" pitchFamily="34" charset="-120"/>
                        </a:rPr>
                        <a:t>fila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1680"/>
                        </a:lnSpc>
                        <a:buNone/>
                      </a:pPr>
                      <a:r>
                        <a:rPr lang="en-US" sz="1200" b="1" dirty="0">
                          <a:solidFill>
                            <a:srgbClr val="3E4A5C"/>
                          </a:solidFill>
                          <a:latin typeface="IBM Plex Sans" pitchFamily="34" charset="0"/>
                          <a:ea typeface="IBM Plex Sans" pitchFamily="34" charset="-122"/>
                          <a:cs typeface="IBM Plex Sans" pitchFamily="34" charset="-120"/>
                        </a:rPr>
                        <a:t>t (s)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1680"/>
                        </a:lnSpc>
                        <a:buNone/>
                      </a:pPr>
                      <a:r>
                        <a:rPr lang="en-US" sz="1200" b="1" dirty="0">
                          <a:solidFill>
                            <a:srgbClr val="3E4A5C"/>
                          </a:solidFill>
                          <a:latin typeface="IBM Plex Sans" pitchFamily="34" charset="0"/>
                          <a:ea typeface="IBM Plex Sans" pitchFamily="34" charset="-122"/>
                          <a:cs typeface="IBM Plex Sans" pitchFamily="34" charset="-120"/>
                        </a:rPr>
                        <a:t>x₁ (m)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1680"/>
                        </a:lnSpc>
                        <a:buNone/>
                      </a:pPr>
                      <a:r>
                        <a:rPr lang="en-US" sz="1200" b="1" dirty="0">
                          <a:solidFill>
                            <a:srgbClr val="3E4A5C"/>
                          </a:solidFill>
                          <a:latin typeface="IBM Plex Sans" pitchFamily="34" charset="0"/>
                          <a:ea typeface="IBM Plex Sans" pitchFamily="34" charset="-122"/>
                          <a:cs typeface="IBM Plex Sans" pitchFamily="34" charset="-120"/>
                        </a:rPr>
                        <a:t>x₂ (m)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1680"/>
                        </a:lnSpc>
                        <a:buNone/>
                      </a:pPr>
                      <a:r>
                        <a:rPr lang="en-US" sz="1200" b="1" dirty="0">
                          <a:solidFill>
                            <a:srgbClr val="3E4A5C"/>
                          </a:solidFill>
                          <a:latin typeface="IBM Plex Sans" pitchFamily="34" charset="0"/>
                          <a:ea typeface="IBM Plex Sans" pitchFamily="34" charset="-122"/>
                          <a:cs typeface="IBM Plex Sans" pitchFamily="34" charset="-120"/>
                        </a:rPr>
                        <a:t>x₃ (m)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r>
              <a:tr h="332581">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0.500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0.000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0.000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32581">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50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0.50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−0.232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0.235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0.076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r>
              <a:tr h="332581">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100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1.00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−0.040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−0.293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0.079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32581">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2000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20.00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r>
            </a:tbl>
          </a:graphicData>
        </a:graphic>
      </p:graphicFrame>
      <p:sp>
        <p:nvSpPr>
          <p:cNvPr id="6" name="Text 3"/>
          <p:cNvSpPr/>
          <p:nvPr/>
        </p:nvSpPr>
        <p:spPr>
          <a:xfrm>
            <a:off x="812800" y="3962797"/>
            <a:ext cx="58864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res.x.shape es (2001, 3): 2001 instantes, 3 masas. res.x[:, 0] es toda la columna de la masa 1.</a:t>
            </a:r>
            <a:endParaRPr lang="en-US" sz="1200" dirty="0"/>
          </a:p>
        </p:txBody>
      </p:sp>
      <p:sp>
        <p:nvSpPr>
          <p:cNvPr id="7" name="Text 4"/>
          <p:cNvSpPr/>
          <p:nvPr/>
        </p:nvSpPr>
        <p:spPr>
          <a:xfrm>
            <a:off x="6731000" y="1870670"/>
            <a:ext cx="15113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IBM Plex Sans" pitchFamily="34" charset="0"/>
                <a:ea typeface="IBM Plex Sans" pitchFamily="34" charset="-122"/>
                <a:cs typeface="IBM Plex Sans" pitchFamily="34" charset="-120"/>
              </a:rPr>
              <a:t>CÓDIGO</a:t>
            </a:r>
            <a:endParaRPr lang="en-US" sz="1200" dirty="0"/>
          </a:p>
        </p:txBody>
      </p:sp>
      <p:sp>
        <p:nvSpPr>
          <p:cNvPr id="8" name="Text 5"/>
          <p:cNvSpPr/>
          <p:nvPr/>
        </p:nvSpPr>
        <p:spPr>
          <a:xfrm>
            <a:off x="8394700" y="1870670"/>
            <a:ext cx="307403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IBM Plex Sans" pitchFamily="34" charset="0"/>
                <a:ea typeface="IBM Plex Sans" pitchFamily="34" charset="-122"/>
                <a:cs typeface="IBM Plex Sans" pitchFamily="34" charset="-120"/>
              </a:rPr>
              <a:t>QUÉ SIGNIFICA</a:t>
            </a:r>
            <a:endParaRPr lang="en-US" sz="1200" dirty="0"/>
          </a:p>
        </p:txBody>
      </p:sp>
      <p:sp>
        <p:nvSpPr>
          <p:cNvPr id="9" name="Text 6"/>
          <p:cNvSpPr/>
          <p:nvPr/>
        </p:nvSpPr>
        <p:spPr>
          <a:xfrm>
            <a:off x="6731000" y="2172891"/>
            <a:ext cx="1460500" cy="289520"/>
          </a:xfrm>
          <a:prstGeom prst="roundRect">
            <a:avLst>
              <a:gd name="adj" fmla="val 17546"/>
            </a:avLst>
          </a:prstGeom>
          <a:solidFill>
            <a:srgbClr val="EFEBE1"/>
          </a:solidFill>
          <a:ln/>
        </p:spPr>
        <p:txBody>
          <a:bodyPr wrap="square" lIns="61321" tIns="23221" rIns="10521"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@dataclass</a:t>
            </a:r>
            <a:endParaRPr lang="en-US" sz="1200" dirty="0"/>
          </a:p>
        </p:txBody>
      </p:sp>
      <p:sp>
        <p:nvSpPr>
          <p:cNvPr id="10" name="Text 7"/>
          <p:cNvSpPr/>
          <p:nvPr/>
        </p:nvSpPr>
        <p:spPr>
          <a:xfrm>
            <a:off x="8394700" y="2172891"/>
            <a:ext cx="30740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Escribe el constructor por nosotros: basta con listar los campos.</a:t>
            </a:r>
            <a:endParaRPr lang="en-US" sz="1200" dirty="0"/>
          </a:p>
        </p:txBody>
      </p:sp>
      <p:sp>
        <p:nvSpPr>
          <p:cNvPr id="11" name="Text 8"/>
          <p:cNvSpPr/>
          <p:nvPr/>
        </p:nvSpPr>
        <p:spPr>
          <a:xfrm>
            <a:off x="6731000" y="2688431"/>
            <a:ext cx="1460500" cy="289520"/>
          </a:xfrm>
          <a:prstGeom prst="roundRect">
            <a:avLst>
              <a:gd name="adj" fmla="val 17546"/>
            </a:avLst>
          </a:prstGeom>
          <a:solidFill>
            <a:srgbClr val="EFEBE1"/>
          </a:solidFill>
          <a:ln/>
        </p:spPr>
        <p:txBody>
          <a:bodyPr wrap="square" lIns="61321" tIns="23221" rIns="10521"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frozen=True</a:t>
            </a:r>
            <a:endParaRPr lang="en-US" sz="1200" dirty="0"/>
          </a:p>
        </p:txBody>
      </p:sp>
      <p:sp>
        <p:nvSpPr>
          <p:cNvPr id="12" name="Text 9"/>
          <p:cNvSpPr/>
          <p:nvPr/>
        </p:nvSpPr>
        <p:spPr>
          <a:xfrm>
            <a:off x="8394700" y="2688431"/>
            <a:ext cx="30740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Congela el objeto: una vez creado, sus datos no se pueden cambiar.</a:t>
            </a:r>
            <a:endParaRPr lang="en-US" sz="1200" dirty="0"/>
          </a:p>
        </p:txBody>
      </p:sp>
      <p:sp>
        <p:nvSpPr>
          <p:cNvPr id="13" name="Text 10"/>
          <p:cNvSpPr/>
          <p:nvPr/>
        </p:nvSpPr>
        <p:spPr>
          <a:xfrm>
            <a:off x="6731000" y="3203972"/>
            <a:ext cx="1460500" cy="289520"/>
          </a:xfrm>
          <a:prstGeom prst="roundRect">
            <a:avLst>
              <a:gd name="adj" fmla="val 17546"/>
            </a:avLst>
          </a:prstGeom>
          <a:solidFill>
            <a:srgbClr val="EFEBE1"/>
          </a:solidFill>
          <a:ln/>
        </p:spPr>
        <p:txBody>
          <a:bodyPr wrap="square" lIns="61321" tIns="23221" rIns="10521"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@property</a:t>
            </a:r>
            <a:endParaRPr lang="en-US" sz="1200" dirty="0"/>
          </a:p>
        </p:txBody>
      </p:sp>
      <p:sp>
        <p:nvSpPr>
          <p:cNvPr id="14" name="Text 11"/>
          <p:cNvSpPr/>
          <p:nvPr/>
        </p:nvSpPr>
        <p:spPr>
          <a:xfrm>
            <a:off x="8394700" y="3203972"/>
            <a:ext cx="30740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Permite usar res.error_energia_relativo sin paréntesis, como si fuera un dato.</a:t>
            </a:r>
            <a:endParaRPr lang="en-US" sz="1200" dirty="0"/>
          </a:p>
        </p:txBody>
      </p:sp>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Osciladores acoplados · de la física a PyPI</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4 · ESTRATEGIAS · 20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La interfaz común y la estrategia exacta</a:t>
            </a:r>
            <a:endParaRPr lang="en-US" sz="3000" dirty="0"/>
          </a:p>
        </p:txBody>
      </p:sp>
      <p:sp>
        <p:nvSpPr>
          <p:cNvPr id="4" name="Text 2"/>
          <p:cNvSpPr/>
          <p:nvPr/>
        </p:nvSpPr>
        <p:spPr>
          <a:xfrm>
            <a:off x="812800" y="1870670"/>
            <a:ext cx="7048500" cy="3819525"/>
          </a:xfrm>
          <a:prstGeom prst="roundRect">
            <a:avLst>
              <a:gd name="adj" fmla="val 2660"/>
            </a:avLst>
          </a:prstGeom>
          <a:solidFill>
            <a:srgbClr val="14213D"/>
          </a:solidFill>
          <a:ln/>
        </p:spPr>
        <p:txBody>
          <a:bodyPr wrap="none" lIns="224242" tIns="173442" rIns="28027" bIns="148042" rtlCol="0" anchor="t">
            <a:normAutofit/>
          </a:bodyPr>
          <a:lstStyle/>
          <a:p>
            <a:pPr algn="l" indent="0" marL="0">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class</a:t>
            </a:r>
            <a:r>
              <a:rPr lang="en-US" sz="1200" dirty="0">
                <a:solidFill>
                  <a:srgbClr val="E8EDF5"/>
                </a:solidFill>
                <a:latin typeface="JetBrains Mono" pitchFamily="49" charset="0"/>
                <a:ea typeface="JetBrains Mono" pitchFamily="49" charset="-122"/>
                <a:cs typeface="JetBrains Mono" pitchFamily="49" charset="-120"/>
              </a:rPr>
              <a:t> Integrador(ABC):</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nombre = "abstracto"</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@abstractmethod</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resolver(self, sistema, x0, v0, t_final, dt):</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"""Devuelve un Resultado entre 0 y t_final."""</a:t>
            </a:r>
            <a:endParaRPr lang="en-US" sz="1200" dirty="0"/>
          </a:p>
          <a:p>
            <a:pPr algn="l" indent="0" marL="0">
              <a:lnSpc>
                <a:spcPts val="1680"/>
              </a:lnSpc>
              <a:buNone/>
            </a:pPr>
            <a:endParaRPr lang="en-US" sz="1200" dirty="0"/>
          </a:p>
          <a:p>
            <a:pPr algn="l" indent="0" marL="0">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class</a:t>
            </a:r>
            <a:r>
              <a:rPr lang="en-US" sz="1200" dirty="0">
                <a:solidFill>
                  <a:srgbClr val="E8EDF5"/>
                </a:solidFill>
                <a:latin typeface="JetBrains Mono" pitchFamily="49" charset="0"/>
                <a:ea typeface="JetBrains Mono" pitchFamily="49" charset="-122"/>
                <a:cs typeface="JetBrains Mono" pitchFamily="49" charset="-120"/>
              </a:rPr>
              <a:t> ModosNormales(Integrador):</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nombre = "Modos normales (exacto)"</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resolver(self, sistema, x0, v0, t_final, dt):</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t = self._malla_temporal(t_final, dt)</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w, phi = sistema.modos_normales()</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M = sistema.matriz_masa</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q0, p0 = phi.T @ M @ x0, phi.T @ M @ v0</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q = q0*np.cos(np.outer(t, w)) + p0/w*np.sin(np.outer(t, w))</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x = q @ phi.T                      </a:t>
            </a:r>
            <a:r>
              <a:rPr lang="en-US" sz="1200" dirty="0">
                <a:solidFill>
                  <a:srgbClr val="8DA2BF"/>
                </a:solidFill>
                <a:latin typeface="JetBrains Mono" pitchFamily="49" charset="0"/>
                <a:ea typeface="JetBrains Mono" pitchFamily="49" charset="-122"/>
                <a:cs typeface="JetBrains Mono" pitchFamily="49" charset="-120"/>
              </a:rPr>
              <a:t># vuelve a coordenadas x</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return</a:t>
            </a:r>
            <a:r>
              <a:rPr lang="en-US" sz="1200" dirty="0">
                <a:solidFill>
                  <a:srgbClr val="E8EDF5"/>
                </a:solidFill>
                <a:latin typeface="JetBrains Mono" pitchFamily="49" charset="0"/>
                <a:ea typeface="JetBrains Mono" pitchFamily="49" charset="-122"/>
                <a:cs typeface="JetBrains Mono" pitchFamily="49" charset="-120"/>
              </a:rPr>
              <a:t> Resultado(t, x, v, sistema.energia(x, v), self.nombre)</a:t>
            </a:r>
            <a:endParaRPr lang="en-US" sz="1200" dirty="0"/>
          </a:p>
        </p:txBody>
      </p:sp>
      <p:sp>
        <p:nvSpPr>
          <p:cNvPr id="5" name="Shape 3"/>
          <p:cNvSpPr/>
          <p:nvPr/>
        </p:nvSpPr>
        <p:spPr>
          <a:xfrm>
            <a:off x="8064500" y="1870670"/>
            <a:ext cx="3314700" cy="1584920"/>
          </a:xfrm>
          <a:prstGeom prst="roundRect">
            <a:avLst>
              <a:gd name="adj" fmla="val 6410"/>
            </a:avLst>
          </a:prstGeom>
          <a:solidFill>
            <a:srgbClr val="14213D"/>
          </a:solidFill>
          <a:ln/>
        </p:spPr>
      </p:sp>
      <p:sp>
        <p:nvSpPr>
          <p:cNvPr id="6" name="Text 4"/>
          <p:cNvSpPr/>
          <p:nvPr/>
        </p:nvSpPr>
        <p:spPr>
          <a:xfrm>
            <a:off x="8267700" y="2073870"/>
            <a:ext cx="299554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35E"/>
                </a:solidFill>
                <a:latin typeface="Rubik" pitchFamily="34" charset="0"/>
                <a:ea typeface="Rubik" pitchFamily="34" charset="-122"/>
                <a:cs typeface="Rubik" pitchFamily="34" charset="-120"/>
              </a:rPr>
              <a:t>Solución exacta</a:t>
            </a:r>
            <a:endParaRPr lang="en-US" sz="1500" dirty="0"/>
          </a:p>
        </p:txBody>
      </p:sp>
      <p:sp>
        <p:nvSpPr>
          <p:cNvPr id="7" name="Text 5"/>
          <p:cNvSpPr/>
          <p:nvPr/>
        </p:nvSpPr>
        <p:spPr>
          <a:xfrm>
            <a:off x="8267700" y="2404070"/>
            <a:ext cx="299554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EF"/>
                </a:solidFill>
                <a:latin typeface="IBM Plex Sans" pitchFamily="34" charset="0"/>
                <a:ea typeface="IBM Plex Sans" pitchFamily="34" charset="-122"/>
                <a:cs typeface="IBM Plex Sans" pitchFamily="34" charset="-120"/>
              </a:rPr>
              <a:t>x(t) = Σⱼ φⱼ [ qⱼ(0) cos ωⱼt + pⱼ(0)/ωⱼ sin ωⱼt ]</a:t>
            </a:r>
            <a:endParaRPr lang="en-US" sz="1500" dirty="0"/>
          </a:p>
        </p:txBody>
      </p:sp>
      <p:sp>
        <p:nvSpPr>
          <p:cNvPr id="8" name="Text 6"/>
          <p:cNvSpPr/>
          <p:nvPr/>
        </p:nvSpPr>
        <p:spPr>
          <a:xfrm>
            <a:off x="8267700" y="3039070"/>
            <a:ext cx="29955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con q(0) = ΦᵀM x₀ y p(0) = ΦᵀM v₀</a:t>
            </a:r>
            <a:endParaRPr lang="en-US" sz="1200" dirty="0"/>
          </a:p>
        </p:txBody>
      </p:sp>
      <p:sp>
        <p:nvSpPr>
          <p:cNvPr id="9" name="Shape 7"/>
          <p:cNvSpPr/>
          <p:nvPr/>
        </p:nvSpPr>
        <p:spPr>
          <a:xfrm>
            <a:off x="8067675" y="3611166"/>
            <a:ext cx="3308350" cy="1144191"/>
          </a:xfrm>
          <a:prstGeom prst="roundRect">
            <a:avLst>
              <a:gd name="adj" fmla="val 8602"/>
            </a:avLst>
          </a:prstGeom>
          <a:solidFill>
            <a:srgbClr val="FDFCF8"/>
          </a:solidFill>
          <a:ln w="6350">
            <a:solidFill>
              <a:srgbClr val="E2DED3"/>
            </a:solidFill>
            <a:prstDash val="solid"/>
          </a:ln>
        </p:spPr>
      </p:sp>
      <p:sp>
        <p:nvSpPr>
          <p:cNvPr id="10" name="Text 8"/>
          <p:cNvSpPr/>
          <p:nvPr/>
        </p:nvSpPr>
        <p:spPr>
          <a:xfrm>
            <a:off x="8274050" y="3817541"/>
            <a:ext cx="298246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Versión resumida</a:t>
            </a:r>
            <a:endParaRPr lang="en-US" sz="1500" dirty="0"/>
          </a:p>
        </p:txBody>
      </p:sp>
      <p:sp>
        <p:nvSpPr>
          <p:cNvPr id="11" name="Text 9"/>
          <p:cNvSpPr/>
          <p:nvPr/>
        </p:nvSpPr>
        <p:spPr>
          <a:xfrm>
            <a:off x="8274050" y="4122341"/>
            <a:ext cx="298246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El archivo real también calcula v(t) y trata el caso ω = 0 de la traslación rígida.</a:t>
            </a:r>
            <a:endParaRPr lang="en-US" sz="12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Osciladores acoplados · de la física a PyPI</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4 · ESTRATEGIAS · 20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La solución exacta en tres pasos</a:t>
            </a:r>
            <a:endParaRPr lang="en-US" sz="3000" dirty="0"/>
          </a:p>
        </p:txBody>
      </p:sp>
      <p:sp>
        <p:nvSpPr>
          <p:cNvPr id="4" name="Shape 2"/>
          <p:cNvSpPr/>
          <p:nvPr/>
        </p:nvSpPr>
        <p:spPr>
          <a:xfrm>
            <a:off x="815975" y="1873845"/>
            <a:ext cx="3380284" cy="1548011"/>
          </a:xfrm>
          <a:prstGeom prst="roundRect">
            <a:avLst>
              <a:gd name="adj" fmla="val 6358"/>
            </a:avLst>
          </a:prstGeom>
          <a:solidFill>
            <a:srgbClr val="FDFCF8"/>
          </a:solidFill>
          <a:ln w="6350">
            <a:solidFill>
              <a:srgbClr val="E2DED3"/>
            </a:solidFill>
            <a:prstDash val="solid"/>
          </a:ln>
        </p:spPr>
      </p:sp>
      <p:sp>
        <p:nvSpPr>
          <p:cNvPr id="5" name="Text 3"/>
          <p:cNvSpPr/>
          <p:nvPr/>
        </p:nvSpPr>
        <p:spPr>
          <a:xfrm>
            <a:off x="1022350" y="2080220"/>
            <a:ext cx="30565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4531A"/>
                </a:solidFill>
                <a:latin typeface="Rubik" pitchFamily="34" charset="0"/>
                <a:ea typeface="Rubik" pitchFamily="34" charset="-122"/>
                <a:cs typeface="Rubik" pitchFamily="34" charset="-120"/>
              </a:rPr>
              <a:t>1 · Descomponer</a:t>
            </a:r>
            <a:endParaRPr lang="en-US" sz="1500" dirty="0"/>
          </a:p>
        </p:txBody>
      </p:sp>
      <p:sp>
        <p:nvSpPr>
          <p:cNvPr id="6" name="Text 4"/>
          <p:cNvSpPr/>
          <p:nvPr/>
        </p:nvSpPr>
        <p:spPr>
          <a:xfrm>
            <a:off x="1022350" y="2423120"/>
            <a:ext cx="2967534"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q0 = phi.T @ M @ x0</a:t>
            </a:r>
            <a:endParaRPr lang="en-US" sz="1200" dirty="0"/>
          </a:p>
        </p:txBody>
      </p:sp>
      <p:sp>
        <p:nvSpPr>
          <p:cNvPr id="7" name="Text 5"/>
          <p:cNvSpPr/>
          <p:nvPr/>
        </p:nvSpPr>
        <p:spPr>
          <a:xfrm>
            <a:off x="1022350" y="2788841"/>
            <a:ext cx="30565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¿Cuánto de cada modo hay al inicio? Como separar un acorde en sus notas.</a:t>
            </a:r>
            <a:endParaRPr lang="en-US" sz="1200" dirty="0"/>
          </a:p>
        </p:txBody>
      </p:sp>
      <p:sp>
        <p:nvSpPr>
          <p:cNvPr id="8" name="Shape 6"/>
          <p:cNvSpPr/>
          <p:nvPr/>
        </p:nvSpPr>
        <p:spPr>
          <a:xfrm>
            <a:off x="4405809" y="1873845"/>
            <a:ext cx="3380383" cy="1548011"/>
          </a:xfrm>
          <a:prstGeom prst="roundRect">
            <a:avLst>
              <a:gd name="adj" fmla="val 6358"/>
            </a:avLst>
          </a:prstGeom>
          <a:solidFill>
            <a:srgbClr val="FDFCF8"/>
          </a:solidFill>
          <a:ln w="6350">
            <a:solidFill>
              <a:srgbClr val="E2DED3"/>
            </a:solidFill>
            <a:prstDash val="solid"/>
          </a:ln>
        </p:spPr>
      </p:sp>
      <p:sp>
        <p:nvSpPr>
          <p:cNvPr id="9" name="Text 7"/>
          <p:cNvSpPr/>
          <p:nvPr/>
        </p:nvSpPr>
        <p:spPr>
          <a:xfrm>
            <a:off x="4612184" y="2080220"/>
            <a:ext cx="305666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4531A"/>
                </a:solidFill>
                <a:latin typeface="Rubik" pitchFamily="34" charset="0"/>
                <a:ea typeface="Rubik" pitchFamily="34" charset="-122"/>
                <a:cs typeface="Rubik" pitchFamily="34" charset="-120"/>
              </a:rPr>
              <a:t>2 · Evolucionar</a:t>
            </a:r>
            <a:endParaRPr lang="en-US" sz="1500" dirty="0"/>
          </a:p>
        </p:txBody>
      </p:sp>
      <p:sp>
        <p:nvSpPr>
          <p:cNvPr id="10" name="Text 8"/>
          <p:cNvSpPr/>
          <p:nvPr/>
        </p:nvSpPr>
        <p:spPr>
          <a:xfrm>
            <a:off x="4612184" y="2423120"/>
            <a:ext cx="2967633"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q0*cos(ωt) + p0/ω*sin(ωt)</a:t>
            </a:r>
            <a:endParaRPr lang="en-US" sz="1200" dirty="0"/>
          </a:p>
        </p:txBody>
      </p:sp>
      <p:sp>
        <p:nvSpPr>
          <p:cNvPr id="11" name="Text 9"/>
          <p:cNvSpPr/>
          <p:nvPr/>
        </p:nvSpPr>
        <p:spPr>
          <a:xfrm>
            <a:off x="4612184" y="2788841"/>
            <a:ext cx="305666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Cada modo es un oscilador simple e independiente, de solución conocida.</a:t>
            </a:r>
            <a:endParaRPr lang="en-US" sz="1200" dirty="0"/>
          </a:p>
        </p:txBody>
      </p:sp>
      <p:sp>
        <p:nvSpPr>
          <p:cNvPr id="12" name="Shape 10"/>
          <p:cNvSpPr/>
          <p:nvPr/>
        </p:nvSpPr>
        <p:spPr>
          <a:xfrm>
            <a:off x="7995741" y="1873845"/>
            <a:ext cx="3380284" cy="1548011"/>
          </a:xfrm>
          <a:prstGeom prst="roundRect">
            <a:avLst>
              <a:gd name="adj" fmla="val 6358"/>
            </a:avLst>
          </a:prstGeom>
          <a:solidFill>
            <a:srgbClr val="FDFCF8"/>
          </a:solidFill>
          <a:ln w="6350">
            <a:solidFill>
              <a:srgbClr val="E2DED3"/>
            </a:solidFill>
            <a:prstDash val="solid"/>
          </a:ln>
        </p:spPr>
      </p:sp>
      <p:sp>
        <p:nvSpPr>
          <p:cNvPr id="13" name="Text 11"/>
          <p:cNvSpPr/>
          <p:nvPr/>
        </p:nvSpPr>
        <p:spPr>
          <a:xfrm>
            <a:off x="8202116" y="2080220"/>
            <a:ext cx="30565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4531A"/>
                </a:solidFill>
                <a:latin typeface="Rubik" pitchFamily="34" charset="0"/>
                <a:ea typeface="Rubik" pitchFamily="34" charset="-122"/>
                <a:cs typeface="Rubik" pitchFamily="34" charset="-120"/>
              </a:rPr>
              <a:t>3 · Recombinar</a:t>
            </a:r>
            <a:endParaRPr lang="en-US" sz="1500" dirty="0"/>
          </a:p>
        </p:txBody>
      </p:sp>
      <p:sp>
        <p:nvSpPr>
          <p:cNvPr id="14" name="Text 12"/>
          <p:cNvSpPr/>
          <p:nvPr/>
        </p:nvSpPr>
        <p:spPr>
          <a:xfrm>
            <a:off x="8202116" y="2423120"/>
            <a:ext cx="2967534"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x = q @ phi.T</a:t>
            </a:r>
            <a:endParaRPr lang="en-US" sz="1200" dirty="0"/>
          </a:p>
        </p:txBody>
      </p:sp>
      <p:sp>
        <p:nvSpPr>
          <p:cNvPr id="15" name="Text 13"/>
          <p:cNvSpPr/>
          <p:nvPr/>
        </p:nvSpPr>
        <p:spPr>
          <a:xfrm>
            <a:off x="8202116" y="2788841"/>
            <a:ext cx="30565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Sumar los modos de nuevo para obtener la posición de cada masa.</a:t>
            </a:r>
            <a:endParaRPr lang="en-US" sz="1200" dirty="0"/>
          </a:p>
        </p:txBody>
      </p:sp>
      <p:sp>
        <p:nvSpPr>
          <p:cNvPr id="16" name="Text 14"/>
          <p:cNvSpPr/>
          <p:nvPr/>
        </p:nvSpPr>
        <p:spPr>
          <a:xfrm>
            <a:off x="812800" y="362823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IBM Plex Sans" pitchFamily="34" charset="0"/>
                <a:ea typeface="IBM Plex Sans" pitchFamily="34" charset="-122"/>
                <a:cs typeface="IBM Plex Sans" pitchFamily="34" charset="-120"/>
              </a:rPr>
              <a:t>CÓDIGO</a:t>
            </a:r>
            <a:endParaRPr lang="en-US" sz="1200" dirty="0"/>
          </a:p>
        </p:txBody>
      </p:sp>
      <p:sp>
        <p:nvSpPr>
          <p:cNvPr id="17" name="Text 15"/>
          <p:cNvSpPr/>
          <p:nvPr/>
        </p:nvSpPr>
        <p:spPr>
          <a:xfrm>
            <a:off x="3810000" y="3628231"/>
            <a:ext cx="779627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IBM Plex Sans" pitchFamily="34" charset="0"/>
                <a:ea typeface="IBM Plex Sans" pitchFamily="34" charset="-122"/>
                <a:cs typeface="IBM Plex Sans" pitchFamily="34" charset="-120"/>
              </a:rPr>
              <a:t>QUÉ SIGNIFICA</a:t>
            </a:r>
            <a:endParaRPr lang="en-US" sz="1200" dirty="0"/>
          </a:p>
        </p:txBody>
      </p:sp>
      <p:sp>
        <p:nvSpPr>
          <p:cNvPr id="18" name="Text 16"/>
          <p:cNvSpPr/>
          <p:nvPr/>
        </p:nvSpPr>
        <p:spPr>
          <a:xfrm>
            <a:off x="812800" y="3930452"/>
            <a:ext cx="2794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class Integrador(ABC):</a:t>
            </a:r>
            <a:endParaRPr lang="en-US" sz="1200" dirty="0"/>
          </a:p>
        </p:txBody>
      </p:sp>
      <p:sp>
        <p:nvSpPr>
          <p:cNvPr id="19" name="Text 17"/>
          <p:cNvSpPr/>
          <p:nvPr/>
        </p:nvSpPr>
        <p:spPr>
          <a:xfrm>
            <a:off x="3810000" y="3930452"/>
            <a:ext cx="779627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Clase abstracta: un contrato. Python no deja crear un Integrador «genérico», sólo clases que implementen resolver.</a:t>
            </a:r>
            <a:endParaRPr lang="en-US" sz="1200" dirty="0"/>
          </a:p>
        </p:txBody>
      </p:sp>
      <p:sp>
        <p:nvSpPr>
          <p:cNvPr id="20" name="Text 18"/>
          <p:cNvSpPr/>
          <p:nvPr/>
        </p:nvSpPr>
        <p:spPr>
          <a:xfrm>
            <a:off x="812800" y="4445992"/>
            <a:ext cx="2794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A @ B</a:t>
            </a:r>
            <a:endParaRPr lang="en-US" sz="1200" dirty="0"/>
          </a:p>
        </p:txBody>
      </p:sp>
      <p:sp>
        <p:nvSpPr>
          <p:cNvPr id="21" name="Text 19"/>
          <p:cNvSpPr/>
          <p:nvPr/>
        </p:nvSpPr>
        <p:spPr>
          <a:xfrm>
            <a:off x="3810000" y="4445992"/>
            <a:ext cx="77962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Producto de matrices, como en álgebra lineal. No confundir con el @ de los decoradores.</a:t>
            </a:r>
            <a:endParaRPr lang="en-US" sz="1200" dirty="0"/>
          </a:p>
        </p:txBody>
      </p:sp>
      <p:sp>
        <p:nvSpPr>
          <p:cNvPr id="22" name="Text 20"/>
          <p:cNvSpPr/>
          <p:nvPr/>
        </p:nvSpPr>
        <p:spPr>
          <a:xfrm>
            <a:off x="812800" y="4824413"/>
            <a:ext cx="2794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np.outer(t, w)</a:t>
            </a:r>
            <a:endParaRPr lang="en-US" sz="1200" dirty="0"/>
          </a:p>
        </p:txBody>
      </p:sp>
      <p:sp>
        <p:nvSpPr>
          <p:cNvPr id="23" name="Text 21"/>
          <p:cNvSpPr/>
          <p:nvPr/>
        </p:nvSpPr>
        <p:spPr>
          <a:xfrm>
            <a:off x="3810000" y="4824413"/>
            <a:ext cx="77962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Tabla con todos los productos ωⱼ·t: una fila por instante, una columna por modo.</a:t>
            </a:r>
            <a:endParaRPr lang="en-US" sz="1200" dirty="0"/>
          </a:p>
        </p:txBody>
      </p:sp>
      <p:sp>
        <p:nvSpPr>
          <p:cNvPr id="24" name="Text 2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Osciladores acoplados · de la física a PyPI</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4 · ESTRATEGIAS · 20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Los métodos numéricos sólo definen paso()</a:t>
            </a:r>
            <a:endParaRPr lang="en-US" sz="3000" dirty="0"/>
          </a:p>
        </p:txBody>
      </p:sp>
      <p:sp>
        <p:nvSpPr>
          <p:cNvPr id="4" name="Text 2"/>
          <p:cNvSpPr/>
          <p:nvPr/>
        </p:nvSpPr>
        <p:spPr>
          <a:xfrm>
            <a:off x="812800" y="1870670"/>
            <a:ext cx="7048500" cy="3392884"/>
          </a:xfrm>
          <a:prstGeom prst="roundRect">
            <a:avLst>
              <a:gd name="adj" fmla="val 2995"/>
            </a:avLst>
          </a:prstGeom>
          <a:solidFill>
            <a:srgbClr val="14213D"/>
          </a:solidFill>
          <a:ln/>
        </p:spPr>
        <p:txBody>
          <a:bodyPr wrap="none" lIns="224242" tIns="173442" rIns="28027" bIns="148042" rtlCol="0" anchor="t">
            <a:normAutofit/>
          </a:bodyPr>
          <a:lstStyle/>
          <a:p>
            <a:pPr algn="l" indent="0" marL="0">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class</a:t>
            </a:r>
            <a:r>
              <a:rPr lang="en-US" sz="1200" dirty="0">
                <a:solidFill>
                  <a:srgbClr val="E8EDF5"/>
                </a:solidFill>
                <a:latin typeface="JetBrains Mono" pitchFamily="49" charset="0"/>
                <a:ea typeface="JetBrains Mono" pitchFamily="49" charset="-122"/>
                <a:cs typeface="JetBrains Mono" pitchFamily="49" charset="-120"/>
              </a:rPr>
              <a:t> IntegradorNumerico(Integrador):          </a:t>
            </a:r>
            <a:r>
              <a:rPr lang="en-US" sz="1200" dirty="0">
                <a:solidFill>
                  <a:srgbClr val="8DA2BF"/>
                </a:solidFill>
                <a:latin typeface="JetBrains Mono" pitchFamily="49" charset="0"/>
                <a:ea typeface="JetBrains Mono" pitchFamily="49" charset="-122"/>
                <a:cs typeface="JetBrains Mono" pitchFamily="49" charset="-120"/>
              </a:rPr>
              <a:t># Template Method</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resolver(self, sistema, x0, v0, t_final, dt):</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                                     </a:t>
            </a:r>
            <a:r>
              <a:rPr lang="en-US" sz="1200" dirty="0">
                <a:solidFill>
                  <a:srgbClr val="8DA2BF"/>
                </a:solidFill>
                <a:latin typeface="JetBrains Mono" pitchFamily="49" charset="0"/>
                <a:ea typeface="JetBrains Mono" pitchFamily="49" charset="-122"/>
                <a:cs typeface="JetBrains Mono" pitchFamily="49" charset="-120"/>
              </a:rPr>
              <a:t># reserva t, X, V</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for</a:t>
            </a:r>
            <a:r>
              <a:rPr lang="en-US" sz="1200" dirty="0">
                <a:solidFill>
                  <a:srgbClr val="E8EDF5"/>
                </a:solidFill>
                <a:latin typeface="JetBrains Mono" pitchFamily="49" charset="0"/>
                <a:ea typeface="JetBrains Mono" pitchFamily="49" charset="-122"/>
                <a:cs typeface="JetBrains Mono" pitchFamily="49" charset="-120"/>
              </a:rPr>
              <a:t> i </a:t>
            </a:r>
            <a:r>
              <a:rPr lang="en-US" sz="1200" dirty="0">
                <a:solidFill>
                  <a:srgbClr val="F0A35E"/>
                </a:solidFill>
                <a:latin typeface="JetBrains Mono" pitchFamily="49" charset="0"/>
                <a:ea typeface="JetBrains Mono" pitchFamily="49" charset="-122"/>
                <a:cs typeface="JetBrains Mono" pitchFamily="49" charset="-120"/>
              </a:rPr>
              <a:t>in</a:t>
            </a:r>
            <a:r>
              <a:rPr lang="en-US" sz="1200" dirty="0">
                <a:solidFill>
                  <a:srgbClr val="E8EDF5"/>
                </a:solidFill>
                <a:latin typeface="JetBrains Mono" pitchFamily="49" charset="0"/>
                <a:ea typeface="JetBrains Mono" pitchFamily="49" charset="-122"/>
                <a:cs typeface="JetBrains Mono" pitchFamily="49" charset="-120"/>
              </a:rPr>
              <a:t> range(t.size - 1):</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X[i+1], V[i+1] = self.paso(sistema, X[i], V[i], dt)</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return</a:t>
            </a:r>
            <a:r>
              <a:rPr lang="en-US" sz="1200" dirty="0">
                <a:solidFill>
                  <a:srgbClr val="E8EDF5"/>
                </a:solidFill>
                <a:latin typeface="JetBrains Mono" pitchFamily="49" charset="0"/>
                <a:ea typeface="JetBrains Mono" pitchFamily="49" charset="-122"/>
                <a:cs typeface="JetBrains Mono" pitchFamily="49" charset="-120"/>
              </a:rPr>
              <a:t> Resultado(t, X, V, sistema.energia(X, V), self.nombre)</a:t>
            </a:r>
            <a:endParaRPr lang="en-US" sz="1200" dirty="0"/>
          </a:p>
          <a:p>
            <a:pPr algn="l" indent="0" marL="0">
              <a:lnSpc>
                <a:spcPts val="1680"/>
              </a:lnSpc>
              <a:buNone/>
            </a:pPr>
            <a:endParaRPr lang="en-US" sz="1200" dirty="0"/>
          </a:p>
          <a:p>
            <a:pPr algn="l" indent="0" marL="0">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class</a:t>
            </a:r>
            <a:r>
              <a:rPr lang="en-US" sz="1200" dirty="0">
                <a:solidFill>
                  <a:srgbClr val="E8EDF5"/>
                </a:solidFill>
                <a:latin typeface="JetBrains Mono" pitchFamily="49" charset="0"/>
                <a:ea typeface="JetBrains Mono" pitchFamily="49" charset="-122"/>
                <a:cs typeface="JetBrains Mono" pitchFamily="49" charset="-120"/>
              </a:rPr>
              <a:t> VelocityVerlet(IntegradorNumerico):</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nombre = "Velocity Verlet"</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paso(self, sistema, x, v, dt):</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 = sistema.aceleracion(x)</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x_n = x + v*dt + 0.5*a*dt**2</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a_n = sistema.aceleracion(x_n)</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return</a:t>
            </a:r>
            <a:r>
              <a:rPr lang="en-US" sz="1200" dirty="0">
                <a:solidFill>
                  <a:srgbClr val="E8EDF5"/>
                </a:solidFill>
                <a:latin typeface="JetBrains Mono" pitchFamily="49" charset="0"/>
                <a:ea typeface="JetBrains Mono" pitchFamily="49" charset="-122"/>
                <a:cs typeface="JetBrains Mono" pitchFamily="49" charset="-120"/>
              </a:rPr>
              <a:t> x_n, v + 0.5*(a + a_n)*dt</a:t>
            </a:r>
            <a:endParaRPr lang="en-US" sz="1200" dirty="0"/>
          </a:p>
        </p:txBody>
      </p:sp>
      <p:sp>
        <p:nvSpPr>
          <p:cNvPr id="5" name="Shape 3"/>
          <p:cNvSpPr/>
          <p:nvPr/>
        </p:nvSpPr>
        <p:spPr>
          <a:xfrm>
            <a:off x="8067675" y="1873845"/>
            <a:ext cx="3308350" cy="930870"/>
          </a:xfrm>
          <a:prstGeom prst="roundRect">
            <a:avLst>
              <a:gd name="adj" fmla="val 10573"/>
            </a:avLst>
          </a:prstGeom>
          <a:solidFill>
            <a:srgbClr val="FDFCF8"/>
          </a:solidFill>
          <a:ln w="6350">
            <a:solidFill>
              <a:srgbClr val="E2DED3"/>
            </a:solidFill>
            <a:prstDash val="solid"/>
          </a:ln>
        </p:spPr>
      </p:sp>
      <p:sp>
        <p:nvSpPr>
          <p:cNvPr id="6" name="Text 4"/>
          <p:cNvSpPr/>
          <p:nvPr/>
        </p:nvSpPr>
        <p:spPr>
          <a:xfrm>
            <a:off x="8274050" y="2080220"/>
            <a:ext cx="298246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Euler explícito</a:t>
            </a:r>
            <a:endParaRPr lang="en-US" sz="1500" dirty="0"/>
          </a:p>
        </p:txBody>
      </p:sp>
      <p:sp>
        <p:nvSpPr>
          <p:cNvPr id="7" name="Text 5"/>
          <p:cNvSpPr/>
          <p:nvPr/>
        </p:nvSpPr>
        <p:spPr>
          <a:xfrm>
            <a:off x="8274050" y="2385020"/>
            <a:ext cx="29824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x ← x + v dt y v ← v + a dt. Orden 1.</a:t>
            </a:r>
            <a:endParaRPr lang="en-US" sz="1200" dirty="0"/>
          </a:p>
        </p:txBody>
      </p:sp>
      <p:sp>
        <p:nvSpPr>
          <p:cNvPr id="8" name="Shape 6"/>
          <p:cNvSpPr/>
          <p:nvPr/>
        </p:nvSpPr>
        <p:spPr>
          <a:xfrm>
            <a:off x="8067675" y="2963466"/>
            <a:ext cx="3308350" cy="1144191"/>
          </a:xfrm>
          <a:prstGeom prst="roundRect">
            <a:avLst>
              <a:gd name="adj" fmla="val 8602"/>
            </a:avLst>
          </a:prstGeom>
          <a:solidFill>
            <a:srgbClr val="FDFCF8"/>
          </a:solidFill>
          <a:ln w="6350">
            <a:solidFill>
              <a:srgbClr val="E2DED3"/>
            </a:solidFill>
            <a:prstDash val="solid"/>
          </a:ln>
        </p:spPr>
      </p:sp>
      <p:sp>
        <p:nvSpPr>
          <p:cNvPr id="9" name="Text 7"/>
          <p:cNvSpPr/>
          <p:nvPr/>
        </p:nvSpPr>
        <p:spPr>
          <a:xfrm>
            <a:off x="8274050" y="3169841"/>
            <a:ext cx="298246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Velocity Verlet</a:t>
            </a:r>
            <a:endParaRPr lang="en-US" sz="1500" dirty="0"/>
          </a:p>
        </p:txBody>
      </p:sp>
      <p:sp>
        <p:nvSpPr>
          <p:cNvPr id="10" name="Text 8"/>
          <p:cNvSpPr/>
          <p:nvPr/>
        </p:nvSpPr>
        <p:spPr>
          <a:xfrm>
            <a:off x="8274050" y="3474641"/>
            <a:ext cx="298246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Simplético, orden 2: la energía oscila sin derivar.</a:t>
            </a:r>
            <a:endParaRPr lang="en-US" sz="1200" dirty="0"/>
          </a:p>
        </p:txBody>
      </p:sp>
      <p:sp>
        <p:nvSpPr>
          <p:cNvPr id="11" name="Shape 9"/>
          <p:cNvSpPr/>
          <p:nvPr/>
        </p:nvSpPr>
        <p:spPr>
          <a:xfrm>
            <a:off x="8067675" y="4266406"/>
            <a:ext cx="3308350" cy="930870"/>
          </a:xfrm>
          <a:prstGeom prst="roundRect">
            <a:avLst>
              <a:gd name="adj" fmla="val 10573"/>
            </a:avLst>
          </a:prstGeom>
          <a:solidFill>
            <a:srgbClr val="FDFCF8"/>
          </a:solidFill>
          <a:ln w="6350">
            <a:solidFill>
              <a:srgbClr val="E2DED3"/>
            </a:solidFill>
            <a:prstDash val="solid"/>
          </a:ln>
        </p:spPr>
      </p:sp>
      <p:sp>
        <p:nvSpPr>
          <p:cNvPr id="12" name="Text 10"/>
          <p:cNvSpPr/>
          <p:nvPr/>
        </p:nvSpPr>
        <p:spPr>
          <a:xfrm>
            <a:off x="8274050" y="4472781"/>
            <a:ext cx="298246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Runge-Kutta 4</a:t>
            </a:r>
            <a:endParaRPr lang="en-US" sz="1500" dirty="0"/>
          </a:p>
        </p:txBody>
      </p:sp>
      <p:sp>
        <p:nvSpPr>
          <p:cNvPr id="13" name="Text 11"/>
          <p:cNvSpPr/>
          <p:nvPr/>
        </p:nvSpPr>
        <p:spPr>
          <a:xfrm>
            <a:off x="8274050" y="4777581"/>
            <a:ext cx="29824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Cuatro evaluaciones por paso, orden 4.</a:t>
            </a:r>
            <a:endParaRPr lang="en-US" sz="12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Osciladores acoplados · de la física a PyPI</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4 · ESTRATEGIAS · 20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Velocity Verlet como receta de física</a:t>
            </a:r>
            <a:endParaRPr lang="en-US" sz="3000" dirty="0"/>
          </a:p>
        </p:txBody>
      </p:sp>
      <p:sp>
        <p:nvSpPr>
          <p:cNvPr id="4" name="Text 2"/>
          <p:cNvSpPr/>
          <p:nvPr/>
        </p:nvSpPr>
        <p:spPr>
          <a:xfrm>
            <a:off x="812800" y="1870670"/>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IBM Plex Sans" pitchFamily="34" charset="0"/>
                <a:ea typeface="IBM Plex Sans" pitchFamily="34" charset="-122"/>
                <a:cs typeface="IBM Plex Sans" pitchFamily="34" charset="-120"/>
              </a:rPr>
              <a:t>CÓDIGO</a:t>
            </a:r>
            <a:endParaRPr lang="en-US" sz="1200" dirty="0"/>
          </a:p>
        </p:txBody>
      </p:sp>
      <p:sp>
        <p:nvSpPr>
          <p:cNvPr id="5" name="Text 3"/>
          <p:cNvSpPr/>
          <p:nvPr/>
        </p:nvSpPr>
        <p:spPr>
          <a:xfrm>
            <a:off x="4572000" y="1870670"/>
            <a:ext cx="701141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IBM Plex Sans" pitchFamily="34" charset="0"/>
                <a:ea typeface="IBM Plex Sans" pitchFamily="34" charset="-122"/>
                <a:cs typeface="IBM Plex Sans" pitchFamily="34" charset="-120"/>
              </a:rPr>
              <a:t>QUÉ SIGNIFICA</a:t>
            </a:r>
            <a:endParaRPr lang="en-US" sz="1200" dirty="0"/>
          </a:p>
        </p:txBody>
      </p:sp>
      <p:sp>
        <p:nvSpPr>
          <p:cNvPr id="6" name="Text 4"/>
          <p:cNvSpPr/>
          <p:nvPr/>
        </p:nvSpPr>
        <p:spPr>
          <a:xfrm>
            <a:off x="812800" y="2172891"/>
            <a:ext cx="3556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a = sistema.aceleracion(x)</a:t>
            </a:r>
            <a:endParaRPr lang="en-US" sz="1200" dirty="0"/>
          </a:p>
        </p:txBody>
      </p:sp>
      <p:sp>
        <p:nvSpPr>
          <p:cNvPr id="7" name="Text 5"/>
          <p:cNvSpPr/>
          <p:nvPr/>
        </p:nvSpPr>
        <p:spPr>
          <a:xfrm>
            <a:off x="4572000" y="2172891"/>
            <a:ext cx="701141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Paso 1. Con las posiciones actuales, calcular fuerzas y aceleraciones: a = −M⁻¹K x (segunda ley de Newton).</a:t>
            </a:r>
            <a:endParaRPr lang="en-US" sz="1200" dirty="0"/>
          </a:p>
        </p:txBody>
      </p:sp>
      <p:sp>
        <p:nvSpPr>
          <p:cNvPr id="8" name="Text 6"/>
          <p:cNvSpPr/>
          <p:nvPr/>
        </p:nvSpPr>
        <p:spPr>
          <a:xfrm>
            <a:off x="812800" y="2688431"/>
            <a:ext cx="3556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x_n = x + v*dt + 0.5*a*dt**2</a:t>
            </a:r>
            <a:endParaRPr lang="en-US" sz="1200" dirty="0"/>
          </a:p>
        </p:txBody>
      </p:sp>
      <p:sp>
        <p:nvSpPr>
          <p:cNvPr id="9" name="Text 7"/>
          <p:cNvSpPr/>
          <p:nvPr/>
        </p:nvSpPr>
        <p:spPr>
          <a:xfrm>
            <a:off x="4572000" y="2688431"/>
            <a:ext cx="70114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Paso 2. Mover las masas con la cinemática de siempre, x = x₀ + v t + ½ a t², durante un tiempo dt.</a:t>
            </a:r>
            <a:endParaRPr lang="en-US" sz="1200" dirty="0"/>
          </a:p>
        </p:txBody>
      </p:sp>
      <p:sp>
        <p:nvSpPr>
          <p:cNvPr id="10" name="Text 8"/>
          <p:cNvSpPr/>
          <p:nvPr/>
        </p:nvSpPr>
        <p:spPr>
          <a:xfrm>
            <a:off x="812800" y="3066852"/>
            <a:ext cx="3556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a_n = sistema.aceleracion(x_n)</a:t>
            </a:r>
            <a:endParaRPr lang="en-US" sz="1200" dirty="0"/>
          </a:p>
        </p:txBody>
      </p:sp>
      <p:sp>
        <p:nvSpPr>
          <p:cNvPr id="11" name="Text 9"/>
          <p:cNvSpPr/>
          <p:nvPr/>
        </p:nvSpPr>
        <p:spPr>
          <a:xfrm>
            <a:off x="4572000" y="3066852"/>
            <a:ext cx="70114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Paso 3. Recalcular la aceleración en las posiciones nuevas.</a:t>
            </a:r>
            <a:endParaRPr lang="en-US" sz="1200" dirty="0"/>
          </a:p>
        </p:txBody>
      </p:sp>
      <p:sp>
        <p:nvSpPr>
          <p:cNvPr id="12" name="Text 10"/>
          <p:cNvSpPr/>
          <p:nvPr/>
        </p:nvSpPr>
        <p:spPr>
          <a:xfrm>
            <a:off x="812800" y="3445272"/>
            <a:ext cx="3556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v + 0.5*(a + a_n)*dt</a:t>
            </a:r>
            <a:endParaRPr lang="en-US" sz="1200" dirty="0"/>
          </a:p>
        </p:txBody>
      </p:sp>
      <p:sp>
        <p:nvSpPr>
          <p:cNvPr id="13" name="Text 11"/>
          <p:cNvSpPr/>
          <p:nvPr/>
        </p:nvSpPr>
        <p:spPr>
          <a:xfrm>
            <a:off x="4572000" y="3445272"/>
            <a:ext cx="701141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Paso 4. Actualizar la velocidad con el promedio de la aceleración vieja y la nueva. Euler sólo usa la vieja: por eso falla.</a:t>
            </a:r>
            <a:endParaRPr lang="en-US" sz="1200" dirty="0"/>
          </a:p>
        </p:txBody>
      </p:sp>
      <p:sp>
        <p:nvSpPr>
          <p:cNvPr id="14" name="Text 12"/>
          <p:cNvSpPr/>
          <p:nvPr/>
        </p:nvSpPr>
        <p:spPr>
          <a:xfrm>
            <a:off x="812800" y="3960813"/>
            <a:ext cx="3556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for i in range(t.size - 1):</a:t>
            </a:r>
            <a:endParaRPr lang="en-US" sz="1200" dirty="0"/>
          </a:p>
        </p:txBody>
      </p:sp>
      <p:sp>
        <p:nvSpPr>
          <p:cNvPr id="15" name="Text 13"/>
          <p:cNvSpPr/>
          <p:nvPr/>
        </p:nvSpPr>
        <p:spPr>
          <a:xfrm>
            <a:off x="4572000" y="3960813"/>
            <a:ext cx="70114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La clase base repite la receta 2000 veces; X[i+1] es la siguiente fila de la tabla de resultados.</a:t>
            </a:r>
            <a:endParaRPr lang="en-US" sz="1200" dirty="0"/>
          </a:p>
        </p:txBody>
      </p:sp>
      <p:sp>
        <p:nvSpPr>
          <p:cNvPr id="16" name="Text 14"/>
          <p:cNvSpPr/>
          <p:nvPr/>
        </p:nvSpPr>
        <p:spPr>
          <a:xfrm>
            <a:off x="812800" y="4339233"/>
            <a:ext cx="3556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dt**2</a:t>
            </a:r>
            <a:endParaRPr lang="en-US" sz="1200" dirty="0"/>
          </a:p>
        </p:txBody>
      </p:sp>
      <p:sp>
        <p:nvSpPr>
          <p:cNvPr id="17" name="Text 15"/>
          <p:cNvSpPr/>
          <p:nvPr/>
        </p:nvSpPr>
        <p:spPr>
          <a:xfrm>
            <a:off x="4572000" y="4339233"/>
            <a:ext cx="70114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En Python ** es potencia: dt**2 significa dt². El asterisco simple * es la multiplicación.</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Osciladores acoplados · de la física a PyPI</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4 · ESTRATEGIAS · 20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Mismo sistema, cuatro estrategias</a:t>
            </a:r>
            <a:endParaRPr lang="en-US" sz="3000" dirty="0"/>
          </a:p>
        </p:txBody>
      </p:sp>
      <p:sp>
        <p:nvSpPr>
          <p:cNvPr id="4" name="Text 2"/>
          <p:cNvSpPr/>
          <p:nvPr/>
        </p:nvSpPr>
        <p:spPr>
          <a:xfrm>
            <a:off x="812800" y="187067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A5C"/>
                </a:solidFill>
                <a:latin typeface="IBM Plex Sans" pitchFamily="34" charset="0"/>
                <a:ea typeface="IBM Plex Sans" pitchFamily="34" charset="-122"/>
                <a:cs typeface="IBM Plex Sans" pitchFamily="34" charset="-120"/>
              </a:rPr>
              <a:t>Máximo de |E − E₀| / E₀ con 3 masas de 1 kg, k = 10 N/m, x₁(0) = 0.5 m, 20 s y dt = 0.01 s:</a:t>
            </a:r>
            <a:endParaRPr lang="en-US" sz="1500" dirty="0"/>
          </a:p>
        </p:txBody>
      </p:sp>
      <p:sp>
        <p:nvSpPr>
          <p:cNvPr id="5" name="Shape 3"/>
          <p:cNvSpPr/>
          <p:nvPr/>
        </p:nvSpPr>
        <p:spPr>
          <a:xfrm>
            <a:off x="815975" y="2343745"/>
            <a:ext cx="5175250" cy="1400770"/>
          </a:xfrm>
          <a:prstGeom prst="roundRect">
            <a:avLst>
              <a:gd name="adj" fmla="val 7026"/>
            </a:avLst>
          </a:prstGeom>
          <a:solidFill>
            <a:srgbClr val="FDFCF8"/>
          </a:solidFill>
          <a:ln w="6350">
            <a:solidFill>
              <a:srgbClr val="E2DED3"/>
            </a:solidFill>
            <a:prstDash val="solid"/>
          </a:ln>
        </p:spPr>
      </p:sp>
      <p:sp>
        <p:nvSpPr>
          <p:cNvPr id="6" name="Text 4"/>
          <p:cNvSpPr/>
          <p:nvPr/>
        </p:nvSpPr>
        <p:spPr>
          <a:xfrm>
            <a:off x="1022350" y="2550120"/>
            <a:ext cx="4905375"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213D"/>
                </a:solidFill>
                <a:latin typeface="Rubik" pitchFamily="34" charset="0"/>
                <a:ea typeface="Rubik" pitchFamily="34" charset="-122"/>
                <a:cs typeface="Rubik" pitchFamily="34" charset="-120"/>
              </a:rPr>
              <a:t>8.9 × 10⁻¹⁶</a:t>
            </a:r>
            <a:endParaRPr lang="en-US" sz="3000" dirty="0"/>
          </a:p>
        </p:txBody>
      </p:sp>
      <p:sp>
        <p:nvSpPr>
          <p:cNvPr id="7" name="Text 5"/>
          <p:cNvSpPr/>
          <p:nvPr/>
        </p:nvSpPr>
        <p:spPr>
          <a:xfrm>
            <a:off x="1022350" y="3020020"/>
            <a:ext cx="49053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Modos normales</a:t>
            </a:r>
            <a:endParaRPr lang="en-US" sz="1500" dirty="0"/>
          </a:p>
        </p:txBody>
      </p:sp>
      <p:sp>
        <p:nvSpPr>
          <p:cNvPr id="8" name="Text 6"/>
          <p:cNvSpPr/>
          <p:nvPr/>
        </p:nvSpPr>
        <p:spPr>
          <a:xfrm>
            <a:off x="1022350" y="3299420"/>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Precisión de máquina: es la referencia.</a:t>
            </a:r>
            <a:endParaRPr lang="en-US" sz="1200" dirty="0"/>
          </a:p>
        </p:txBody>
      </p:sp>
      <p:sp>
        <p:nvSpPr>
          <p:cNvPr id="9" name="Shape 7"/>
          <p:cNvSpPr/>
          <p:nvPr/>
        </p:nvSpPr>
        <p:spPr>
          <a:xfrm>
            <a:off x="6207125" y="2350095"/>
            <a:ext cx="5162550" cy="1388070"/>
          </a:xfrm>
          <a:prstGeom prst="roundRect">
            <a:avLst>
              <a:gd name="adj" fmla="val 6633"/>
            </a:avLst>
          </a:prstGeom>
          <a:solidFill>
            <a:srgbClr val="FDFCF8"/>
          </a:solidFill>
          <a:ln w="19050">
            <a:solidFill>
              <a:srgbClr val="B4531A"/>
            </a:solidFill>
            <a:prstDash val="solid"/>
          </a:ln>
        </p:spPr>
      </p:sp>
      <p:sp>
        <p:nvSpPr>
          <p:cNvPr id="10" name="Text 8"/>
          <p:cNvSpPr/>
          <p:nvPr/>
        </p:nvSpPr>
        <p:spPr>
          <a:xfrm>
            <a:off x="6419850" y="2562820"/>
            <a:ext cx="4879213"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B4531A"/>
                </a:solidFill>
                <a:latin typeface="Rubik" pitchFamily="34" charset="0"/>
                <a:ea typeface="Rubik" pitchFamily="34" charset="-122"/>
                <a:cs typeface="Rubik" pitchFamily="34" charset="-120"/>
              </a:rPr>
              <a:t>4.2 × 10²</a:t>
            </a:r>
            <a:endParaRPr lang="en-US" sz="3000" dirty="0"/>
          </a:p>
        </p:txBody>
      </p:sp>
      <p:sp>
        <p:nvSpPr>
          <p:cNvPr id="11" name="Text 9"/>
          <p:cNvSpPr/>
          <p:nvPr/>
        </p:nvSpPr>
        <p:spPr>
          <a:xfrm>
            <a:off x="6419850" y="3032720"/>
            <a:ext cx="487921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Euler explícito</a:t>
            </a:r>
            <a:endParaRPr lang="en-US" sz="1500" dirty="0"/>
          </a:p>
        </p:txBody>
      </p:sp>
      <p:sp>
        <p:nvSpPr>
          <p:cNvPr id="12" name="Text 10"/>
          <p:cNvSpPr/>
          <p:nvPr/>
        </p:nvSpPr>
        <p:spPr>
          <a:xfrm>
            <a:off x="6419850" y="3312120"/>
            <a:ext cx="48792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La energía crece unas 400 veces: inestable.</a:t>
            </a:r>
            <a:endParaRPr lang="en-US" sz="1200" dirty="0"/>
          </a:p>
        </p:txBody>
      </p:sp>
      <p:sp>
        <p:nvSpPr>
          <p:cNvPr id="13" name="Shape 11"/>
          <p:cNvSpPr/>
          <p:nvPr/>
        </p:nvSpPr>
        <p:spPr>
          <a:xfrm>
            <a:off x="815975" y="3954066"/>
            <a:ext cx="5175250" cy="1375370"/>
          </a:xfrm>
          <a:prstGeom prst="roundRect">
            <a:avLst>
              <a:gd name="adj" fmla="val 7156"/>
            </a:avLst>
          </a:prstGeom>
          <a:solidFill>
            <a:srgbClr val="FDFCF8"/>
          </a:solidFill>
          <a:ln w="6350">
            <a:solidFill>
              <a:srgbClr val="E2DED3"/>
            </a:solidFill>
            <a:prstDash val="solid"/>
          </a:ln>
        </p:spPr>
      </p:sp>
      <p:sp>
        <p:nvSpPr>
          <p:cNvPr id="14" name="Text 12"/>
          <p:cNvSpPr/>
          <p:nvPr/>
        </p:nvSpPr>
        <p:spPr>
          <a:xfrm>
            <a:off x="1022350" y="4160441"/>
            <a:ext cx="4905375"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213D"/>
                </a:solidFill>
                <a:latin typeface="Rubik" pitchFamily="34" charset="0"/>
                <a:ea typeface="Rubik" pitchFamily="34" charset="-122"/>
                <a:cs typeface="Rubik" pitchFamily="34" charset="-120"/>
              </a:rPr>
              <a:t>6.2 × 10⁻⁴</a:t>
            </a:r>
            <a:endParaRPr lang="en-US" sz="3000" dirty="0"/>
          </a:p>
        </p:txBody>
      </p:sp>
      <p:sp>
        <p:nvSpPr>
          <p:cNvPr id="15" name="Text 13"/>
          <p:cNvSpPr/>
          <p:nvPr/>
        </p:nvSpPr>
        <p:spPr>
          <a:xfrm>
            <a:off x="1022350" y="4630341"/>
            <a:ext cx="49053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Velocity Verlet</a:t>
            </a:r>
            <a:endParaRPr lang="en-US" sz="1500" dirty="0"/>
          </a:p>
        </p:txBody>
      </p:sp>
      <p:sp>
        <p:nvSpPr>
          <p:cNvPr id="16" name="Text 14"/>
          <p:cNvSpPr/>
          <p:nvPr/>
        </p:nvSpPr>
        <p:spPr>
          <a:xfrm>
            <a:off x="1022350" y="4909741"/>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Error acotado que oscila, sin deriva.</a:t>
            </a:r>
            <a:endParaRPr lang="en-US" sz="1200" dirty="0"/>
          </a:p>
        </p:txBody>
      </p:sp>
      <p:sp>
        <p:nvSpPr>
          <p:cNvPr id="17" name="Shape 15"/>
          <p:cNvSpPr/>
          <p:nvPr/>
        </p:nvSpPr>
        <p:spPr>
          <a:xfrm>
            <a:off x="6200775" y="3954066"/>
            <a:ext cx="5175250" cy="1375370"/>
          </a:xfrm>
          <a:prstGeom prst="roundRect">
            <a:avLst>
              <a:gd name="adj" fmla="val 7156"/>
            </a:avLst>
          </a:prstGeom>
          <a:solidFill>
            <a:srgbClr val="FDFCF8"/>
          </a:solidFill>
          <a:ln w="6350">
            <a:solidFill>
              <a:srgbClr val="E2DED3"/>
            </a:solidFill>
            <a:prstDash val="solid"/>
          </a:ln>
        </p:spPr>
      </p:sp>
      <p:sp>
        <p:nvSpPr>
          <p:cNvPr id="18" name="Text 16"/>
          <p:cNvSpPr/>
          <p:nvPr/>
        </p:nvSpPr>
        <p:spPr>
          <a:xfrm>
            <a:off x="6407150" y="4160441"/>
            <a:ext cx="4905375"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213D"/>
                </a:solidFill>
                <a:latin typeface="Rubik" pitchFamily="34" charset="0"/>
                <a:ea typeface="Rubik" pitchFamily="34" charset="-122"/>
                <a:cs typeface="Rubik" pitchFamily="34" charset="-120"/>
              </a:rPr>
              <a:t>5.8 × 10⁻⁷</a:t>
            </a:r>
            <a:endParaRPr lang="en-US" sz="3000" dirty="0"/>
          </a:p>
        </p:txBody>
      </p:sp>
      <p:sp>
        <p:nvSpPr>
          <p:cNvPr id="19" name="Text 17"/>
          <p:cNvSpPr/>
          <p:nvPr/>
        </p:nvSpPr>
        <p:spPr>
          <a:xfrm>
            <a:off x="6407150" y="4630341"/>
            <a:ext cx="49053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Runge-Kutta 4</a:t>
            </a:r>
            <a:endParaRPr lang="en-US" sz="1500" dirty="0"/>
          </a:p>
        </p:txBody>
      </p:sp>
      <p:sp>
        <p:nvSpPr>
          <p:cNvPr id="20" name="Text 18"/>
          <p:cNvSpPr/>
          <p:nvPr/>
        </p:nvSpPr>
        <p:spPr>
          <a:xfrm>
            <a:off x="6407150" y="4909741"/>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Muy preciso; deriva lenta en tiempos largos.</a:t>
            </a:r>
            <a:endParaRPr lang="en-US" sz="12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Osciladores acoplados · de la física a PyPI</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4 · ESTRATEGIAS · 20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La fábrica y el contexto</a:t>
            </a:r>
            <a:endParaRPr lang="en-US" sz="3000" dirty="0"/>
          </a:p>
        </p:txBody>
      </p:sp>
      <p:sp>
        <p:nvSpPr>
          <p:cNvPr id="4" name="Text 2"/>
          <p:cNvSpPr/>
          <p:nvPr/>
        </p:nvSpPr>
        <p:spPr>
          <a:xfrm>
            <a:off x="812800" y="1870670"/>
            <a:ext cx="7048500" cy="3392884"/>
          </a:xfrm>
          <a:prstGeom prst="roundRect">
            <a:avLst>
              <a:gd name="adj" fmla="val 2995"/>
            </a:avLst>
          </a:prstGeom>
          <a:solidFill>
            <a:srgbClr val="14213D"/>
          </a:solidFill>
          <a:ln/>
        </p:spPr>
        <p:txBody>
          <a:bodyPr wrap="none" lIns="224242" tIns="173442" rIns="28027" bIns="148042" rtlCol="0" anchor="t">
            <a:normAutofit/>
          </a:bodyPr>
          <a:lstStyle/>
          <a:p>
            <a:pPr algn="l" indent="0" marL="0">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class</a:t>
            </a:r>
            <a:r>
              <a:rPr lang="en-US" sz="1200" dirty="0">
                <a:solidFill>
                  <a:srgbClr val="E8EDF5"/>
                </a:solidFill>
                <a:latin typeface="JetBrains Mono" pitchFamily="49" charset="0"/>
                <a:ea typeface="JetBrains Mono" pitchFamily="49" charset="-122"/>
                <a:cs typeface="JetBrains Mono" pitchFamily="49" charset="-120"/>
              </a:rPr>
              <a:t> FabricaIntegradores:</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_registro = {}</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@classmethod</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registrar(cls, clase):</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cls._registro[clase.nombre] = clase</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return</a:t>
            </a:r>
            <a:r>
              <a:rPr lang="en-US" sz="1200" dirty="0">
                <a:solidFill>
                  <a:srgbClr val="E8EDF5"/>
                </a:solidFill>
                <a:latin typeface="JetBrains Mono" pitchFamily="49" charset="0"/>
                <a:ea typeface="JetBrains Mono" pitchFamily="49" charset="-122"/>
                <a:cs typeface="JetBrains Mono" pitchFamily="49" charset="-120"/>
              </a:rPr>
              <a:t> clase</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@classmethod</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crear(cls, nombre):</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return</a:t>
            </a:r>
            <a:r>
              <a:rPr lang="en-US" sz="1200" dirty="0">
                <a:solidFill>
                  <a:srgbClr val="E8EDF5"/>
                </a:solidFill>
                <a:latin typeface="JetBrains Mono" pitchFamily="49" charset="0"/>
                <a:ea typeface="JetBrains Mono" pitchFamily="49" charset="-122"/>
                <a:cs typeface="JetBrains Mono" pitchFamily="49" charset="-120"/>
              </a:rPr>
              <a:t> cls._registro[nombre]()</a:t>
            </a:r>
            <a:endParaRPr lang="en-US" sz="1200" dirty="0"/>
          </a:p>
          <a:p>
            <a:pPr algn="l" indent="0" marL="0">
              <a:lnSpc>
                <a:spcPts val="1680"/>
              </a:lnSpc>
              <a:buNone/>
            </a:pPr>
            <a:endParaRPr lang="en-US" sz="1200" dirty="0"/>
          </a:p>
          <a:p>
            <a:pPr algn="l" indent="0" marL="0">
              <a:lnSpc>
                <a:spcPts val="1680"/>
              </a:lnSpc>
              <a:buNone/>
            </a:pPr>
            <a:r>
              <a:rPr lang="en-US" sz="1200" dirty="0">
                <a:solidFill>
                  <a:srgbClr val="8DA2BF"/>
                </a:solidFill>
                <a:latin typeface="JetBrains Mono" pitchFamily="49" charset="0"/>
                <a:ea typeface="JetBrains Mono" pitchFamily="49" charset="-122"/>
                <a:cs typeface="JetBrains Mono" pitchFamily="49" charset="-120"/>
              </a:rPr>
              <a:t># Uso: la estrategia se cambia en caliente</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sim = Simulador(sistema, VelocityVerlet())</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res = sim.ejecutar(x0=[0.5, 0, 0], v0=[0, 0, 0], t_final=20, dt=0.01)</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sim.estrategia = FabricaIntegradores.crear("Runge-Kutta 4")</a:t>
            </a:r>
            <a:endParaRPr lang="en-US" sz="1200" dirty="0"/>
          </a:p>
        </p:txBody>
      </p:sp>
      <p:sp>
        <p:nvSpPr>
          <p:cNvPr id="5" name="Shape 3"/>
          <p:cNvSpPr/>
          <p:nvPr/>
        </p:nvSpPr>
        <p:spPr>
          <a:xfrm>
            <a:off x="8064500" y="1870670"/>
            <a:ext cx="3314700" cy="2466181"/>
          </a:xfrm>
          <a:prstGeom prst="roundRect">
            <a:avLst>
              <a:gd name="adj" fmla="val 4120"/>
            </a:avLst>
          </a:prstGeom>
          <a:solidFill>
            <a:srgbClr val="14213D"/>
          </a:solidFill>
          <a:ln/>
        </p:spPr>
      </p:sp>
      <p:sp>
        <p:nvSpPr>
          <p:cNvPr id="6" name="Text 4"/>
          <p:cNvSpPr/>
          <p:nvPr/>
        </p:nvSpPr>
        <p:spPr>
          <a:xfrm>
            <a:off x="8267700" y="2073870"/>
            <a:ext cx="299554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A35E"/>
                </a:solidFill>
                <a:latin typeface="IBM Plex Sans" pitchFamily="34" charset="0"/>
                <a:ea typeface="IBM Plex Sans" pitchFamily="34" charset="-122"/>
                <a:cs typeface="IBM Plex Sans" pitchFamily="34" charset="-120"/>
              </a:rPr>
              <a:t>RETO DE 5 MINUTOS</a:t>
            </a:r>
            <a:endParaRPr lang="en-US" sz="1200" dirty="0"/>
          </a:p>
        </p:txBody>
      </p:sp>
      <p:sp>
        <p:nvSpPr>
          <p:cNvPr id="7" name="Text 5"/>
          <p:cNvSpPr/>
          <p:nvPr/>
        </p:nvSpPr>
        <p:spPr>
          <a:xfrm>
            <a:off x="8267700" y="2388791"/>
            <a:ext cx="299554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EF"/>
                </a:solidFill>
                <a:latin typeface="IBM Plex Sans" pitchFamily="34" charset="0"/>
                <a:ea typeface="IBM Plex Sans" pitchFamily="34" charset="-122"/>
                <a:cs typeface="IBM Plex Sans" pitchFamily="34" charset="-120"/>
              </a:rPr>
              <a:t>Escriban EulerCromer: primero v ← v + a dt y luego x ← x + v dt con la v nueva.</a:t>
            </a:r>
            <a:endParaRPr lang="en-US" sz="1500" dirty="0"/>
          </a:p>
        </p:txBody>
      </p:sp>
      <p:sp>
        <p:nvSpPr>
          <p:cNvPr id="8" name="Text 6"/>
          <p:cNvSpPr/>
          <p:nvPr/>
        </p:nvSpPr>
        <p:spPr>
          <a:xfrm>
            <a:off x="8267700" y="3290491"/>
            <a:ext cx="29955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Decórenla con</a:t>
            </a:r>
            <a:endParaRPr lang="en-US" sz="1200" dirty="0"/>
          </a:p>
        </p:txBody>
      </p:sp>
      <p:sp>
        <p:nvSpPr>
          <p:cNvPr id="9" name="Text 7"/>
          <p:cNvSpPr/>
          <p:nvPr/>
        </p:nvSpPr>
        <p:spPr>
          <a:xfrm>
            <a:off x="8267700" y="3605411"/>
            <a:ext cx="29955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@FabricaIntegradores.registrar</a:t>
            </a:r>
            <a:endParaRPr lang="en-US" sz="1200" dirty="0"/>
          </a:p>
        </p:txBody>
      </p:sp>
      <p:sp>
        <p:nvSpPr>
          <p:cNvPr id="10" name="Text 8"/>
          <p:cNvSpPr/>
          <p:nvPr/>
        </p:nvSpPr>
        <p:spPr>
          <a:xfrm>
            <a:off x="8267700" y="3920331"/>
            <a:ext cx="29955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y aparecerá sola en la lista de la GUI.</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Osciladores acoplados · de la física a PyPI</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4 · ESTRATEGIAS · 20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La fábrica es una agenda de contactos</a:t>
            </a:r>
            <a:endParaRPr lang="en-US" sz="3000" dirty="0"/>
          </a:p>
        </p:txBody>
      </p:sp>
      <p:sp>
        <p:nvSpPr>
          <p:cNvPr id="4" name="Text 2"/>
          <p:cNvSpPr/>
          <p:nvPr/>
        </p:nvSpPr>
        <p:spPr>
          <a:xfrm>
            <a:off x="812800" y="1870670"/>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IBM Plex Sans" pitchFamily="34" charset="0"/>
                <a:ea typeface="IBM Plex Sans" pitchFamily="34" charset="-122"/>
                <a:cs typeface="IBM Plex Sans" pitchFamily="34" charset="-120"/>
              </a:rPr>
              <a:t>CÓDIGO</a:t>
            </a:r>
            <a:endParaRPr lang="en-US" sz="1200" dirty="0"/>
          </a:p>
        </p:txBody>
      </p:sp>
      <p:sp>
        <p:nvSpPr>
          <p:cNvPr id="5" name="Text 3"/>
          <p:cNvSpPr/>
          <p:nvPr/>
        </p:nvSpPr>
        <p:spPr>
          <a:xfrm>
            <a:off x="4572000" y="1870670"/>
            <a:ext cx="701141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IBM Plex Sans" pitchFamily="34" charset="0"/>
                <a:ea typeface="IBM Plex Sans" pitchFamily="34" charset="-122"/>
                <a:cs typeface="IBM Plex Sans" pitchFamily="34" charset="-120"/>
              </a:rPr>
              <a:t>QUÉ SIGNIFICA</a:t>
            </a:r>
            <a:endParaRPr lang="en-US" sz="1200" dirty="0"/>
          </a:p>
        </p:txBody>
      </p:sp>
      <p:sp>
        <p:nvSpPr>
          <p:cNvPr id="6" name="Text 4"/>
          <p:cNvSpPr/>
          <p:nvPr/>
        </p:nvSpPr>
        <p:spPr>
          <a:xfrm>
            <a:off x="812800" y="2172891"/>
            <a:ext cx="3556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_registro = {}</a:t>
            </a:r>
            <a:endParaRPr lang="en-US" sz="1200" dirty="0"/>
          </a:p>
        </p:txBody>
      </p:sp>
      <p:sp>
        <p:nvSpPr>
          <p:cNvPr id="7" name="Text 5"/>
          <p:cNvSpPr/>
          <p:nvPr/>
        </p:nvSpPr>
        <p:spPr>
          <a:xfrm>
            <a:off x="4572000" y="2172891"/>
            <a:ext cx="701141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Un diccionario vacío: guarda pares «nombre → clase», como una agenda guarda «nombre → teléfono».</a:t>
            </a:r>
            <a:endParaRPr lang="en-US" sz="1200" dirty="0"/>
          </a:p>
        </p:txBody>
      </p:sp>
      <p:sp>
        <p:nvSpPr>
          <p:cNvPr id="8" name="Text 6"/>
          <p:cNvSpPr/>
          <p:nvPr/>
        </p:nvSpPr>
        <p:spPr>
          <a:xfrm>
            <a:off x="812800" y="2688431"/>
            <a:ext cx="3556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@classmethod … cls</a:t>
            </a:r>
            <a:endParaRPr lang="en-US" sz="1200" dirty="0"/>
          </a:p>
        </p:txBody>
      </p:sp>
      <p:sp>
        <p:nvSpPr>
          <p:cNvPr id="9" name="Text 7"/>
          <p:cNvSpPr/>
          <p:nvPr/>
        </p:nvSpPr>
        <p:spPr>
          <a:xfrm>
            <a:off x="4572000" y="2688431"/>
            <a:ext cx="7620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Método de la clase, no de un objeto: cls es la clase misma. Así existe un único registro compartido.</a:t>
            </a:r>
            <a:endParaRPr lang="en-US" sz="1200" dirty="0"/>
          </a:p>
        </p:txBody>
      </p:sp>
      <p:sp>
        <p:nvSpPr>
          <p:cNvPr id="10" name="Text 8"/>
          <p:cNvSpPr/>
          <p:nvPr/>
        </p:nvSpPr>
        <p:spPr>
          <a:xfrm>
            <a:off x="812800" y="3066852"/>
            <a:ext cx="3556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cls._registro[clase.nombre] = clase</a:t>
            </a:r>
            <a:endParaRPr lang="en-US" sz="1200" dirty="0"/>
          </a:p>
        </p:txBody>
      </p:sp>
      <p:sp>
        <p:nvSpPr>
          <p:cNvPr id="11" name="Text 9"/>
          <p:cNvSpPr/>
          <p:nvPr/>
        </p:nvSpPr>
        <p:spPr>
          <a:xfrm>
            <a:off x="4572000" y="3066852"/>
            <a:ext cx="70114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Anota en la agenda: con la llave "Velocity Verlet" se guarda la clase VelocityVerlet.</a:t>
            </a:r>
            <a:endParaRPr lang="en-US" sz="1200" dirty="0"/>
          </a:p>
        </p:txBody>
      </p:sp>
      <p:sp>
        <p:nvSpPr>
          <p:cNvPr id="12" name="Text 10"/>
          <p:cNvSpPr/>
          <p:nvPr/>
        </p:nvSpPr>
        <p:spPr>
          <a:xfrm>
            <a:off x="812800" y="3445272"/>
            <a:ext cx="3556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return clase</a:t>
            </a:r>
            <a:endParaRPr lang="en-US" sz="1200" dirty="0"/>
          </a:p>
        </p:txBody>
      </p:sp>
      <p:sp>
        <p:nvSpPr>
          <p:cNvPr id="13" name="Text 11"/>
          <p:cNvSpPr/>
          <p:nvPr/>
        </p:nvSpPr>
        <p:spPr>
          <a:xfrm>
            <a:off x="4572000" y="3445272"/>
            <a:ext cx="70114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Devolver la clase permite usar registrar como decorador encima de una clase nueva.</a:t>
            </a:r>
            <a:endParaRPr lang="en-US" sz="1200" dirty="0"/>
          </a:p>
        </p:txBody>
      </p:sp>
      <p:sp>
        <p:nvSpPr>
          <p:cNvPr id="14" name="Text 12"/>
          <p:cNvSpPr/>
          <p:nvPr/>
        </p:nvSpPr>
        <p:spPr>
          <a:xfrm>
            <a:off x="812800" y="3823692"/>
            <a:ext cx="3556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cls._registro[nombre]()</a:t>
            </a:r>
            <a:endParaRPr lang="en-US" sz="1200" dirty="0"/>
          </a:p>
        </p:txBody>
      </p:sp>
      <p:sp>
        <p:nvSpPr>
          <p:cNvPr id="15" name="Text 13"/>
          <p:cNvSpPr/>
          <p:nvPr/>
        </p:nvSpPr>
        <p:spPr>
          <a:xfrm>
            <a:off x="4572000" y="3823692"/>
            <a:ext cx="70114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Busca la clase por su nombre; los paréntesis () crean un objeto nuevo de esa clase.</a:t>
            </a:r>
            <a:endParaRPr lang="en-US" sz="1200" dirty="0"/>
          </a:p>
        </p:txBody>
      </p:sp>
      <p:sp>
        <p:nvSpPr>
          <p:cNvPr id="16" name="Text 14"/>
          <p:cNvSpPr/>
          <p:nvPr/>
        </p:nvSpPr>
        <p:spPr>
          <a:xfrm>
            <a:off x="812800" y="4202113"/>
            <a:ext cx="3556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sim.estrategia = …</a:t>
            </a:r>
            <a:endParaRPr lang="en-US" sz="1200" dirty="0"/>
          </a:p>
        </p:txBody>
      </p:sp>
      <p:sp>
        <p:nvSpPr>
          <p:cNvPr id="17" name="Text 15"/>
          <p:cNvSpPr/>
          <p:nvPr/>
        </p:nvSpPr>
        <p:spPr>
          <a:xfrm>
            <a:off x="4572000" y="4202113"/>
            <a:ext cx="70114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Cambia el método «en caliente»: mismo simulador, mismo sistema, otro algoritmo.</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Osciladores acoplados · de la física a PyPI</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5 · INTERFAZ GRÁFICA · 15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Una ventana, un panel y cuatro pestañas</a:t>
            </a:r>
            <a:endParaRPr lang="en-US" sz="3000" dirty="0"/>
          </a:p>
        </p:txBody>
      </p:sp>
      <p:sp>
        <p:nvSpPr>
          <p:cNvPr id="4" name="Shape 2"/>
          <p:cNvSpPr/>
          <p:nvPr/>
        </p:nvSpPr>
        <p:spPr>
          <a:xfrm>
            <a:off x="819150" y="1877020"/>
            <a:ext cx="6845300" cy="3136503"/>
          </a:xfrm>
          <a:prstGeom prst="roundRect">
            <a:avLst>
              <a:gd name="adj" fmla="val 3037"/>
            </a:avLst>
          </a:prstGeom>
          <a:solidFill>
            <a:srgbClr val="F7F5EF"/>
          </a:solidFill>
          <a:ln w="12700">
            <a:solidFill>
              <a:srgbClr val="14213D"/>
            </a:solidFill>
            <a:prstDash val="solid"/>
          </a:ln>
        </p:spPr>
      </p:sp>
      <p:sp>
        <p:nvSpPr>
          <p:cNvPr id="5" name="Text 3"/>
          <p:cNvSpPr/>
          <p:nvPr/>
        </p:nvSpPr>
        <p:spPr>
          <a:xfrm>
            <a:off x="825500" y="1883370"/>
            <a:ext cx="6832600" cy="340320"/>
          </a:xfrm>
          <a:custGeom>
            <a:avLst/>
            <a:gdLst/>
            <a:ahLst/>
            <a:cxnLst/>
            <a:rect l="l" t="t" r="r" b="b"/>
            <a:pathLst>
              <a:path w="6832600" h="340320">
                <a:moveTo>
                  <a:pt x="0" y="88900"/>
                </a:moveTo>
                <a:arcTo hR="88900" wR="88900" stAng="10800000" swAng="5400000"/>
                <a:lnTo>
                  <a:pt x="6743700" y="0"/>
                </a:lnTo>
                <a:arcTo hR="88900" wR="88900" stAng="16200000" swAng="5400000"/>
                <a:lnTo>
                  <a:pt x="6832600" y="340320"/>
                </a:lnTo>
                <a:lnTo>
                  <a:pt x="0" y="340320"/>
                </a:lnTo>
                <a:close/>
              </a:path>
            </a:pathLst>
          </a:custGeom>
          <a:solidFill>
            <a:srgbClr val="14213D"/>
          </a:solidFill>
          <a:ln/>
        </p:spPr>
        <p:txBody>
          <a:bodyPr wrap="square" lIns="152400" tIns="63500" rIns="152400" bIns="38100" rtlCol="0" anchor="t">
            <a:normAutofit/>
          </a:bodyPr>
          <a:lstStyle/>
          <a:p>
            <a:pPr algn="l" indent="0" marL="0">
              <a:lnSpc>
                <a:spcPts val="1680"/>
              </a:lnSpc>
              <a:buNone/>
            </a:pPr>
            <a:r>
              <a:rPr lang="en-US" sz="1200" dirty="0">
                <a:solidFill>
                  <a:srgbClr val="F7F5EF"/>
                </a:solidFill>
                <a:latin typeface="IBM Plex Sans" pitchFamily="34" charset="0"/>
                <a:ea typeface="IBM Plex Sans" pitchFamily="34" charset="-122"/>
                <a:cs typeface="IBM Plex Sans" pitchFamily="34" charset="-120"/>
              </a:rPr>
              <a:t>Osciladores armónicos acoplados</a:t>
            </a:r>
            <a:endParaRPr lang="en-US" sz="1200" dirty="0"/>
          </a:p>
        </p:txBody>
      </p:sp>
      <p:sp>
        <p:nvSpPr>
          <p:cNvPr id="6" name="Text 4"/>
          <p:cNvSpPr/>
          <p:nvPr/>
        </p:nvSpPr>
        <p:spPr>
          <a:xfrm>
            <a:off x="977900" y="2376091"/>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Masas</a:t>
            </a:r>
            <a:endParaRPr lang="en-US" sz="1200" dirty="0"/>
          </a:p>
        </p:txBody>
      </p:sp>
      <p:sp>
        <p:nvSpPr>
          <p:cNvPr id="7" name="Text 5"/>
          <p:cNvSpPr/>
          <p:nvPr/>
        </p:nvSpPr>
        <p:spPr>
          <a:xfrm>
            <a:off x="981075" y="2630686"/>
            <a:ext cx="2025650" cy="245070"/>
          </a:xfrm>
          <a:prstGeom prst="roundRect">
            <a:avLst>
              <a:gd name="adj" fmla="val 14251"/>
            </a:avLst>
          </a:prstGeom>
          <a:solidFill>
            <a:srgbClr val="FDFCF8"/>
          </a:solidFill>
          <a:ln w="6350">
            <a:solidFill>
              <a:srgbClr val="C9C3B5"/>
            </a:solidFill>
            <a:prstDash val="solid"/>
          </a:ln>
        </p:spPr>
        <p:txBody>
          <a:bodyPr wrap="square" lIns="56446" tIns="5646" rIns="0" bIns="0" rtlCol="0" anchor="t">
            <a:normAutofit/>
          </a:bodyPr>
          <a:lstStyle/>
          <a:p>
            <a:pPr algn="l" indent="0" marL="0">
              <a:lnSpc>
                <a:spcPts val="1680"/>
              </a:lnSpc>
              <a:buNone/>
            </a:pPr>
            <a:r>
              <a:rPr lang="en-US" sz="1200" dirty="0">
                <a:solidFill>
                  <a:srgbClr val="3E4A5C"/>
                </a:solidFill>
                <a:latin typeface="JetBrains Mono" pitchFamily="49" charset="0"/>
                <a:ea typeface="JetBrains Mono" pitchFamily="49" charset="-122"/>
                <a:cs typeface="JetBrains Mono" pitchFamily="49" charset="-120"/>
              </a:rPr>
              <a:t>1, 1, 1</a:t>
            </a:r>
            <a:endParaRPr lang="en-US" sz="1200" dirty="0"/>
          </a:p>
        </p:txBody>
      </p:sp>
      <p:sp>
        <p:nvSpPr>
          <p:cNvPr id="8" name="Text 6"/>
          <p:cNvSpPr/>
          <p:nvPr/>
        </p:nvSpPr>
        <p:spPr>
          <a:xfrm>
            <a:off x="977900" y="2917031"/>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Constantes</a:t>
            </a:r>
            <a:endParaRPr lang="en-US" sz="1200" dirty="0"/>
          </a:p>
        </p:txBody>
      </p:sp>
      <p:sp>
        <p:nvSpPr>
          <p:cNvPr id="9" name="Text 7"/>
          <p:cNvSpPr/>
          <p:nvPr/>
        </p:nvSpPr>
        <p:spPr>
          <a:xfrm>
            <a:off x="981075" y="3171627"/>
            <a:ext cx="2025650" cy="245070"/>
          </a:xfrm>
          <a:prstGeom prst="roundRect">
            <a:avLst>
              <a:gd name="adj" fmla="val 14251"/>
            </a:avLst>
          </a:prstGeom>
          <a:solidFill>
            <a:srgbClr val="FDFCF8"/>
          </a:solidFill>
          <a:ln w="6350">
            <a:solidFill>
              <a:srgbClr val="C9C3B5"/>
            </a:solidFill>
            <a:prstDash val="solid"/>
          </a:ln>
        </p:spPr>
        <p:txBody>
          <a:bodyPr wrap="square" lIns="56446" tIns="5646" rIns="0" bIns="0" rtlCol="0" anchor="t">
            <a:normAutofit/>
          </a:bodyPr>
          <a:lstStyle/>
          <a:p>
            <a:pPr algn="l" indent="0" marL="0">
              <a:lnSpc>
                <a:spcPts val="1680"/>
              </a:lnSpc>
              <a:buNone/>
            </a:pPr>
            <a:r>
              <a:rPr lang="en-US" sz="1200" dirty="0">
                <a:solidFill>
                  <a:srgbClr val="3E4A5C"/>
                </a:solidFill>
                <a:latin typeface="JetBrains Mono" pitchFamily="49" charset="0"/>
                <a:ea typeface="JetBrains Mono" pitchFamily="49" charset="-122"/>
                <a:cs typeface="JetBrains Mono" pitchFamily="49" charset="-120"/>
              </a:rPr>
              <a:t>10, 10, 10, 10</a:t>
            </a:r>
            <a:endParaRPr lang="en-US" sz="1200" dirty="0"/>
          </a:p>
        </p:txBody>
      </p:sp>
      <p:sp>
        <p:nvSpPr>
          <p:cNvPr id="10" name="Text 8"/>
          <p:cNvSpPr/>
          <p:nvPr/>
        </p:nvSpPr>
        <p:spPr>
          <a:xfrm>
            <a:off x="977900" y="3457972"/>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x(0)</a:t>
            </a:r>
            <a:endParaRPr lang="en-US" sz="1200" dirty="0"/>
          </a:p>
        </p:txBody>
      </p:sp>
      <p:sp>
        <p:nvSpPr>
          <p:cNvPr id="11" name="Text 9"/>
          <p:cNvSpPr/>
          <p:nvPr/>
        </p:nvSpPr>
        <p:spPr>
          <a:xfrm>
            <a:off x="981075" y="3712567"/>
            <a:ext cx="2025650" cy="245070"/>
          </a:xfrm>
          <a:prstGeom prst="roundRect">
            <a:avLst>
              <a:gd name="adj" fmla="val 14251"/>
            </a:avLst>
          </a:prstGeom>
          <a:solidFill>
            <a:srgbClr val="FDFCF8"/>
          </a:solidFill>
          <a:ln w="6350">
            <a:solidFill>
              <a:srgbClr val="C9C3B5"/>
            </a:solidFill>
            <a:prstDash val="solid"/>
          </a:ln>
        </p:spPr>
        <p:txBody>
          <a:bodyPr wrap="square" lIns="56446" tIns="5646" rIns="0" bIns="0" rtlCol="0" anchor="t">
            <a:normAutofit/>
          </a:bodyPr>
          <a:lstStyle/>
          <a:p>
            <a:pPr algn="l" indent="0" marL="0">
              <a:lnSpc>
                <a:spcPts val="1680"/>
              </a:lnSpc>
              <a:buNone/>
            </a:pPr>
            <a:r>
              <a:rPr lang="en-US" sz="1200" dirty="0">
                <a:solidFill>
                  <a:srgbClr val="3E4A5C"/>
                </a:solidFill>
                <a:latin typeface="JetBrains Mono" pitchFamily="49" charset="0"/>
                <a:ea typeface="JetBrains Mono" pitchFamily="49" charset="-122"/>
                <a:cs typeface="JetBrains Mono" pitchFamily="49" charset="-120"/>
              </a:rPr>
              <a:t>0.5, 0, 0</a:t>
            </a:r>
            <a:endParaRPr lang="en-US" sz="1200" dirty="0"/>
          </a:p>
        </p:txBody>
      </p:sp>
      <p:sp>
        <p:nvSpPr>
          <p:cNvPr id="12" name="Text 10"/>
          <p:cNvSpPr/>
          <p:nvPr/>
        </p:nvSpPr>
        <p:spPr>
          <a:xfrm>
            <a:off x="977900" y="3998913"/>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Método</a:t>
            </a:r>
            <a:endParaRPr lang="en-US" sz="1200" dirty="0"/>
          </a:p>
        </p:txBody>
      </p:sp>
      <p:sp>
        <p:nvSpPr>
          <p:cNvPr id="13" name="Text 11"/>
          <p:cNvSpPr/>
          <p:nvPr/>
        </p:nvSpPr>
        <p:spPr>
          <a:xfrm>
            <a:off x="981075" y="4253508"/>
            <a:ext cx="2025650" cy="245070"/>
          </a:xfrm>
          <a:prstGeom prst="roundRect">
            <a:avLst>
              <a:gd name="adj" fmla="val 14251"/>
            </a:avLst>
          </a:prstGeom>
          <a:solidFill>
            <a:srgbClr val="FDFCF8"/>
          </a:solidFill>
          <a:ln w="6350">
            <a:solidFill>
              <a:srgbClr val="C9C3B5"/>
            </a:solidFill>
            <a:prstDash val="solid"/>
          </a:ln>
        </p:spPr>
        <p:txBody>
          <a:bodyPr wrap="square" lIns="56446" tIns="5646" rIns="0" bIns="0" rtlCol="0" anchor="t">
            <a:normAutofit/>
          </a:bodyPr>
          <a:lstStyle/>
          <a:p>
            <a:pPr algn="l" indent="0" marL="0">
              <a:lnSpc>
                <a:spcPts val="1680"/>
              </a:lnSpc>
              <a:buNone/>
            </a:pPr>
            <a:r>
              <a:rPr lang="en-US" sz="1200" dirty="0">
                <a:solidFill>
                  <a:srgbClr val="3E4A5C"/>
                </a:solidFill>
                <a:latin typeface="JetBrains Mono" pitchFamily="49" charset="0"/>
                <a:ea typeface="JetBrains Mono" pitchFamily="49" charset="-122"/>
                <a:cs typeface="JetBrains Mono" pitchFamily="49" charset="-120"/>
              </a:rPr>
              <a:t>Modos normales ▾</a:t>
            </a:r>
            <a:endParaRPr lang="en-US" sz="1200" dirty="0"/>
          </a:p>
        </p:txBody>
      </p:sp>
      <p:sp>
        <p:nvSpPr>
          <p:cNvPr id="14" name="Text 12"/>
          <p:cNvSpPr/>
          <p:nvPr/>
        </p:nvSpPr>
        <p:spPr>
          <a:xfrm>
            <a:off x="977900" y="4539853"/>
            <a:ext cx="2032000" cy="314920"/>
          </a:xfrm>
          <a:prstGeom prst="roundRect">
            <a:avLst>
              <a:gd name="adj" fmla="val 16131"/>
            </a:avLst>
          </a:prstGeom>
          <a:solidFill>
            <a:srgbClr val="2F6FB3"/>
          </a:solidFill>
          <a:ln/>
        </p:spPr>
        <p:txBody>
          <a:bodyPr wrap="square" lIns="59289" tIns="35921" rIns="59289" bIns="10521" rtlCol="0" anchor="t">
            <a:normAutofit/>
          </a:bodyPr>
          <a:lstStyle/>
          <a:p>
            <a:pPr algn="ctr" indent="0" marL="0">
              <a:lnSpc>
                <a:spcPts val="1680"/>
              </a:lnSpc>
              <a:buNone/>
            </a:pPr>
            <a:r>
              <a:rPr lang="en-US" sz="1200" b="1" dirty="0">
                <a:solidFill>
                  <a:srgbClr val="F7F5EF"/>
                </a:solidFill>
                <a:latin typeface="IBM Plex Sans" pitchFamily="34" charset="0"/>
                <a:ea typeface="IBM Plex Sans" pitchFamily="34" charset="-122"/>
                <a:cs typeface="IBM Plex Sans" pitchFamily="34" charset="-120"/>
              </a:rPr>
              <a:t>▶ Simular</a:t>
            </a:r>
            <a:endParaRPr lang="en-US" sz="1200" dirty="0"/>
          </a:p>
        </p:txBody>
      </p:sp>
      <p:sp>
        <p:nvSpPr>
          <p:cNvPr id="15" name="Text 13"/>
          <p:cNvSpPr/>
          <p:nvPr/>
        </p:nvSpPr>
        <p:spPr>
          <a:xfrm>
            <a:off x="3162300" y="2376091"/>
            <a:ext cx="934740" cy="289520"/>
          </a:xfrm>
          <a:prstGeom prst="roundRect">
            <a:avLst>
              <a:gd name="adj" fmla="val 17546"/>
            </a:avLst>
          </a:prstGeom>
          <a:solidFill>
            <a:srgbClr val="14213D"/>
          </a:solidFill>
          <a:ln/>
        </p:spPr>
        <p:txBody>
          <a:bodyPr wrap="none" lIns="0" tIns="0" rIns="0" bIns="0" rtlCol="0" anchor="ctr">
            <a:normAutofit/>
          </a:bodyPr>
          <a:lstStyle/>
          <a:p>
            <a:pPr algn="ctr" indent="0" marL="0">
              <a:lnSpc>
                <a:spcPts val="1680"/>
              </a:lnSpc>
              <a:buNone/>
            </a:pPr>
            <a:r>
              <a:rPr lang="en-US" sz="1200" dirty="0">
                <a:solidFill>
                  <a:srgbClr val="F7F5EF"/>
                </a:solidFill>
                <a:latin typeface="IBM Plex Sans" pitchFamily="34" charset="0"/>
                <a:ea typeface="IBM Plex Sans" pitchFamily="34" charset="-122"/>
                <a:cs typeface="IBM Plex Sans" pitchFamily="34" charset="-120"/>
              </a:rPr>
              <a:t>Posiciones</a:t>
            </a:r>
            <a:endParaRPr lang="en-US" sz="1200" dirty="0"/>
          </a:p>
        </p:txBody>
      </p:sp>
      <p:sp>
        <p:nvSpPr>
          <p:cNvPr id="16" name="Text 14"/>
          <p:cNvSpPr/>
          <p:nvPr/>
        </p:nvSpPr>
        <p:spPr>
          <a:xfrm>
            <a:off x="4147840" y="2376091"/>
            <a:ext cx="714673" cy="289520"/>
          </a:xfrm>
          <a:prstGeom prst="roundRect">
            <a:avLst>
              <a:gd name="adj" fmla="val 17546"/>
            </a:avLst>
          </a:prstGeom>
          <a:solidFill>
            <a:srgbClr val="EFEBE1"/>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Energía</a:t>
            </a:r>
            <a:endParaRPr lang="en-US" sz="1200" dirty="0"/>
          </a:p>
        </p:txBody>
      </p:sp>
      <p:sp>
        <p:nvSpPr>
          <p:cNvPr id="17" name="Text 15"/>
          <p:cNvSpPr/>
          <p:nvPr/>
        </p:nvSpPr>
        <p:spPr>
          <a:xfrm>
            <a:off x="4913313" y="2376091"/>
            <a:ext cx="926703" cy="289520"/>
          </a:xfrm>
          <a:prstGeom prst="roundRect">
            <a:avLst>
              <a:gd name="adj" fmla="val 17546"/>
            </a:avLst>
          </a:prstGeom>
          <a:solidFill>
            <a:srgbClr val="EFEBE1"/>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Animación</a:t>
            </a:r>
            <a:endParaRPr lang="en-US" sz="1200" dirty="0"/>
          </a:p>
        </p:txBody>
      </p:sp>
      <p:sp>
        <p:nvSpPr>
          <p:cNvPr id="18" name="Text 16"/>
          <p:cNvSpPr/>
          <p:nvPr/>
        </p:nvSpPr>
        <p:spPr>
          <a:xfrm>
            <a:off x="5890816" y="2376091"/>
            <a:ext cx="660301" cy="289520"/>
          </a:xfrm>
          <a:prstGeom prst="roundRect">
            <a:avLst>
              <a:gd name="adj" fmla="val 17546"/>
            </a:avLst>
          </a:prstGeom>
          <a:solidFill>
            <a:srgbClr val="EFEBE1"/>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Modos</a:t>
            </a:r>
            <a:endParaRPr lang="en-US" sz="1200" dirty="0"/>
          </a:p>
        </p:txBody>
      </p:sp>
      <p:pic>
        <p:nvPicPr>
          <p:cNvPr id="19" name="Image 0" descr="gráfica de x1, x2 y x3 contra el tiempo">    </p:cNvPr>
          <p:cNvPicPr>
            <a:picLocks noChangeAspect="1"/>
          </p:cNvPicPr>
          <p:nvPr/>
        </p:nvPicPr>
        <p:blipFill>
          <a:blip r:embed="rId1"/>
          <a:srcRect l="0" r="0" t="0" b="0"/>
          <a:stretch/>
        </p:blipFill>
        <p:spPr>
          <a:xfrm>
            <a:off x="3162300" y="2767211"/>
            <a:ext cx="4191000" cy="1905000"/>
          </a:xfrm>
          <a:prstGeom prst="rect">
            <a:avLst/>
          </a:prstGeom>
        </p:spPr>
      </p:pic>
      <p:sp>
        <p:nvSpPr>
          <p:cNvPr id="20" name="Shape 17"/>
          <p:cNvSpPr/>
          <p:nvPr/>
        </p:nvSpPr>
        <p:spPr>
          <a:xfrm>
            <a:off x="7877175" y="1873845"/>
            <a:ext cx="3498850" cy="1144191"/>
          </a:xfrm>
          <a:prstGeom prst="roundRect">
            <a:avLst>
              <a:gd name="adj" fmla="val 8602"/>
            </a:avLst>
          </a:prstGeom>
          <a:solidFill>
            <a:srgbClr val="FDFCF8"/>
          </a:solidFill>
          <a:ln w="6350">
            <a:solidFill>
              <a:srgbClr val="E2DED3"/>
            </a:solidFill>
            <a:prstDash val="solid"/>
          </a:ln>
        </p:spPr>
      </p:sp>
      <p:sp>
        <p:nvSpPr>
          <p:cNvPr id="21" name="Text 18"/>
          <p:cNvSpPr/>
          <p:nvPr/>
        </p:nvSpPr>
        <p:spPr>
          <a:xfrm>
            <a:off x="8083550" y="2080220"/>
            <a:ext cx="317868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Entradas como texto</a:t>
            </a:r>
            <a:endParaRPr lang="en-US" sz="1500" dirty="0"/>
          </a:p>
        </p:txBody>
      </p:sp>
      <p:sp>
        <p:nvSpPr>
          <p:cNvPr id="22" name="Text 19"/>
          <p:cNvSpPr/>
          <p:nvPr/>
        </p:nvSpPr>
        <p:spPr>
          <a:xfrm>
            <a:off x="8083550" y="2385020"/>
            <a:ext cx="31786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«1, 1, 1» pasa por leer_lista() y se vuelve un arreglo.</a:t>
            </a:r>
            <a:endParaRPr lang="en-US" sz="1200" dirty="0"/>
          </a:p>
        </p:txBody>
      </p:sp>
      <p:sp>
        <p:nvSpPr>
          <p:cNvPr id="23" name="Shape 20"/>
          <p:cNvSpPr/>
          <p:nvPr/>
        </p:nvSpPr>
        <p:spPr>
          <a:xfrm>
            <a:off x="7877175" y="3176786"/>
            <a:ext cx="3498850" cy="1144191"/>
          </a:xfrm>
          <a:prstGeom prst="roundRect">
            <a:avLst>
              <a:gd name="adj" fmla="val 8602"/>
            </a:avLst>
          </a:prstGeom>
          <a:solidFill>
            <a:srgbClr val="FDFCF8"/>
          </a:solidFill>
          <a:ln w="6350">
            <a:solidFill>
              <a:srgbClr val="E2DED3"/>
            </a:solidFill>
            <a:prstDash val="solid"/>
          </a:ln>
        </p:spPr>
      </p:sp>
      <p:sp>
        <p:nvSpPr>
          <p:cNvPr id="24" name="Text 21"/>
          <p:cNvSpPr/>
          <p:nvPr/>
        </p:nvSpPr>
        <p:spPr>
          <a:xfrm>
            <a:off x="8083550" y="3383161"/>
            <a:ext cx="317868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Errores con mensaje</a:t>
            </a:r>
            <a:endParaRPr lang="en-US" sz="1500" dirty="0"/>
          </a:p>
        </p:txBody>
      </p:sp>
      <p:sp>
        <p:nvSpPr>
          <p:cNvPr id="25" name="Text 22"/>
          <p:cNvSpPr/>
          <p:nvPr/>
        </p:nvSpPr>
        <p:spPr>
          <a:xfrm>
            <a:off x="8083550" y="3687961"/>
            <a:ext cx="31786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La lógica lanza ValueError y la GUI lo muestra en un messagebox.</a:t>
            </a:r>
            <a:endParaRPr lang="en-US" sz="1200" dirty="0"/>
          </a:p>
        </p:txBody>
      </p:sp>
      <p:sp>
        <p:nvSpPr>
          <p:cNvPr id="26" name="Shape 23"/>
          <p:cNvSpPr/>
          <p:nvPr/>
        </p:nvSpPr>
        <p:spPr>
          <a:xfrm>
            <a:off x="7877175" y="4479727"/>
            <a:ext cx="3498850" cy="1144191"/>
          </a:xfrm>
          <a:prstGeom prst="roundRect">
            <a:avLst>
              <a:gd name="adj" fmla="val 8602"/>
            </a:avLst>
          </a:prstGeom>
          <a:solidFill>
            <a:srgbClr val="FDFCF8"/>
          </a:solidFill>
          <a:ln w="6350">
            <a:solidFill>
              <a:srgbClr val="E2DED3"/>
            </a:solidFill>
            <a:prstDash val="solid"/>
          </a:ln>
        </p:spPr>
      </p:sp>
      <p:sp>
        <p:nvSpPr>
          <p:cNvPr id="27" name="Text 24"/>
          <p:cNvSpPr/>
          <p:nvPr/>
        </p:nvSpPr>
        <p:spPr>
          <a:xfrm>
            <a:off x="8083550" y="4686102"/>
            <a:ext cx="317868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Gráficas y animación</a:t>
            </a:r>
            <a:endParaRPr lang="en-US" sz="1500" dirty="0"/>
          </a:p>
        </p:txBody>
      </p:sp>
      <p:sp>
        <p:nvSpPr>
          <p:cNvPr id="28" name="Text 25"/>
          <p:cNvSpPr/>
          <p:nvPr/>
        </p:nvSpPr>
        <p:spPr>
          <a:xfrm>
            <a:off x="8083550" y="4990902"/>
            <a:ext cx="31786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matplotlib con FigureCanvasTkAgg; la animación usa tk.Canvas y after().</a:t>
            </a:r>
            <a:endParaRPr lang="en-US" sz="1200" dirty="0"/>
          </a:p>
        </p:txBody>
      </p:sp>
      <p:sp>
        <p:nvSpPr>
          <p:cNvPr id="29" name="Text 2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Osciladores acoplados · de la física a PyPI</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5 · INTERFAZ GRÁFICA · 15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La GUI sólo traduce y dibuja</a:t>
            </a:r>
            <a:endParaRPr lang="en-US" sz="3000" dirty="0"/>
          </a:p>
        </p:txBody>
      </p:sp>
      <p:sp>
        <p:nvSpPr>
          <p:cNvPr id="4" name="Text 2"/>
          <p:cNvSpPr/>
          <p:nvPr/>
        </p:nvSpPr>
        <p:spPr>
          <a:xfrm>
            <a:off x="812800" y="1870670"/>
            <a:ext cx="7048500" cy="3606205"/>
          </a:xfrm>
          <a:prstGeom prst="roundRect">
            <a:avLst>
              <a:gd name="adj" fmla="val 2817"/>
            </a:avLst>
          </a:prstGeom>
          <a:solidFill>
            <a:srgbClr val="14213D"/>
          </a:solidFill>
          <a:ln/>
        </p:spPr>
        <p:txBody>
          <a:bodyPr wrap="none" lIns="224242" tIns="173442" rIns="28027" bIns="148042" rtlCol="0" anchor="t">
            <a:normAutofit/>
          </a:bodyPr>
          <a:lstStyle/>
          <a:p>
            <a:pPr algn="l" indent="0" marL="0">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simular(self):</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try</a:t>
            </a:r>
            <a:r>
              <a:rPr lang="en-US" sz="1200" dirty="0">
                <a:solidFill>
                  <a:srgbClr val="E8EDF5"/>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self.sistema = self._leer_sistema()</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x0, v0, t_final, dt = self._leer_condiciones()</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estrategia = FabricaIntegradores.crear(self.var_metodo.get())</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self.simulador = Simulador(self.sistema, estrategia)</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self.simulador.suscribir(self._al_recibir_resultado)</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self.simulador.ejecutar(x0, v0, t_final, dt)</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except</a:t>
            </a:r>
            <a:r>
              <a:rPr lang="en-US" sz="1200" dirty="0">
                <a:solidFill>
                  <a:srgbClr val="E8EDF5"/>
                </a:solidFill>
                <a:latin typeface="JetBrains Mono" pitchFamily="49" charset="0"/>
                <a:ea typeface="JetBrains Mono" pitchFamily="49" charset="-122"/>
                <a:cs typeface="JetBrains Mono" pitchFamily="49" charset="-120"/>
              </a:rPr>
              <a:t> ValueError as error:</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messagebox.showerror("Datos inválidos", str(error))</a:t>
            </a:r>
            <a:endParaRPr lang="en-US" sz="1200" dirty="0"/>
          </a:p>
          <a:p>
            <a:pPr algn="l" indent="0" marL="0">
              <a:lnSpc>
                <a:spcPts val="1680"/>
              </a:lnSpc>
              <a:buNone/>
            </a:pPr>
            <a:endParaRPr lang="en-US" sz="1200" dirty="0"/>
          </a:p>
          <a:p>
            <a:pPr algn="l" indent="0" marL="0">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_al_recibir_resultado(self, resultado):     </a:t>
            </a:r>
            <a:r>
              <a:rPr lang="en-US" sz="1200" dirty="0">
                <a:solidFill>
                  <a:srgbClr val="8DA2BF"/>
                </a:solidFill>
                <a:latin typeface="JetBrains Mono" pitchFamily="49" charset="0"/>
                <a:ea typeface="JetBrains Mono" pitchFamily="49" charset="-122"/>
                <a:cs typeface="JetBrains Mono" pitchFamily="49" charset="-120"/>
              </a:rPr>
              <a:t># observador</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self.resultado = resultado</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self._graficar_posiciones()</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self._graficar_energia([resultado])</a:t>
            </a:r>
            <a:endParaRPr lang="en-US" sz="1200" dirty="0"/>
          </a:p>
        </p:txBody>
      </p:sp>
      <p:sp>
        <p:nvSpPr>
          <p:cNvPr id="5" name="Text 3"/>
          <p:cNvSpPr/>
          <p:nvPr/>
        </p:nvSpPr>
        <p:spPr>
          <a:xfrm>
            <a:off x="8067675" y="1873845"/>
            <a:ext cx="3308350" cy="372070"/>
          </a:xfrm>
          <a:prstGeom prst="roundRect">
            <a:avLst>
              <a:gd name="adj" fmla="val 16213"/>
            </a:avLst>
          </a:prstGeom>
          <a:solidFill>
            <a:srgbClr val="FDFCF8"/>
          </a:solidFill>
          <a:ln w="6350">
            <a:solidFill>
              <a:srgbClr val="C9C3B5"/>
            </a:solidFill>
            <a:prstDash val="solid"/>
          </a:ln>
        </p:spPr>
        <p:txBody>
          <a:bodyPr wrap="square" lIns="66786" tIns="61706" rIns="66786" bIns="36306" rtlCol="0" anchor="t">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El usuario pulsa ▶ Simular</a:t>
            </a:r>
            <a:endParaRPr lang="en-US" sz="1200" dirty="0"/>
          </a:p>
        </p:txBody>
      </p:sp>
      <p:pic>
        <p:nvPicPr>
          <p:cNvPr id="6" name="Image 0" descr="arrow-down">    </p:cNvPr>
          <p:cNvPicPr>
            <a:picLocks noChangeAspect="1"/>
          </p:cNvPicPr>
          <p:nvPr/>
        </p:nvPicPr>
        <p:blipFill>
          <a:blip r:embed="rId1"/>
          <a:srcRect l="0" r="0" t="0" b="0"/>
          <a:stretch/>
        </p:blipFill>
        <p:spPr>
          <a:xfrm>
            <a:off x="9632950" y="2312591"/>
            <a:ext cx="177800" cy="228600"/>
          </a:xfrm>
          <a:prstGeom prst="rect">
            <a:avLst/>
          </a:prstGeom>
        </p:spPr>
      </p:pic>
      <p:sp>
        <p:nvSpPr>
          <p:cNvPr id="7" name="Text 4"/>
          <p:cNvSpPr/>
          <p:nvPr/>
        </p:nvSpPr>
        <p:spPr>
          <a:xfrm>
            <a:off x="8067675" y="2607866"/>
            <a:ext cx="3308350" cy="372070"/>
          </a:xfrm>
          <a:prstGeom prst="roundRect">
            <a:avLst>
              <a:gd name="adj" fmla="val 16213"/>
            </a:avLst>
          </a:prstGeom>
          <a:solidFill>
            <a:srgbClr val="FDFCF8"/>
          </a:solidFill>
          <a:ln w="6350">
            <a:solidFill>
              <a:srgbClr val="C9C3B5"/>
            </a:solidFill>
            <a:prstDash val="solid"/>
          </a:ln>
        </p:spPr>
        <p:txBody>
          <a:bodyPr wrap="square" lIns="66786" tIns="61706" rIns="66786" bIns="36306" rtlCol="0" anchor="t">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La GUI lee y convierte el texto</a:t>
            </a:r>
            <a:endParaRPr lang="en-US" sz="1200" dirty="0"/>
          </a:p>
        </p:txBody>
      </p:sp>
      <p:pic>
        <p:nvPicPr>
          <p:cNvPr id="8" name="Image 1" descr="arrow-down">    </p:cNvPr>
          <p:cNvPicPr>
            <a:picLocks noChangeAspect="1"/>
          </p:cNvPicPr>
          <p:nvPr/>
        </p:nvPicPr>
        <p:blipFill>
          <a:blip r:embed="rId2"/>
          <a:srcRect l="0" r="0" t="0" b="0"/>
          <a:stretch/>
        </p:blipFill>
        <p:spPr>
          <a:xfrm>
            <a:off x="9632950" y="3046611"/>
            <a:ext cx="177800" cy="228600"/>
          </a:xfrm>
          <a:prstGeom prst="rect">
            <a:avLst/>
          </a:prstGeom>
        </p:spPr>
      </p:pic>
      <p:sp>
        <p:nvSpPr>
          <p:cNvPr id="9" name="Text 5"/>
          <p:cNvSpPr/>
          <p:nvPr/>
        </p:nvSpPr>
        <p:spPr>
          <a:xfrm>
            <a:off x="8064500" y="3338711"/>
            <a:ext cx="3314700" cy="365720"/>
          </a:xfrm>
          <a:prstGeom prst="roundRect">
            <a:avLst>
              <a:gd name="adj" fmla="val 17363"/>
            </a:avLst>
          </a:prstGeom>
          <a:solidFill>
            <a:srgbClr val="14213D"/>
          </a:solidFill>
          <a:ln/>
        </p:spPr>
        <p:txBody>
          <a:bodyPr wrap="square" lIns="62491" tIns="57601" rIns="62491" bIns="32201" rtlCol="0" anchor="t">
            <a:normAutofit/>
          </a:bodyPr>
          <a:lstStyle/>
          <a:p>
            <a:pPr algn="ctr" indent="0" marL="0">
              <a:lnSpc>
                <a:spcPts val="1680"/>
              </a:lnSpc>
              <a:buNone/>
            </a:pPr>
            <a:r>
              <a:rPr lang="en-US" sz="1200" dirty="0">
                <a:solidFill>
                  <a:srgbClr val="F7F5EF"/>
                </a:solidFill>
                <a:latin typeface="IBM Plex Sans" pitchFamily="34" charset="0"/>
                <a:ea typeface="IBM Plex Sans" pitchFamily="34" charset="-122"/>
                <a:cs typeface="IBM Plex Sans" pitchFamily="34" charset="-120"/>
              </a:rPr>
              <a:t>Simulador.ejecutar(…)</a:t>
            </a:r>
            <a:endParaRPr lang="en-US" sz="1200" dirty="0"/>
          </a:p>
        </p:txBody>
      </p:sp>
      <p:pic>
        <p:nvPicPr>
          <p:cNvPr id="10" name="Image 2" descr="arrow-down">    </p:cNvPr>
          <p:cNvPicPr>
            <a:picLocks noChangeAspect="1"/>
          </p:cNvPicPr>
          <p:nvPr/>
        </p:nvPicPr>
        <p:blipFill>
          <a:blip r:embed="rId3"/>
          <a:srcRect l="0" r="0" t="0" b="0"/>
          <a:stretch/>
        </p:blipFill>
        <p:spPr>
          <a:xfrm>
            <a:off x="9632950" y="3767931"/>
            <a:ext cx="177800" cy="228600"/>
          </a:xfrm>
          <a:prstGeom prst="rect">
            <a:avLst/>
          </a:prstGeom>
        </p:spPr>
      </p:pic>
      <p:sp>
        <p:nvSpPr>
          <p:cNvPr id="11" name="Text 6"/>
          <p:cNvSpPr/>
          <p:nvPr/>
        </p:nvSpPr>
        <p:spPr>
          <a:xfrm>
            <a:off x="8067675" y="4063206"/>
            <a:ext cx="3308350" cy="372070"/>
          </a:xfrm>
          <a:prstGeom prst="roundRect">
            <a:avLst>
              <a:gd name="adj" fmla="val 16213"/>
            </a:avLst>
          </a:prstGeom>
          <a:solidFill>
            <a:srgbClr val="FDFCF8"/>
          </a:solidFill>
          <a:ln w="6350">
            <a:solidFill>
              <a:srgbClr val="C9C3B5"/>
            </a:solidFill>
            <a:prstDash val="solid"/>
          </a:ln>
        </p:spPr>
        <p:txBody>
          <a:bodyPr wrap="square" lIns="66786" tIns="61706" rIns="66786" bIns="36306" rtlCol="0" anchor="t">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La lógica avisa al observador</a:t>
            </a:r>
            <a:endParaRPr lang="en-US" sz="1200" dirty="0"/>
          </a:p>
        </p:txBody>
      </p:sp>
      <p:pic>
        <p:nvPicPr>
          <p:cNvPr id="12" name="Image 3" descr="arrow-down">    </p:cNvPr>
          <p:cNvPicPr>
            <a:picLocks noChangeAspect="1"/>
          </p:cNvPicPr>
          <p:nvPr/>
        </p:nvPicPr>
        <p:blipFill>
          <a:blip r:embed="rId4"/>
          <a:srcRect l="0" r="0" t="0" b="0"/>
          <a:stretch/>
        </p:blipFill>
        <p:spPr>
          <a:xfrm>
            <a:off x="9632950" y="4501952"/>
            <a:ext cx="177800" cy="228600"/>
          </a:xfrm>
          <a:prstGeom prst="rect">
            <a:avLst/>
          </a:prstGeom>
        </p:spPr>
      </p:pic>
      <p:sp>
        <p:nvSpPr>
          <p:cNvPr id="13" name="Text 7"/>
          <p:cNvSpPr/>
          <p:nvPr/>
        </p:nvSpPr>
        <p:spPr>
          <a:xfrm>
            <a:off x="8067675" y="4797227"/>
            <a:ext cx="3308350" cy="372070"/>
          </a:xfrm>
          <a:prstGeom prst="roundRect">
            <a:avLst>
              <a:gd name="adj" fmla="val 16213"/>
            </a:avLst>
          </a:prstGeom>
          <a:solidFill>
            <a:srgbClr val="FDFCF8"/>
          </a:solidFill>
          <a:ln w="6350">
            <a:solidFill>
              <a:srgbClr val="C9C3B5"/>
            </a:solidFill>
            <a:prstDash val="solid"/>
          </a:ln>
        </p:spPr>
        <p:txBody>
          <a:bodyPr wrap="square" lIns="66786" tIns="61706" rIns="66786" bIns="36306" rtlCol="0" anchor="t">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La GUI grafica y anima</a:t>
            </a:r>
            <a:endParaRPr lang="en-US" sz="1200" dirty="0"/>
          </a:p>
        </p:txBody>
      </p:sp>
      <p:sp>
        <p:nvSpPr>
          <p:cNvPr id="14"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Osciladores acoplados · de la física a PyPI</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5 · INTERFAZ GRÁFICA · 15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La GUI, en lenguaje cotidiano</a:t>
            </a:r>
            <a:endParaRPr lang="en-US" sz="3000" dirty="0"/>
          </a:p>
        </p:txBody>
      </p:sp>
      <p:sp>
        <p:nvSpPr>
          <p:cNvPr id="4" name="Text 2"/>
          <p:cNvSpPr/>
          <p:nvPr/>
        </p:nvSpPr>
        <p:spPr>
          <a:xfrm>
            <a:off x="812800" y="1870670"/>
            <a:ext cx="39243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IBM Plex Sans" pitchFamily="34" charset="0"/>
                <a:ea typeface="IBM Plex Sans" pitchFamily="34" charset="-122"/>
                <a:cs typeface="IBM Plex Sans" pitchFamily="34" charset="-120"/>
              </a:rPr>
              <a:t>CÓDIGO</a:t>
            </a:r>
            <a:endParaRPr lang="en-US" sz="1200" dirty="0"/>
          </a:p>
        </p:txBody>
      </p:sp>
      <p:sp>
        <p:nvSpPr>
          <p:cNvPr id="5" name="Text 3"/>
          <p:cNvSpPr/>
          <p:nvPr/>
        </p:nvSpPr>
        <p:spPr>
          <a:xfrm>
            <a:off x="4826000" y="1870670"/>
            <a:ext cx="674979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IBM Plex Sans" pitchFamily="34" charset="0"/>
                <a:ea typeface="IBM Plex Sans" pitchFamily="34" charset="-122"/>
                <a:cs typeface="IBM Plex Sans" pitchFamily="34" charset="-120"/>
              </a:rPr>
              <a:t>QUÉ SIGNIFICA</a:t>
            </a:r>
            <a:endParaRPr lang="en-US" sz="1200" dirty="0"/>
          </a:p>
        </p:txBody>
      </p:sp>
      <p:sp>
        <p:nvSpPr>
          <p:cNvPr id="6" name="Text 4"/>
          <p:cNvSpPr/>
          <p:nvPr/>
        </p:nvSpPr>
        <p:spPr>
          <a:xfrm>
            <a:off x="812800" y="2172891"/>
            <a:ext cx="3810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try: … except ValueError as error:</a:t>
            </a:r>
            <a:endParaRPr lang="en-US" sz="1200" dirty="0"/>
          </a:p>
        </p:txBody>
      </p:sp>
      <p:sp>
        <p:nvSpPr>
          <p:cNvPr id="7" name="Text 5"/>
          <p:cNvSpPr/>
          <p:nvPr/>
        </p:nvSpPr>
        <p:spPr>
          <a:xfrm>
            <a:off x="4826000" y="2172891"/>
            <a:ext cx="674979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«Intenta esto; si los datos fallan, no cierres el programa: haz esto otro». El problema queda guardado en error.</a:t>
            </a:r>
            <a:endParaRPr lang="en-US" sz="1200" dirty="0"/>
          </a:p>
        </p:txBody>
      </p:sp>
      <p:sp>
        <p:nvSpPr>
          <p:cNvPr id="8" name="Text 6"/>
          <p:cNvSpPr/>
          <p:nvPr/>
        </p:nvSpPr>
        <p:spPr>
          <a:xfrm>
            <a:off x="812800" y="2688431"/>
            <a:ext cx="3810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self.var_metodo.get()</a:t>
            </a:r>
            <a:endParaRPr lang="en-US" sz="1200" dirty="0"/>
          </a:p>
        </p:txBody>
      </p:sp>
      <p:sp>
        <p:nvSpPr>
          <p:cNvPr id="9" name="Text 7"/>
          <p:cNvSpPr/>
          <p:nvPr/>
        </p:nvSpPr>
        <p:spPr>
          <a:xfrm>
            <a:off x="4826000" y="2688431"/>
            <a:ext cx="67497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Lee lo que el usuario eligió. Las variables de tkinter se leen con .get() y se escriben con .set().</a:t>
            </a:r>
            <a:endParaRPr lang="en-US" sz="1200" dirty="0"/>
          </a:p>
        </p:txBody>
      </p:sp>
      <p:sp>
        <p:nvSpPr>
          <p:cNvPr id="10" name="Text 8"/>
          <p:cNvSpPr/>
          <p:nvPr/>
        </p:nvSpPr>
        <p:spPr>
          <a:xfrm>
            <a:off x="812800" y="3066852"/>
            <a:ext cx="3810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suscribir(self._al_recibir_resultado)</a:t>
            </a:r>
            <a:endParaRPr lang="en-US" sz="1200" dirty="0"/>
          </a:p>
        </p:txBody>
      </p:sp>
      <p:sp>
        <p:nvSpPr>
          <p:cNvPr id="11" name="Text 9"/>
          <p:cNvSpPr/>
          <p:nvPr/>
        </p:nvSpPr>
        <p:spPr>
          <a:xfrm>
            <a:off x="4826000" y="3066852"/>
            <a:ext cx="674979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Sin paréntesis: se entrega la función sin ejecutarla. Es dejar el teléfono para que la lógica llame al terminar (callback).</a:t>
            </a:r>
            <a:endParaRPr lang="en-US" sz="1200" dirty="0"/>
          </a:p>
        </p:txBody>
      </p:sp>
      <p:sp>
        <p:nvSpPr>
          <p:cNvPr id="12" name="Text 10"/>
          <p:cNvSpPr/>
          <p:nvPr/>
        </p:nvSpPr>
        <p:spPr>
          <a:xfrm>
            <a:off x="812800" y="3582392"/>
            <a:ext cx="3810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messagebox.showerror(…)</a:t>
            </a:r>
            <a:endParaRPr lang="en-US" sz="1200" dirty="0"/>
          </a:p>
        </p:txBody>
      </p:sp>
      <p:sp>
        <p:nvSpPr>
          <p:cNvPr id="13" name="Text 11"/>
          <p:cNvSpPr/>
          <p:nvPr/>
        </p:nvSpPr>
        <p:spPr>
          <a:xfrm>
            <a:off x="4826000" y="3582392"/>
            <a:ext cx="674979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Abre una ventanita con el mensaje que escribió la lógica, por ejemplo «Con 3 masas se necesitan 4 constantes».</a:t>
            </a:r>
            <a:endParaRPr lang="en-US" sz="1200" dirty="0"/>
          </a:p>
        </p:txBody>
      </p:sp>
      <p:sp>
        <p:nvSpPr>
          <p:cNvPr id="14" name="Text 12"/>
          <p:cNvSpPr/>
          <p:nvPr/>
        </p:nvSpPr>
        <p:spPr>
          <a:xfrm>
            <a:off x="812800" y="4097933"/>
            <a:ext cx="3810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self._graficar_posiciones()</a:t>
            </a:r>
            <a:endParaRPr lang="en-US" sz="1200" dirty="0"/>
          </a:p>
        </p:txBody>
      </p:sp>
      <p:sp>
        <p:nvSpPr>
          <p:cNvPr id="15" name="Text 13"/>
          <p:cNvSpPr/>
          <p:nvPr/>
        </p:nvSpPr>
        <p:spPr>
          <a:xfrm>
            <a:off x="4826000" y="4097933"/>
            <a:ext cx="67497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Dibuja con matplotlib dentro de la ventana; la GUI sólo dibuja lo que la lógica ya calculó.</a:t>
            </a:r>
            <a:endParaRPr lang="en-US" sz="12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Osciladores acoplados · de la física a PyPI</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6 · PRUEBAS · 10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Las pruebas comprueban la física</a:t>
            </a:r>
            <a:endParaRPr lang="en-US" sz="3000" dirty="0"/>
          </a:p>
        </p:txBody>
      </p:sp>
      <p:sp>
        <p:nvSpPr>
          <p:cNvPr id="4" name="Text 2"/>
          <p:cNvSpPr/>
          <p:nvPr/>
        </p:nvSpPr>
        <p:spPr>
          <a:xfrm>
            <a:off x="812800" y="1870670"/>
            <a:ext cx="6413500" cy="3179564"/>
          </a:xfrm>
          <a:prstGeom prst="roundRect">
            <a:avLst>
              <a:gd name="adj" fmla="val 3195"/>
            </a:avLst>
          </a:prstGeom>
          <a:solidFill>
            <a:srgbClr val="14213D"/>
          </a:solidFill>
          <a:ln/>
        </p:spPr>
        <p:txBody>
          <a:bodyPr wrap="none" lIns="224242" tIns="173442" rIns="47077" bIns="148042" rtlCol="0" anchor="t">
            <a:normAutofit/>
          </a:bodyPr>
          <a:lstStyle/>
          <a:p>
            <a:pPr algn="l" indent="0" marL="0">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test_frecuencias_dos_masas_tres_resortes():</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m, k = 2.0, 8.0</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sis = SistemaOsciladores([m, m], [k, k, k])</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w, _ = sis.modos_normales()</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assert</a:t>
            </a:r>
            <a:r>
              <a:rPr lang="en-US" sz="1200" dirty="0">
                <a:solidFill>
                  <a:srgbClr val="E8EDF5"/>
                </a:solidFill>
                <a:latin typeface="JetBrains Mono" pitchFamily="49" charset="0"/>
                <a:ea typeface="JetBrains Mono" pitchFamily="49" charset="-122"/>
                <a:cs typeface="JetBrains Mono" pitchFamily="49" charset="-120"/>
              </a:rPr>
              <a:t> np.allclose(w, [np.sqrt(k/m), np.sqrt(3*k/m)])</a:t>
            </a:r>
            <a:endParaRPr lang="en-US" sz="1200" dirty="0"/>
          </a:p>
          <a:p>
            <a:pPr algn="l" indent="0" marL="0">
              <a:lnSpc>
                <a:spcPts val="1680"/>
              </a:lnSpc>
              <a:buNone/>
            </a:pPr>
            <a:endParaRPr lang="en-US" sz="1200" dirty="0"/>
          </a:p>
          <a:p>
            <a:pPr algn="l" indent="0" marL="0">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test_verlet_conserva_energia_y_euler_no():</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assert</a:t>
            </a:r>
            <a:r>
              <a:rPr lang="en-US" sz="1200" dirty="0">
                <a:solidFill>
                  <a:srgbClr val="E8EDF5"/>
                </a:solidFill>
                <a:latin typeface="JetBrains Mono" pitchFamily="49" charset="0"/>
                <a:ea typeface="JetBrains Mono" pitchFamily="49" charset="-122"/>
                <a:cs typeface="JetBrains Mono" pitchFamily="49" charset="-120"/>
              </a:rPr>
              <a:t> max(abs(ver.error_energia_relativo)) &lt; 1e-2</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assert</a:t>
            </a:r>
            <a:r>
              <a:rPr lang="en-US" sz="1200" dirty="0">
                <a:solidFill>
                  <a:srgbClr val="E8EDF5"/>
                </a:solidFill>
                <a:latin typeface="JetBrains Mono" pitchFamily="49" charset="0"/>
                <a:ea typeface="JetBrains Mono" pitchFamily="49" charset="-122"/>
                <a:cs typeface="JetBrains Mono" pitchFamily="49" charset="-120"/>
              </a:rPr>
              <a:t> eul.error_energia_relativo[-1] &gt; 0.5</a:t>
            </a:r>
            <a:endParaRPr lang="en-US" sz="1200" dirty="0"/>
          </a:p>
          <a:p>
            <a:pPr algn="l" indent="0" marL="0">
              <a:lnSpc>
                <a:spcPts val="1680"/>
              </a:lnSpc>
              <a:buNone/>
            </a:pP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pytest -v</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14 passed ================</a:t>
            </a:r>
            <a:endParaRPr lang="en-US" sz="1200" dirty="0"/>
          </a:p>
        </p:txBody>
      </p:sp>
      <p:sp>
        <p:nvSpPr>
          <p:cNvPr id="5" name="Shape 3"/>
          <p:cNvSpPr/>
          <p:nvPr/>
        </p:nvSpPr>
        <p:spPr>
          <a:xfrm>
            <a:off x="7432675" y="1873845"/>
            <a:ext cx="3943350" cy="1885950"/>
          </a:xfrm>
          <a:prstGeom prst="roundRect">
            <a:avLst>
              <a:gd name="adj" fmla="val 5219"/>
            </a:avLst>
          </a:prstGeom>
          <a:solidFill>
            <a:srgbClr val="FDFCF8"/>
          </a:solidFill>
          <a:ln w="6350">
            <a:solidFill>
              <a:srgbClr val="E2DED3"/>
            </a:solidFill>
            <a:prstDash val="solid"/>
          </a:ln>
        </p:spPr>
      </p:sp>
      <p:sp>
        <p:nvSpPr>
          <p:cNvPr id="6" name="Text 4"/>
          <p:cNvSpPr/>
          <p:nvPr/>
        </p:nvSpPr>
        <p:spPr>
          <a:xfrm>
            <a:off x="7639050" y="2080220"/>
            <a:ext cx="363651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Qué probar en física</a:t>
            </a:r>
            <a:endParaRPr lang="en-US" sz="1500" dirty="0"/>
          </a:p>
        </p:txBody>
      </p:sp>
      <p:sp>
        <p:nvSpPr>
          <p:cNvPr id="7" name="Text 5"/>
          <p:cNvSpPr/>
          <p:nvPr/>
        </p:nvSpPr>
        <p:spPr>
          <a:xfrm>
            <a:off x="7737856" y="2410420"/>
            <a:ext cx="3530092" cy="1168400"/>
          </a:xfrm>
          <a:prstGeom prst="rect">
            <a:avLst/>
          </a:prstGeom>
          <a:noFill/>
          <a:ln/>
        </p:spPr>
        <p:txBody>
          <a:bodyPr wrap="square" lIns="0" tIns="0" rIns="0" bIns="0" rtlCol="0" anchor="t">
            <a:normAutofit/>
          </a:bodyPr>
          <a:lstStyle/>
          <a:p>
            <a:pPr algn="l" marL="155194" indent="-155194">
              <a:lnSpc>
                <a:spcPts val="180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Casos con solución analítica</a:t>
            </a:r>
            <a:endParaRPr lang="en-US" sz="1200" dirty="0"/>
          </a:p>
          <a:p>
            <a:pPr algn="l" marL="155194" indent="-155194">
              <a:lnSpc>
                <a:spcPts val="1800"/>
              </a:lnSpc>
              <a:buSzPct val="100000"/>
              <a:buChar char="•"/>
            </a:pPr>
            <a:r>
              <a:rPr lang="en-US" sz="1200" dirty="0">
                <a:solidFill>
                  <a:srgbClr val="3E4A5C"/>
                </a:solidFill>
                <a:latin typeface="IBM Plex Sans" pitchFamily="34" charset="0"/>
                <a:ea typeface="IBM Plex Sans" pitchFamily="34" charset="-122"/>
                <a:cs typeface="IBM Plex Sans" pitchFamily="34" charset="-120"/>
              </a:rPr>
              <a:t>Leyes de conservación</a:t>
            </a:r>
            <a:endParaRPr lang="en-US" sz="1200" dirty="0"/>
          </a:p>
          <a:p>
            <a:pPr algn="l" marL="155194" indent="-155194">
              <a:lnSpc>
                <a:spcPts val="1800"/>
              </a:lnSpc>
              <a:buSzPct val="100000"/>
              <a:buChar char="•"/>
            </a:pPr>
            <a:r>
              <a:rPr lang="en-US" sz="1200" dirty="0">
                <a:solidFill>
                  <a:srgbClr val="3E4A5C"/>
                </a:solidFill>
                <a:latin typeface="IBM Plex Sans" pitchFamily="34" charset="0"/>
                <a:ea typeface="IBM Plex Sans" pitchFamily="34" charset="-122"/>
                <a:cs typeface="IBM Plex Sans" pitchFamily="34" charset="-120"/>
              </a:rPr>
              <a:t>Propiedades: ΦᵀM Φ = I</a:t>
            </a:r>
            <a:endParaRPr lang="en-US" sz="1200" dirty="0"/>
          </a:p>
          <a:p>
            <a:pPr algn="l" marL="155194" indent="-155194">
              <a:lnSpc>
                <a:spcPts val="1800"/>
              </a:lnSpc>
              <a:buSzPct val="100000"/>
              <a:buChar char="•"/>
            </a:pPr>
            <a:r>
              <a:rPr lang="en-US" sz="1200" dirty="0">
                <a:solidFill>
                  <a:srgbClr val="3E4A5C"/>
                </a:solidFill>
                <a:latin typeface="IBM Plex Sans" pitchFamily="34" charset="0"/>
                <a:ea typeface="IBM Plex Sans" pitchFamily="34" charset="-122"/>
                <a:cs typeface="IBM Plex Sans" pitchFamily="34" charset="-120"/>
              </a:rPr>
              <a:t>Métodos numéricos contra el exacto</a:t>
            </a:r>
            <a:endParaRPr lang="en-US" sz="1200" dirty="0"/>
          </a:p>
          <a:p>
            <a:pPr algn="l" marL="155194" indent="-155194">
              <a:lnSpc>
                <a:spcPts val="1800"/>
              </a:lnSpc>
              <a:buSzPct val="100000"/>
              <a:buChar char="•"/>
            </a:pPr>
            <a:r>
              <a:rPr lang="en-US" sz="1200" dirty="0">
                <a:solidFill>
                  <a:srgbClr val="3E4A5C"/>
                </a:solidFill>
                <a:latin typeface="IBM Plex Sans" pitchFamily="34" charset="0"/>
                <a:ea typeface="IBM Plex Sans" pitchFamily="34" charset="-122"/>
                <a:cs typeface="IBM Plex Sans" pitchFamily="34" charset="-120"/>
              </a:rPr>
              <a:t>Entradas inválidas → ValueError</a:t>
            </a:r>
            <a:endParaRPr lang="en-US" sz="1200" dirty="0"/>
          </a:p>
        </p:txBody>
      </p:sp>
      <p:sp>
        <p:nvSpPr>
          <p:cNvPr id="8" name="Shape 6"/>
          <p:cNvSpPr/>
          <p:nvPr/>
        </p:nvSpPr>
        <p:spPr>
          <a:xfrm>
            <a:off x="7429500" y="3915370"/>
            <a:ext cx="3949700" cy="1137841"/>
          </a:xfrm>
          <a:prstGeom prst="roundRect">
            <a:avLst>
              <a:gd name="adj" fmla="val 8929"/>
            </a:avLst>
          </a:prstGeom>
          <a:solidFill>
            <a:srgbClr val="14213D"/>
          </a:solidFill>
          <a:ln/>
        </p:spPr>
      </p:sp>
      <p:sp>
        <p:nvSpPr>
          <p:cNvPr id="9" name="Text 7"/>
          <p:cNvSpPr/>
          <p:nvPr/>
        </p:nvSpPr>
        <p:spPr>
          <a:xfrm>
            <a:off x="7632700" y="4118570"/>
            <a:ext cx="364959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35E"/>
                </a:solidFill>
                <a:latin typeface="Rubik" pitchFamily="34" charset="0"/>
                <a:ea typeface="Rubik" pitchFamily="34" charset="-122"/>
                <a:cs typeface="Rubik" pitchFamily="34" charset="-120"/>
              </a:rPr>
              <a:t>Por qué ahora</a:t>
            </a:r>
            <a:endParaRPr lang="en-US" sz="1500" dirty="0"/>
          </a:p>
        </p:txBody>
      </p:sp>
      <p:sp>
        <p:nvSpPr>
          <p:cNvPr id="10" name="Text 8"/>
          <p:cNvSpPr/>
          <p:nvPr/>
        </p:nvSpPr>
        <p:spPr>
          <a:xfrm>
            <a:off x="7632700" y="4423370"/>
            <a:ext cx="364959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Antes de publicar, cada cambio debe dejar las 14 pruebas en verde.</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Osciladores acoplados · de la física a PyPI</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6 · PRUEBAS · 10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Cómo se lee una prueba</a:t>
            </a:r>
            <a:endParaRPr lang="en-US" sz="3000" dirty="0"/>
          </a:p>
        </p:txBody>
      </p:sp>
      <p:sp>
        <p:nvSpPr>
          <p:cNvPr id="4" name="Text 2"/>
          <p:cNvSpPr/>
          <p:nvPr/>
        </p:nvSpPr>
        <p:spPr>
          <a:xfrm>
            <a:off x="812800" y="1870670"/>
            <a:ext cx="34010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IBM Plex Sans" pitchFamily="34" charset="0"/>
                <a:ea typeface="IBM Plex Sans" pitchFamily="34" charset="-122"/>
                <a:cs typeface="IBM Plex Sans" pitchFamily="34" charset="-120"/>
              </a:rPr>
              <a:t>CÓDIGO</a:t>
            </a:r>
            <a:endParaRPr lang="en-US" sz="1200" dirty="0"/>
          </a:p>
        </p:txBody>
      </p:sp>
      <p:sp>
        <p:nvSpPr>
          <p:cNvPr id="5" name="Text 3"/>
          <p:cNvSpPr/>
          <p:nvPr/>
        </p:nvSpPr>
        <p:spPr>
          <a:xfrm>
            <a:off x="4318000" y="1870670"/>
            <a:ext cx="727303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IBM Plex Sans" pitchFamily="34" charset="0"/>
                <a:ea typeface="IBM Plex Sans" pitchFamily="34" charset="-122"/>
                <a:cs typeface="IBM Plex Sans" pitchFamily="34" charset="-120"/>
              </a:rPr>
              <a:t>QUÉ SIGNIFICA</a:t>
            </a:r>
            <a:endParaRPr lang="en-US" sz="1200" dirty="0"/>
          </a:p>
        </p:txBody>
      </p:sp>
      <p:sp>
        <p:nvSpPr>
          <p:cNvPr id="6" name="Text 4"/>
          <p:cNvSpPr/>
          <p:nvPr/>
        </p:nvSpPr>
        <p:spPr>
          <a:xfrm>
            <a:off x="812800" y="2172891"/>
            <a:ext cx="3302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def test_…():</a:t>
            </a:r>
            <a:endParaRPr lang="en-US" sz="1200" dirty="0"/>
          </a:p>
        </p:txBody>
      </p:sp>
      <p:sp>
        <p:nvSpPr>
          <p:cNvPr id="7" name="Text 5"/>
          <p:cNvSpPr/>
          <p:nvPr/>
        </p:nvSpPr>
        <p:spPr>
          <a:xfrm>
            <a:off x="4318000" y="2172891"/>
            <a:ext cx="7874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pytest busca solo las funciones cuyo nombre empieza con test_ en la carpeta tests/ y las ejecuta todas.</a:t>
            </a:r>
            <a:endParaRPr lang="en-US" sz="1200" dirty="0"/>
          </a:p>
        </p:txBody>
      </p:sp>
      <p:sp>
        <p:nvSpPr>
          <p:cNvPr id="8" name="Text 6"/>
          <p:cNvSpPr/>
          <p:nvPr/>
        </p:nvSpPr>
        <p:spPr>
          <a:xfrm>
            <a:off x="812800" y="2551311"/>
            <a:ext cx="3302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assert condición</a:t>
            </a:r>
            <a:endParaRPr lang="en-US" sz="1200" dirty="0"/>
          </a:p>
        </p:txBody>
      </p:sp>
      <p:sp>
        <p:nvSpPr>
          <p:cNvPr id="9" name="Text 7"/>
          <p:cNvSpPr/>
          <p:nvPr/>
        </p:nvSpPr>
        <p:spPr>
          <a:xfrm>
            <a:off x="4318000" y="2551311"/>
            <a:ext cx="7874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«Afirmo que esto es verdad». Si es falso, la prueba falla y pytest muestra qué valores no coincidieron.</a:t>
            </a:r>
            <a:endParaRPr lang="en-US" sz="1200" dirty="0"/>
          </a:p>
        </p:txBody>
      </p:sp>
      <p:sp>
        <p:nvSpPr>
          <p:cNvPr id="10" name="Text 8"/>
          <p:cNvSpPr/>
          <p:nvPr/>
        </p:nvSpPr>
        <p:spPr>
          <a:xfrm>
            <a:off x="812800" y="2929731"/>
            <a:ext cx="3302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np.allclose(a, b)</a:t>
            </a:r>
            <a:endParaRPr lang="en-US" sz="1200" dirty="0"/>
          </a:p>
        </p:txBody>
      </p:sp>
      <p:sp>
        <p:nvSpPr>
          <p:cNvPr id="11" name="Text 9"/>
          <p:cNvSpPr/>
          <p:nvPr/>
        </p:nvSpPr>
        <p:spPr>
          <a:xfrm>
            <a:off x="4318000" y="2929731"/>
            <a:ext cx="72730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Compara decimales con tolerancia: en un computador 0.1 + 0.2 no es exactamente 0.3.</a:t>
            </a:r>
            <a:endParaRPr lang="en-US" sz="1200" dirty="0"/>
          </a:p>
        </p:txBody>
      </p:sp>
      <p:sp>
        <p:nvSpPr>
          <p:cNvPr id="12" name="Text 10"/>
          <p:cNvSpPr/>
          <p:nvPr/>
        </p:nvSpPr>
        <p:spPr>
          <a:xfrm>
            <a:off x="812800" y="3308152"/>
            <a:ext cx="3302000" cy="289520"/>
          </a:xfrm>
          <a:prstGeom prst="roundRect">
            <a:avLst>
              <a:gd name="adj" fmla="val 17546"/>
            </a:avLst>
          </a:prstGeom>
          <a:solidFill>
            <a:srgbClr val="EFEBE1"/>
          </a:solidFill>
          <a:ln/>
        </p:spPr>
        <p:txBody>
          <a:bodyPr wrap="square" lIns="61321" tIns="23221"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pytest.raises(ValueError)</a:t>
            </a:r>
            <a:endParaRPr lang="en-US" sz="1200" dirty="0"/>
          </a:p>
        </p:txBody>
      </p:sp>
      <p:sp>
        <p:nvSpPr>
          <p:cNvPr id="13" name="Text 11"/>
          <p:cNvSpPr/>
          <p:nvPr/>
        </p:nvSpPr>
        <p:spPr>
          <a:xfrm>
            <a:off x="4318000" y="3308152"/>
            <a:ext cx="727303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Comprueba que el programa sí proteste ante datos inválidos: eso también es un comportamiento esperado.</a:t>
            </a:r>
            <a:endParaRPr lang="en-US" sz="1200" dirty="0"/>
          </a:p>
        </p:txBody>
      </p:sp>
      <p:sp>
        <p:nvSpPr>
          <p:cNvPr id="14" name="Shape 12"/>
          <p:cNvSpPr/>
          <p:nvPr/>
        </p:nvSpPr>
        <p:spPr>
          <a:xfrm>
            <a:off x="812800" y="3937992"/>
            <a:ext cx="10566400" cy="909241"/>
          </a:xfrm>
          <a:prstGeom prst="roundRect">
            <a:avLst>
              <a:gd name="adj" fmla="val 11174"/>
            </a:avLst>
          </a:prstGeom>
          <a:solidFill>
            <a:srgbClr val="14213D"/>
          </a:solidFill>
          <a:ln/>
        </p:spPr>
      </p:sp>
      <p:sp>
        <p:nvSpPr>
          <p:cNvPr id="15" name="Text 13"/>
          <p:cNvSpPr/>
          <p:nvPr/>
        </p:nvSpPr>
        <p:spPr>
          <a:xfrm>
            <a:off x="1016000" y="4141192"/>
            <a:ext cx="1046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tests/test_core.py ......F.......</a:t>
            </a:r>
            <a:endParaRPr lang="en-US" sz="1200" dirty="0"/>
          </a:p>
        </p:txBody>
      </p:sp>
      <p:sp>
        <p:nvSpPr>
          <p:cNvPr id="16" name="Text 14"/>
          <p:cNvSpPr/>
          <p:nvPr/>
        </p:nvSpPr>
        <p:spPr>
          <a:xfrm>
            <a:off x="1016000" y="4430713"/>
            <a:ext cx="1046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Cada punto es una prueba que pasa; una F es una que falla. Al final pytest resume, por ejemplo, 13 passed, 1 failed.</a:t>
            </a:r>
            <a:endParaRPr lang="en-US" sz="12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Osciladores acoplados · de la física a PyPI</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7 · PYPI · 20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La estructura que espera PyPI</a:t>
            </a:r>
            <a:endParaRPr lang="en-US" sz="3000" dirty="0"/>
          </a:p>
        </p:txBody>
      </p:sp>
      <p:sp>
        <p:nvSpPr>
          <p:cNvPr id="4" name="Text 2"/>
          <p:cNvSpPr/>
          <p:nvPr/>
        </p:nvSpPr>
        <p:spPr>
          <a:xfrm>
            <a:off x="812800" y="1870670"/>
            <a:ext cx="5181600" cy="2752923"/>
          </a:xfrm>
          <a:prstGeom prst="roundRect">
            <a:avLst>
              <a:gd name="adj" fmla="val 3691"/>
            </a:avLst>
          </a:prstGeom>
          <a:solidFill>
            <a:srgbClr val="14213D"/>
          </a:solidFill>
          <a:ln/>
        </p:spPr>
        <p:txBody>
          <a:bodyPr wrap="none" lIns="224242" tIns="173442" rIns="84034" bIns="148042" rtlCol="0" anchor="t">
            <a:normAutofit/>
          </a:bodyPr>
          <a:lstStyle/>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osciladores-acoplados/</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pyproject.toml</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README.md</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LICENSE</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src/</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 osciladores_acoplados/</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 __init__.py</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 core.py</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tests/test_core.py</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GUI.py           ← no se publica</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ejemplo_consola.py</a:t>
            </a:r>
            <a:endParaRPr lang="en-US" sz="1200" dirty="0"/>
          </a:p>
        </p:txBody>
      </p:sp>
      <p:sp>
        <p:nvSpPr>
          <p:cNvPr id="5" name="Text 3"/>
          <p:cNvSpPr/>
          <p:nvPr/>
        </p:nvSpPr>
        <p:spPr>
          <a:xfrm>
            <a:off x="6197600" y="1870670"/>
            <a:ext cx="5181600" cy="2752923"/>
          </a:xfrm>
          <a:prstGeom prst="roundRect">
            <a:avLst>
              <a:gd name="adj" fmla="val 3691"/>
            </a:avLst>
          </a:prstGeom>
          <a:solidFill>
            <a:srgbClr val="14213D"/>
          </a:solidFill>
          <a:ln/>
        </p:spPr>
        <p:txBody>
          <a:bodyPr wrap="none" lIns="224242" tIns="173442" rIns="84034" bIns="148042" rtlCol="0" anchor="t">
            <a:normAutofit/>
          </a:bodyPr>
          <a:lstStyle/>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[project]</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name = "osciladores-acoplados"</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version = "0.1.0"</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requires-python = "&gt;=3.9"</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dependencies = ["numpy&gt;=1.22"]</a:t>
            </a:r>
            <a:endParaRPr lang="en-US" sz="1200" dirty="0"/>
          </a:p>
          <a:p>
            <a:pPr algn="l" indent="0" marL="0">
              <a:lnSpc>
                <a:spcPts val="1680"/>
              </a:lnSpc>
              <a:buNone/>
            </a:pP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[project.optional-dependencies]</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gui = ["matplotlib&gt;=3.5"]</a:t>
            </a:r>
            <a:endParaRPr lang="en-US" sz="1200" dirty="0"/>
          </a:p>
          <a:p>
            <a:pPr algn="l" indent="0" marL="0">
              <a:lnSpc>
                <a:spcPts val="1680"/>
              </a:lnSpc>
              <a:buNone/>
            </a:pP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[tool.setuptools.packages.find]</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where = ["src"]</a:t>
            </a:r>
            <a:endParaRPr lang="en-US" sz="1200" dirty="0"/>
          </a:p>
        </p:txBody>
      </p:sp>
      <p:sp>
        <p:nvSpPr>
          <p:cNvPr id="6" name="Text 4"/>
          <p:cNvSpPr/>
          <p:nvPr/>
        </p:nvSpPr>
        <p:spPr>
          <a:xfrm>
            <a:off x="812800" y="4826794"/>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A5C"/>
                </a:solidFill>
                <a:latin typeface="IBM Plex Sans" pitchFamily="34" charset="0"/>
                <a:ea typeface="IBM Plex Sans" pitchFamily="34" charset="-122"/>
                <a:cs typeface="IBM Plex Sans" pitchFamily="34" charset="-120"/>
              </a:rPr>
              <a:t>Se instala como </a:t>
            </a:r>
            <a:r>
              <a:rPr lang="en-US" sz="1500" b="1" dirty="0">
                <a:solidFill>
                  <a:srgbClr val="3E4A5C"/>
                </a:solidFill>
                <a:latin typeface="IBM Plex Sans" pitchFamily="34" charset="0"/>
                <a:ea typeface="IBM Plex Sans" pitchFamily="34" charset="-122"/>
                <a:cs typeface="IBM Plex Sans" pitchFamily="34" charset="-120"/>
              </a:rPr>
              <a:t>osciladores-acoplados</a:t>
            </a:r>
            <a:r>
              <a:rPr lang="en-US" sz="1500" dirty="0">
                <a:solidFill>
                  <a:srgbClr val="3E4A5C"/>
                </a:solidFill>
                <a:latin typeface="IBM Plex Sans" pitchFamily="34" charset="0"/>
                <a:ea typeface="IBM Plex Sans" pitchFamily="34" charset="-122"/>
                <a:cs typeface="IBM Plex Sans" pitchFamily="34" charset="-120"/>
              </a:rPr>
              <a:t> y se importa como </a:t>
            </a:r>
            <a:r>
              <a:rPr lang="en-US" sz="1500" b="1" dirty="0">
                <a:solidFill>
                  <a:srgbClr val="3E4A5C"/>
                </a:solidFill>
                <a:latin typeface="IBM Plex Sans" pitchFamily="34" charset="0"/>
                <a:ea typeface="IBM Plex Sans" pitchFamily="34" charset="-122"/>
                <a:cs typeface="IBM Plex Sans" pitchFamily="34" charset="-120"/>
              </a:rPr>
              <a:t>osciladores_acoplados</a:t>
            </a:r>
            <a:r>
              <a:rPr lang="en-US" sz="1500" dirty="0">
                <a:solidFill>
                  <a:srgbClr val="3E4A5C"/>
                </a:solidFill>
                <a:latin typeface="IBM Plex Sans" pitchFamily="34" charset="0"/>
                <a:ea typeface="IBM Plex Sans" pitchFamily="34" charset="-122"/>
                <a:cs typeface="IBM Plex Sans" pitchFamily="34" charset="-120"/>
              </a:rPr>
              <a:t>. Sólo lo que está en src/ entra al paquete.</a:t>
            </a:r>
            <a:endParaRPr lang="en-US" sz="1500" dirty="0"/>
          </a:p>
        </p:txBody>
      </p:sp>
      <p:sp>
        <p:nvSpPr>
          <p:cNvPr id="7"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Osciladores acoplados · de la física a PyPI</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7 · PYPI · 20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Instalar el proyecto como un profesional</a:t>
            </a:r>
            <a:endParaRPr lang="en-US" sz="3000" dirty="0"/>
          </a:p>
        </p:txBody>
      </p:sp>
      <p:sp>
        <p:nvSpPr>
          <p:cNvPr id="4" name="Text 2"/>
          <p:cNvSpPr/>
          <p:nvPr/>
        </p:nvSpPr>
        <p:spPr>
          <a:xfrm>
            <a:off x="812800" y="1870670"/>
            <a:ext cx="533704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IBM Plex Sans" pitchFamily="34" charset="0"/>
                <a:ea typeface="IBM Plex Sans" pitchFamily="34" charset="-122"/>
                <a:cs typeface="IBM Plex Sans" pitchFamily="34" charset="-120"/>
              </a:rPr>
              <a:t>EL ERROR QUE TODOS VERÁN</a:t>
            </a:r>
            <a:endParaRPr lang="en-US" sz="1200" dirty="0"/>
          </a:p>
        </p:txBody>
      </p:sp>
      <p:sp>
        <p:nvSpPr>
          <p:cNvPr id="5" name="Text 3"/>
          <p:cNvSpPr/>
          <p:nvPr/>
        </p:nvSpPr>
        <p:spPr>
          <a:xfrm>
            <a:off x="812800" y="2185591"/>
            <a:ext cx="5181600" cy="1473002"/>
          </a:xfrm>
          <a:prstGeom prst="roundRect">
            <a:avLst>
              <a:gd name="adj" fmla="val 6897"/>
            </a:avLst>
          </a:prstGeom>
          <a:solidFill>
            <a:srgbClr val="14213D"/>
          </a:solidFill>
          <a:ln/>
        </p:spPr>
        <p:txBody>
          <a:bodyPr wrap="none" lIns="224242" tIns="173442" rIns="84034" bIns="148042" rtlCol="0" anchor="t">
            <a:normAutofit/>
          </a:bodyPr>
          <a:lstStyle/>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PS&gt; python .\GUI.py</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Traceback (most recent call last):</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File "GUI.py", line 21, </a:t>
            </a:r>
            <a:r>
              <a:rPr lang="en-US" sz="1200" dirty="0">
                <a:solidFill>
                  <a:srgbClr val="F0A35E"/>
                </a:solidFill>
                <a:latin typeface="JetBrains Mono" pitchFamily="49" charset="0"/>
                <a:ea typeface="JetBrains Mono" pitchFamily="49" charset="-122"/>
                <a:cs typeface="JetBrains Mono" pitchFamily="49" charset="-120"/>
              </a:rPr>
              <a:t>in</a:t>
            </a:r>
            <a:r>
              <a:rPr lang="en-US" sz="1200" dirty="0">
                <a:solidFill>
                  <a:srgbClr val="E8EDF5"/>
                </a:solidFill>
                <a:latin typeface="JetBrains Mono" pitchFamily="49" charset="0"/>
                <a:ea typeface="JetBrains Mono" pitchFamily="49" charset="-122"/>
                <a:cs typeface="JetBrains Mono" pitchFamily="49" charset="-120"/>
              </a:rPr>
              <a:t> &lt;module&gt;</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ModuleNotFoundError:</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No module named 'osciladores_acoplados'</a:t>
            </a:r>
            <a:endParaRPr lang="en-US" sz="1200" dirty="0"/>
          </a:p>
        </p:txBody>
      </p:sp>
      <p:sp>
        <p:nvSpPr>
          <p:cNvPr id="6" name="Text 4"/>
          <p:cNvSpPr/>
          <p:nvPr/>
        </p:nvSpPr>
        <p:spPr>
          <a:xfrm>
            <a:off x="812800" y="3760192"/>
            <a:ext cx="53370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La librería vive en src/ y Python no sabe que existe. No se arregla moviendo archivos ni tocando sys.path: se instala.</a:t>
            </a:r>
            <a:endParaRPr lang="en-US" sz="1200" dirty="0"/>
          </a:p>
        </p:txBody>
      </p:sp>
      <p:sp>
        <p:nvSpPr>
          <p:cNvPr id="7" name="Text 5"/>
          <p:cNvSpPr/>
          <p:nvPr/>
        </p:nvSpPr>
        <p:spPr>
          <a:xfrm>
            <a:off x="6197600" y="1870670"/>
            <a:ext cx="533704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3"/>
                </a:solidFill>
                <a:latin typeface="IBM Plex Sans" pitchFamily="34" charset="0"/>
                <a:ea typeface="IBM Plex Sans" pitchFamily="34" charset="-122"/>
                <a:cs typeface="IBM Plex Sans" pitchFamily="34" charset="-120"/>
              </a:rPr>
              <a:t>LA SOLUCIÓN, UNA VEZ POR PROYECTO</a:t>
            </a:r>
            <a:endParaRPr lang="en-US" sz="1200" dirty="0"/>
          </a:p>
        </p:txBody>
      </p:sp>
      <p:sp>
        <p:nvSpPr>
          <p:cNvPr id="8" name="Text 6"/>
          <p:cNvSpPr/>
          <p:nvPr/>
        </p:nvSpPr>
        <p:spPr>
          <a:xfrm>
            <a:off x="6197600" y="2185591"/>
            <a:ext cx="5181600" cy="1259681"/>
          </a:xfrm>
          <a:prstGeom prst="roundRect">
            <a:avLst>
              <a:gd name="adj" fmla="val 8066"/>
            </a:avLst>
          </a:prstGeom>
          <a:solidFill>
            <a:srgbClr val="14213D"/>
          </a:solidFill>
          <a:ln/>
        </p:spPr>
        <p:txBody>
          <a:bodyPr wrap="none" lIns="224242" tIns="173442" rIns="84034" bIns="148042" rtlCol="0" anchor="t">
            <a:normAutofit/>
          </a:bodyPr>
          <a:lstStyle/>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python -m venv .venv</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.\.venv\Scripts\Activate.ps1</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python -m pip install -e ".[gui,dev]"</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python GUI.py</a:t>
            </a:r>
            <a:endParaRPr lang="en-US" sz="1200" dirty="0"/>
          </a:p>
        </p:txBody>
      </p:sp>
      <p:sp>
        <p:nvSpPr>
          <p:cNvPr id="9" name="Text 7"/>
          <p:cNvSpPr/>
          <p:nvPr/>
        </p:nvSpPr>
        <p:spPr>
          <a:xfrm>
            <a:off x="6197600" y="3546872"/>
            <a:ext cx="1193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IBM Plex Sans" pitchFamily="34" charset="0"/>
                <a:ea typeface="IBM Plex Sans" pitchFamily="34" charset="-122"/>
                <a:cs typeface="IBM Plex Sans" pitchFamily="34" charset="-120"/>
              </a:rPr>
              <a:t>CÓDIGO</a:t>
            </a:r>
            <a:endParaRPr lang="en-US" sz="1200" dirty="0"/>
          </a:p>
        </p:txBody>
      </p:sp>
      <p:sp>
        <p:nvSpPr>
          <p:cNvPr id="10" name="Text 8"/>
          <p:cNvSpPr/>
          <p:nvPr/>
        </p:nvSpPr>
        <p:spPr>
          <a:xfrm>
            <a:off x="7543800" y="3546872"/>
            <a:ext cx="395046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IBM Plex Sans" pitchFamily="34" charset="0"/>
                <a:ea typeface="IBM Plex Sans" pitchFamily="34" charset="-122"/>
                <a:cs typeface="IBM Plex Sans" pitchFamily="34" charset="-120"/>
              </a:rPr>
              <a:t>QUÉ SIGNIFICA</a:t>
            </a:r>
            <a:endParaRPr lang="en-US" sz="1200" dirty="0"/>
          </a:p>
        </p:txBody>
      </p:sp>
      <p:sp>
        <p:nvSpPr>
          <p:cNvPr id="11" name="Text 9"/>
          <p:cNvSpPr/>
          <p:nvPr/>
        </p:nvSpPr>
        <p:spPr>
          <a:xfrm>
            <a:off x="6197600" y="3849092"/>
            <a:ext cx="1143000" cy="289520"/>
          </a:xfrm>
          <a:prstGeom prst="roundRect">
            <a:avLst>
              <a:gd name="adj" fmla="val 17546"/>
            </a:avLst>
          </a:prstGeom>
          <a:solidFill>
            <a:srgbClr val="EFEBE1"/>
          </a:solidFill>
          <a:ln/>
        </p:spPr>
        <p:txBody>
          <a:bodyPr wrap="square" lIns="61321" tIns="23221" rIns="10521"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.venv</a:t>
            </a:r>
            <a:endParaRPr lang="en-US" sz="1200" dirty="0"/>
          </a:p>
        </p:txBody>
      </p:sp>
      <p:sp>
        <p:nvSpPr>
          <p:cNvPr id="12" name="Text 10"/>
          <p:cNvSpPr/>
          <p:nvPr/>
        </p:nvSpPr>
        <p:spPr>
          <a:xfrm>
            <a:off x="7543800" y="3849092"/>
            <a:ext cx="39504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Un Python propio del proyecto, aislado de los demás.</a:t>
            </a:r>
            <a:endParaRPr lang="en-US" sz="1200" dirty="0"/>
          </a:p>
        </p:txBody>
      </p:sp>
      <p:sp>
        <p:nvSpPr>
          <p:cNvPr id="13" name="Text 11"/>
          <p:cNvSpPr/>
          <p:nvPr/>
        </p:nvSpPr>
        <p:spPr>
          <a:xfrm>
            <a:off x="6197600" y="4227513"/>
            <a:ext cx="1143000" cy="289520"/>
          </a:xfrm>
          <a:prstGeom prst="roundRect">
            <a:avLst>
              <a:gd name="adj" fmla="val 17546"/>
            </a:avLst>
          </a:prstGeom>
          <a:solidFill>
            <a:srgbClr val="EFEBE1"/>
          </a:solidFill>
          <a:ln/>
        </p:spPr>
        <p:txBody>
          <a:bodyPr wrap="square" lIns="61321" tIns="23221" rIns="10521"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-e</a:t>
            </a:r>
            <a:endParaRPr lang="en-US" sz="1200" dirty="0"/>
          </a:p>
        </p:txBody>
      </p:sp>
      <p:sp>
        <p:nvSpPr>
          <p:cNvPr id="14" name="Text 12"/>
          <p:cNvSpPr/>
          <p:nvPr/>
        </p:nvSpPr>
        <p:spPr>
          <a:xfrm>
            <a:off x="7543800" y="4227513"/>
            <a:ext cx="46024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Enlace a src/: los cambios en core.py se ven al instante.</a:t>
            </a:r>
            <a:endParaRPr lang="en-US" sz="1200" dirty="0"/>
          </a:p>
        </p:txBody>
      </p:sp>
      <p:sp>
        <p:nvSpPr>
          <p:cNvPr id="15" name="Text 13"/>
          <p:cNvSpPr/>
          <p:nvPr/>
        </p:nvSpPr>
        <p:spPr>
          <a:xfrm>
            <a:off x="6197600" y="4605933"/>
            <a:ext cx="1143000" cy="289520"/>
          </a:xfrm>
          <a:prstGeom prst="roundRect">
            <a:avLst>
              <a:gd name="adj" fmla="val 17546"/>
            </a:avLst>
          </a:prstGeom>
          <a:solidFill>
            <a:srgbClr val="EFEBE1"/>
          </a:solidFill>
          <a:ln/>
        </p:spPr>
        <p:txBody>
          <a:bodyPr wrap="square" lIns="61321" tIns="23221" rIns="10521"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[gui,dev]</a:t>
            </a:r>
            <a:endParaRPr lang="en-US" sz="1200" dirty="0"/>
          </a:p>
        </p:txBody>
      </p:sp>
      <p:sp>
        <p:nvSpPr>
          <p:cNvPr id="16" name="Text 14"/>
          <p:cNvSpPr/>
          <p:nvPr/>
        </p:nvSpPr>
        <p:spPr>
          <a:xfrm>
            <a:off x="7543800" y="4605933"/>
            <a:ext cx="39504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Añade matplotlib, pytest, build y twine.</a:t>
            </a:r>
            <a:endParaRPr lang="en-US" sz="12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En cada terminal nueva: activar el entorno · el prompt debe mostrar (.venv)</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7 · PYPI · 20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Seis pasos para publicar</a:t>
            </a:r>
            <a:endParaRPr lang="en-US" sz="3000" dirty="0"/>
          </a:p>
        </p:txBody>
      </p:sp>
      <p:sp>
        <p:nvSpPr>
          <p:cNvPr id="4" name="Shape 2"/>
          <p:cNvSpPr/>
          <p:nvPr/>
        </p:nvSpPr>
        <p:spPr>
          <a:xfrm>
            <a:off x="815975" y="1873845"/>
            <a:ext cx="3380284" cy="1398191"/>
          </a:xfrm>
          <a:prstGeom prst="roundRect">
            <a:avLst>
              <a:gd name="adj" fmla="val 7039"/>
            </a:avLst>
          </a:prstGeom>
          <a:solidFill>
            <a:srgbClr val="FDFCF8"/>
          </a:solidFill>
          <a:ln w="6350">
            <a:solidFill>
              <a:srgbClr val="E2DED3"/>
            </a:solidFill>
            <a:prstDash val="solid"/>
          </a:ln>
        </p:spPr>
      </p:sp>
      <p:sp>
        <p:nvSpPr>
          <p:cNvPr id="5" name="Text 3"/>
          <p:cNvSpPr/>
          <p:nvPr/>
        </p:nvSpPr>
        <p:spPr>
          <a:xfrm>
            <a:off x="1022350" y="2080220"/>
            <a:ext cx="305656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4531A"/>
                </a:solidFill>
                <a:latin typeface="Rubik" pitchFamily="34" charset="0"/>
                <a:ea typeface="Rubik" pitchFamily="34" charset="-122"/>
                <a:cs typeface="Rubik" pitchFamily="34" charset="-120"/>
              </a:rPr>
              <a:t>1</a:t>
            </a:r>
            <a:endParaRPr lang="en-US" sz="2200" dirty="0"/>
          </a:p>
        </p:txBody>
      </p:sp>
      <p:sp>
        <p:nvSpPr>
          <p:cNvPr id="6" name="Text 4"/>
          <p:cNvSpPr/>
          <p:nvPr/>
        </p:nvSpPr>
        <p:spPr>
          <a:xfrm>
            <a:off x="1022350" y="2547541"/>
            <a:ext cx="30565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Nombre y versión</a:t>
            </a:r>
            <a:endParaRPr lang="en-US" sz="1500" dirty="0"/>
          </a:p>
        </p:txBody>
      </p:sp>
      <p:sp>
        <p:nvSpPr>
          <p:cNvPr id="7" name="Text 5"/>
          <p:cNvSpPr/>
          <p:nvPr/>
        </p:nvSpPr>
        <p:spPr>
          <a:xfrm>
            <a:off x="1022350" y="2852341"/>
            <a:ext cx="3056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JetBrains Mono" pitchFamily="49" charset="0"/>
                <a:ea typeface="JetBrains Mono" pitchFamily="49" charset="-122"/>
                <a:cs typeface="JetBrains Mono" pitchFamily="49" charset="-120"/>
              </a:rPr>
              <a:t>editar pyproject.toml</a:t>
            </a:r>
            <a:endParaRPr lang="en-US" sz="1200" dirty="0"/>
          </a:p>
        </p:txBody>
      </p:sp>
      <p:sp>
        <p:nvSpPr>
          <p:cNvPr id="8" name="Shape 6"/>
          <p:cNvSpPr/>
          <p:nvPr/>
        </p:nvSpPr>
        <p:spPr>
          <a:xfrm>
            <a:off x="4405809" y="1873845"/>
            <a:ext cx="3380284" cy="1398191"/>
          </a:xfrm>
          <a:prstGeom prst="roundRect">
            <a:avLst>
              <a:gd name="adj" fmla="val 7039"/>
            </a:avLst>
          </a:prstGeom>
          <a:solidFill>
            <a:srgbClr val="FDFCF8"/>
          </a:solidFill>
          <a:ln w="6350">
            <a:solidFill>
              <a:srgbClr val="E2DED3"/>
            </a:solidFill>
            <a:prstDash val="solid"/>
          </a:ln>
        </p:spPr>
      </p:sp>
      <p:sp>
        <p:nvSpPr>
          <p:cNvPr id="9" name="Text 7"/>
          <p:cNvSpPr/>
          <p:nvPr/>
        </p:nvSpPr>
        <p:spPr>
          <a:xfrm>
            <a:off x="4612184" y="2080220"/>
            <a:ext cx="305656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4531A"/>
                </a:solidFill>
                <a:latin typeface="Rubik" pitchFamily="34" charset="0"/>
                <a:ea typeface="Rubik" pitchFamily="34" charset="-122"/>
                <a:cs typeface="Rubik" pitchFamily="34" charset="-120"/>
              </a:rPr>
              <a:t>2</a:t>
            </a:r>
            <a:endParaRPr lang="en-US" sz="2200" dirty="0"/>
          </a:p>
        </p:txBody>
      </p:sp>
      <p:sp>
        <p:nvSpPr>
          <p:cNvPr id="10" name="Text 8"/>
          <p:cNvSpPr/>
          <p:nvPr/>
        </p:nvSpPr>
        <p:spPr>
          <a:xfrm>
            <a:off x="4612184" y="2547541"/>
            <a:ext cx="30565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Construir</a:t>
            </a:r>
            <a:endParaRPr lang="en-US" sz="1500" dirty="0"/>
          </a:p>
        </p:txBody>
      </p:sp>
      <p:sp>
        <p:nvSpPr>
          <p:cNvPr id="11" name="Text 9"/>
          <p:cNvSpPr/>
          <p:nvPr/>
        </p:nvSpPr>
        <p:spPr>
          <a:xfrm>
            <a:off x="4612184" y="2852341"/>
            <a:ext cx="3056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JetBrains Mono" pitchFamily="49" charset="0"/>
                <a:ea typeface="JetBrains Mono" pitchFamily="49" charset="-122"/>
                <a:cs typeface="JetBrains Mono" pitchFamily="49" charset="-120"/>
              </a:rPr>
              <a:t>python -m build</a:t>
            </a:r>
            <a:endParaRPr lang="en-US" sz="1200" dirty="0"/>
          </a:p>
        </p:txBody>
      </p:sp>
      <p:sp>
        <p:nvSpPr>
          <p:cNvPr id="12" name="Shape 10"/>
          <p:cNvSpPr/>
          <p:nvPr/>
        </p:nvSpPr>
        <p:spPr>
          <a:xfrm>
            <a:off x="7995642" y="1873845"/>
            <a:ext cx="3380284" cy="1398191"/>
          </a:xfrm>
          <a:prstGeom prst="roundRect">
            <a:avLst>
              <a:gd name="adj" fmla="val 7039"/>
            </a:avLst>
          </a:prstGeom>
          <a:solidFill>
            <a:srgbClr val="FDFCF8"/>
          </a:solidFill>
          <a:ln w="6350">
            <a:solidFill>
              <a:srgbClr val="E2DED3"/>
            </a:solidFill>
            <a:prstDash val="solid"/>
          </a:ln>
        </p:spPr>
      </p:sp>
      <p:sp>
        <p:nvSpPr>
          <p:cNvPr id="13" name="Text 11"/>
          <p:cNvSpPr/>
          <p:nvPr/>
        </p:nvSpPr>
        <p:spPr>
          <a:xfrm>
            <a:off x="8202017" y="2080220"/>
            <a:ext cx="305656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4531A"/>
                </a:solidFill>
                <a:latin typeface="Rubik" pitchFamily="34" charset="0"/>
                <a:ea typeface="Rubik" pitchFamily="34" charset="-122"/>
                <a:cs typeface="Rubik" pitchFamily="34" charset="-120"/>
              </a:rPr>
              <a:t>3</a:t>
            </a:r>
            <a:endParaRPr lang="en-US" sz="2200" dirty="0"/>
          </a:p>
        </p:txBody>
      </p:sp>
      <p:sp>
        <p:nvSpPr>
          <p:cNvPr id="14" name="Text 12"/>
          <p:cNvSpPr/>
          <p:nvPr/>
        </p:nvSpPr>
        <p:spPr>
          <a:xfrm>
            <a:off x="8202017" y="2547541"/>
            <a:ext cx="30565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Revisar</a:t>
            </a:r>
            <a:endParaRPr lang="en-US" sz="1500" dirty="0"/>
          </a:p>
        </p:txBody>
      </p:sp>
      <p:sp>
        <p:nvSpPr>
          <p:cNvPr id="15" name="Text 13"/>
          <p:cNvSpPr/>
          <p:nvPr/>
        </p:nvSpPr>
        <p:spPr>
          <a:xfrm>
            <a:off x="8202017" y="2852341"/>
            <a:ext cx="3056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JetBrains Mono" pitchFamily="49" charset="0"/>
                <a:ea typeface="JetBrains Mono" pitchFamily="49" charset="-122"/>
                <a:cs typeface="JetBrains Mono" pitchFamily="49" charset="-120"/>
              </a:rPr>
              <a:t>twine check dist/*</a:t>
            </a:r>
            <a:endParaRPr lang="en-US" sz="1200" dirty="0"/>
          </a:p>
        </p:txBody>
      </p:sp>
      <p:sp>
        <p:nvSpPr>
          <p:cNvPr id="16" name="Shape 14"/>
          <p:cNvSpPr/>
          <p:nvPr/>
        </p:nvSpPr>
        <p:spPr>
          <a:xfrm>
            <a:off x="815975" y="3481586"/>
            <a:ext cx="3380284" cy="1611511"/>
          </a:xfrm>
          <a:prstGeom prst="roundRect">
            <a:avLst>
              <a:gd name="adj" fmla="val 6108"/>
            </a:avLst>
          </a:prstGeom>
          <a:solidFill>
            <a:srgbClr val="FDFCF8"/>
          </a:solidFill>
          <a:ln w="6350">
            <a:solidFill>
              <a:srgbClr val="E2DED3"/>
            </a:solidFill>
            <a:prstDash val="solid"/>
          </a:ln>
        </p:spPr>
      </p:sp>
      <p:sp>
        <p:nvSpPr>
          <p:cNvPr id="17" name="Text 15"/>
          <p:cNvSpPr/>
          <p:nvPr/>
        </p:nvSpPr>
        <p:spPr>
          <a:xfrm>
            <a:off x="1022350" y="3687961"/>
            <a:ext cx="305656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4531A"/>
                </a:solidFill>
                <a:latin typeface="Rubik" pitchFamily="34" charset="0"/>
                <a:ea typeface="Rubik" pitchFamily="34" charset="-122"/>
                <a:cs typeface="Rubik" pitchFamily="34" charset="-120"/>
              </a:rPr>
              <a:t>4</a:t>
            </a:r>
            <a:endParaRPr lang="en-US" sz="2200" dirty="0"/>
          </a:p>
        </p:txBody>
      </p:sp>
      <p:sp>
        <p:nvSpPr>
          <p:cNvPr id="18" name="Text 16"/>
          <p:cNvSpPr/>
          <p:nvPr/>
        </p:nvSpPr>
        <p:spPr>
          <a:xfrm>
            <a:off x="1022350" y="4155281"/>
            <a:ext cx="30565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Ensayar en TestPyPI</a:t>
            </a:r>
            <a:endParaRPr lang="en-US" sz="1500" dirty="0"/>
          </a:p>
        </p:txBody>
      </p:sp>
      <p:sp>
        <p:nvSpPr>
          <p:cNvPr id="19" name="Text 17"/>
          <p:cNvSpPr/>
          <p:nvPr/>
        </p:nvSpPr>
        <p:spPr>
          <a:xfrm>
            <a:off x="1022350" y="4460081"/>
            <a:ext cx="30565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JetBrains Mono" pitchFamily="49" charset="0"/>
                <a:ea typeface="JetBrains Mono" pitchFamily="49" charset="-122"/>
                <a:cs typeface="JetBrains Mono" pitchFamily="49" charset="-120"/>
              </a:rPr>
              <a:t>twine upload --repository testpypi dist/*</a:t>
            </a:r>
            <a:endParaRPr lang="en-US" sz="1200" dirty="0"/>
          </a:p>
        </p:txBody>
      </p:sp>
      <p:sp>
        <p:nvSpPr>
          <p:cNvPr id="20" name="Shape 18"/>
          <p:cNvSpPr/>
          <p:nvPr/>
        </p:nvSpPr>
        <p:spPr>
          <a:xfrm>
            <a:off x="4405809" y="3481586"/>
            <a:ext cx="3380284" cy="1611511"/>
          </a:xfrm>
          <a:prstGeom prst="roundRect">
            <a:avLst>
              <a:gd name="adj" fmla="val 6108"/>
            </a:avLst>
          </a:prstGeom>
          <a:solidFill>
            <a:srgbClr val="FDFCF8"/>
          </a:solidFill>
          <a:ln w="6350">
            <a:solidFill>
              <a:srgbClr val="E2DED3"/>
            </a:solidFill>
            <a:prstDash val="solid"/>
          </a:ln>
        </p:spPr>
      </p:sp>
      <p:sp>
        <p:nvSpPr>
          <p:cNvPr id="21" name="Text 19"/>
          <p:cNvSpPr/>
          <p:nvPr/>
        </p:nvSpPr>
        <p:spPr>
          <a:xfrm>
            <a:off x="4612184" y="3687961"/>
            <a:ext cx="305656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4531A"/>
                </a:solidFill>
                <a:latin typeface="Rubik" pitchFamily="34" charset="0"/>
                <a:ea typeface="Rubik" pitchFamily="34" charset="-122"/>
                <a:cs typeface="Rubik" pitchFamily="34" charset="-120"/>
              </a:rPr>
              <a:t>5</a:t>
            </a:r>
            <a:endParaRPr lang="en-US" sz="2200" dirty="0"/>
          </a:p>
        </p:txBody>
      </p:sp>
      <p:sp>
        <p:nvSpPr>
          <p:cNvPr id="22" name="Text 20"/>
          <p:cNvSpPr/>
          <p:nvPr/>
        </p:nvSpPr>
        <p:spPr>
          <a:xfrm>
            <a:off x="4612184" y="4155281"/>
            <a:ext cx="30565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Probar la instalación</a:t>
            </a:r>
            <a:endParaRPr lang="en-US" sz="1500" dirty="0"/>
          </a:p>
        </p:txBody>
      </p:sp>
      <p:sp>
        <p:nvSpPr>
          <p:cNvPr id="23" name="Text 21"/>
          <p:cNvSpPr/>
          <p:nvPr/>
        </p:nvSpPr>
        <p:spPr>
          <a:xfrm>
            <a:off x="4612184" y="4460081"/>
            <a:ext cx="30565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JetBrains Mono" pitchFamily="49" charset="0"/>
                <a:ea typeface="JetBrains Mono" pitchFamily="49" charset="-122"/>
                <a:cs typeface="JetBrains Mono" pitchFamily="49" charset="-120"/>
              </a:rPr>
              <a:t>pip install -i https://test.pypi.org/simple/ …</a:t>
            </a:r>
            <a:endParaRPr lang="en-US" sz="1200" dirty="0"/>
          </a:p>
        </p:txBody>
      </p:sp>
      <p:sp>
        <p:nvSpPr>
          <p:cNvPr id="24" name="Shape 22"/>
          <p:cNvSpPr/>
          <p:nvPr/>
        </p:nvSpPr>
        <p:spPr>
          <a:xfrm>
            <a:off x="7995642" y="3481586"/>
            <a:ext cx="3380284" cy="1611511"/>
          </a:xfrm>
          <a:prstGeom prst="roundRect">
            <a:avLst>
              <a:gd name="adj" fmla="val 6108"/>
            </a:avLst>
          </a:prstGeom>
          <a:solidFill>
            <a:srgbClr val="FDFCF8"/>
          </a:solidFill>
          <a:ln w="6350">
            <a:solidFill>
              <a:srgbClr val="E2DED3"/>
            </a:solidFill>
            <a:prstDash val="solid"/>
          </a:ln>
        </p:spPr>
      </p:sp>
      <p:sp>
        <p:nvSpPr>
          <p:cNvPr id="25" name="Text 23"/>
          <p:cNvSpPr/>
          <p:nvPr/>
        </p:nvSpPr>
        <p:spPr>
          <a:xfrm>
            <a:off x="8202017" y="3687961"/>
            <a:ext cx="305656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4531A"/>
                </a:solidFill>
                <a:latin typeface="Rubik" pitchFamily="34" charset="0"/>
                <a:ea typeface="Rubik" pitchFamily="34" charset="-122"/>
                <a:cs typeface="Rubik" pitchFamily="34" charset="-120"/>
              </a:rPr>
              <a:t>6</a:t>
            </a:r>
            <a:endParaRPr lang="en-US" sz="2200" dirty="0"/>
          </a:p>
        </p:txBody>
      </p:sp>
      <p:sp>
        <p:nvSpPr>
          <p:cNvPr id="26" name="Text 24"/>
          <p:cNvSpPr/>
          <p:nvPr/>
        </p:nvSpPr>
        <p:spPr>
          <a:xfrm>
            <a:off x="8202017" y="4155281"/>
            <a:ext cx="30565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Publicar</a:t>
            </a:r>
            <a:endParaRPr lang="en-US" sz="1500" dirty="0"/>
          </a:p>
        </p:txBody>
      </p:sp>
      <p:sp>
        <p:nvSpPr>
          <p:cNvPr id="27" name="Text 25"/>
          <p:cNvSpPr/>
          <p:nvPr/>
        </p:nvSpPr>
        <p:spPr>
          <a:xfrm>
            <a:off x="8202017" y="4460081"/>
            <a:ext cx="3056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JetBrains Mono" pitchFamily="49" charset="0"/>
                <a:ea typeface="JetBrains Mono" pitchFamily="49" charset="-122"/>
                <a:cs typeface="JetBrains Mono" pitchFamily="49" charset="-120"/>
              </a:rPr>
              <a:t>twine upload dist/*</a:t>
            </a:r>
            <a:endParaRPr lang="en-US" sz="1200" dirty="0"/>
          </a:p>
        </p:txBody>
      </p:sp>
      <p:sp>
        <p:nvSpPr>
          <p:cNvPr id="28" name="Text 2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Usuario: __token__ · contraseña: el token de API · cada versión se sube una sola vez</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7 · PYPI · 20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Paso 1: la información va en pyproject.toml</a:t>
            </a:r>
            <a:endParaRPr lang="en-US" sz="3000" dirty="0"/>
          </a:p>
        </p:txBody>
      </p:sp>
      <p:sp>
        <p:nvSpPr>
          <p:cNvPr id="4" name="Text 2"/>
          <p:cNvSpPr/>
          <p:nvPr/>
        </p:nvSpPr>
        <p:spPr>
          <a:xfrm>
            <a:off x="812800" y="1870670"/>
            <a:ext cx="6858000" cy="2752923"/>
          </a:xfrm>
          <a:prstGeom prst="roundRect">
            <a:avLst>
              <a:gd name="adj" fmla="val 3691"/>
            </a:avLst>
          </a:prstGeom>
          <a:solidFill>
            <a:srgbClr val="14213D"/>
          </a:solidFill>
          <a:ln/>
        </p:spPr>
        <p:txBody>
          <a:bodyPr wrap="none" lIns="224242" tIns="173442" rIns="33742" bIns="148042" rtlCol="0" anchor="t">
            <a:normAutofit/>
          </a:bodyPr>
          <a:lstStyle/>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[project]</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name = "osciladores-acoplados-sunombre"   </a:t>
            </a:r>
            <a:r>
              <a:rPr lang="en-US" sz="1200" dirty="0">
                <a:solidFill>
                  <a:srgbClr val="8DA2BF"/>
                </a:solidFill>
                <a:latin typeface="JetBrains Mono" pitchFamily="49" charset="0"/>
                <a:ea typeface="JetBrains Mono" pitchFamily="49" charset="-122"/>
                <a:cs typeface="JetBrains Mono" pitchFamily="49" charset="-120"/>
              </a:rPr>
              <a:t># URL y pip install</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version = "0.1.0"                         </a:t>
            </a:r>
            <a:r>
              <a:rPr lang="en-US" sz="1200" dirty="0">
                <a:solidFill>
                  <a:srgbClr val="8DA2BF"/>
                </a:solidFill>
                <a:latin typeface="JetBrains Mono" pitchFamily="49" charset="0"/>
                <a:ea typeface="JetBrains Mono" pitchFamily="49" charset="-122"/>
                <a:cs typeface="JetBrains Mono" pitchFamily="49" charset="-120"/>
              </a:rPr>
              <a:t># cambia en cada envío</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description = "Osciladores acoplados 1D"  </a:t>
            </a:r>
            <a:r>
              <a:rPr lang="en-US" sz="1200" dirty="0">
                <a:solidFill>
                  <a:srgbClr val="8DA2BF"/>
                </a:solidFill>
                <a:latin typeface="JetBrains Mono" pitchFamily="49" charset="0"/>
                <a:ea typeface="JetBrains Mono" pitchFamily="49" charset="-122"/>
                <a:cs typeface="JetBrains Mono" pitchFamily="49" charset="-120"/>
              </a:rPr>
              <a:t># subtítulo de la página</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readme = "README.md"                      </a:t>
            </a:r>
            <a:r>
              <a:rPr lang="en-US" sz="1200" dirty="0">
                <a:solidFill>
                  <a:srgbClr val="8DA2BF"/>
                </a:solidFill>
                <a:latin typeface="JetBrains Mono" pitchFamily="49" charset="0"/>
                <a:ea typeface="JetBrains Mono" pitchFamily="49" charset="-122"/>
                <a:cs typeface="JetBrains Mono" pitchFamily="49" charset="-120"/>
              </a:rPr>
              <a:t># cuerpo de la página</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authors = [{ name = "Su Nombre", email = "su@correo.com" }]</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license = "MIT"</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dependencies = ["numpy&gt;=1.22"]            </a:t>
            </a:r>
            <a:r>
              <a:rPr lang="en-US" sz="1200" dirty="0">
                <a:solidFill>
                  <a:srgbClr val="8DA2BF"/>
                </a:solidFill>
                <a:latin typeface="JetBrains Mono" pitchFamily="49" charset="0"/>
                <a:ea typeface="JetBrains Mono" pitchFamily="49" charset="-122"/>
                <a:cs typeface="JetBrains Mono" pitchFamily="49" charset="-120"/>
              </a:rPr>
              <a:t># pip las instala solo</a:t>
            </a:r>
            <a:endParaRPr lang="en-US" sz="1200" dirty="0"/>
          </a:p>
          <a:p>
            <a:pPr algn="l" indent="0" marL="0">
              <a:lnSpc>
                <a:spcPts val="1680"/>
              </a:lnSpc>
              <a:buNone/>
            </a:pP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[project.urls]</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Homepage = "https://github.com/su_usuario/osciladores-acoplados"</a:t>
            </a:r>
            <a:endParaRPr lang="en-US" sz="1200" dirty="0"/>
          </a:p>
        </p:txBody>
      </p:sp>
      <p:sp>
        <p:nvSpPr>
          <p:cNvPr id="5" name="Shape 3"/>
          <p:cNvSpPr/>
          <p:nvPr/>
        </p:nvSpPr>
        <p:spPr>
          <a:xfrm>
            <a:off x="7877175" y="1873845"/>
            <a:ext cx="3498850" cy="1357511"/>
          </a:xfrm>
          <a:prstGeom prst="roundRect">
            <a:avLst>
              <a:gd name="adj" fmla="val 7250"/>
            </a:avLst>
          </a:prstGeom>
          <a:solidFill>
            <a:srgbClr val="FDFCF8"/>
          </a:solidFill>
          <a:ln w="6350">
            <a:solidFill>
              <a:srgbClr val="E2DED3"/>
            </a:solidFill>
            <a:prstDash val="solid"/>
          </a:ln>
        </p:spPr>
      </p:sp>
      <p:sp>
        <p:nvSpPr>
          <p:cNvPr id="6" name="Text 4"/>
          <p:cNvSpPr/>
          <p:nvPr/>
        </p:nvSpPr>
        <p:spPr>
          <a:xfrm>
            <a:off x="8083550" y="2080220"/>
            <a:ext cx="317868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Mismo archivo, dos destinos</a:t>
            </a:r>
            <a:endParaRPr lang="en-US" sz="1500" dirty="0"/>
          </a:p>
        </p:txBody>
      </p:sp>
      <p:sp>
        <p:nvSpPr>
          <p:cNvPr id="7" name="Text 5"/>
          <p:cNvSpPr/>
          <p:nvPr/>
        </p:nvSpPr>
        <p:spPr>
          <a:xfrm>
            <a:off x="8083550" y="2385020"/>
            <a:ext cx="317868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TestPyPI y PyPI leen el mismo pyproject.toml. Sólo cambia el comando twine.</a:t>
            </a:r>
            <a:endParaRPr lang="en-US" sz="1200" dirty="0"/>
          </a:p>
        </p:txBody>
      </p:sp>
      <p:sp>
        <p:nvSpPr>
          <p:cNvPr id="8" name="Shape 6"/>
          <p:cNvSpPr/>
          <p:nvPr/>
        </p:nvSpPr>
        <p:spPr>
          <a:xfrm>
            <a:off x="7874000" y="3386931"/>
            <a:ext cx="3505200" cy="1137841"/>
          </a:xfrm>
          <a:prstGeom prst="roundRect">
            <a:avLst>
              <a:gd name="adj" fmla="val 8929"/>
            </a:avLst>
          </a:prstGeom>
          <a:solidFill>
            <a:srgbClr val="14213D"/>
          </a:solidFill>
          <a:ln/>
        </p:spPr>
      </p:sp>
      <p:sp>
        <p:nvSpPr>
          <p:cNvPr id="9" name="Text 7"/>
          <p:cNvSpPr/>
          <p:nvPr/>
        </p:nvSpPr>
        <p:spPr>
          <a:xfrm>
            <a:off x="8077200" y="3590131"/>
            <a:ext cx="319176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35E"/>
                </a:solidFill>
                <a:latin typeface="Rubik" pitchFamily="34" charset="0"/>
                <a:ea typeface="Rubik" pitchFamily="34" charset="-122"/>
                <a:cs typeface="Rubik" pitchFamily="34" charset="-120"/>
              </a:rPr>
              <a:t>Versión en dos lugares</a:t>
            </a:r>
            <a:endParaRPr lang="en-US" sz="1500" dirty="0"/>
          </a:p>
        </p:txBody>
      </p:sp>
      <p:sp>
        <p:nvSpPr>
          <p:cNvPr id="10" name="Text 8"/>
          <p:cNvSpPr/>
          <p:nvPr/>
        </p:nvSpPr>
        <p:spPr>
          <a:xfrm>
            <a:off x="8077200" y="3894931"/>
            <a:ext cx="319176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version en pyproject.toml y __version__ en __init__.py deben decir lo mismo.</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Archivo: osciladores-acoplados/pyproject.toml · se edita con cualquier editor de texto</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7 · PYPI · 20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Pasos 2 y 3: construir y revisar en consola</a:t>
            </a:r>
            <a:endParaRPr lang="en-US" sz="3000" dirty="0"/>
          </a:p>
        </p:txBody>
      </p:sp>
      <p:sp>
        <p:nvSpPr>
          <p:cNvPr id="4" name="Text 2"/>
          <p:cNvSpPr/>
          <p:nvPr/>
        </p:nvSpPr>
        <p:spPr>
          <a:xfrm>
            <a:off x="812800" y="1870670"/>
            <a:ext cx="6350000" cy="2966244"/>
          </a:xfrm>
          <a:prstGeom prst="roundRect">
            <a:avLst>
              <a:gd name="adj" fmla="val 3425"/>
            </a:avLst>
          </a:prstGeom>
          <a:solidFill>
            <a:srgbClr val="14213D"/>
          </a:solidFill>
          <a:ln/>
        </p:spPr>
        <p:txBody>
          <a:bodyPr wrap="none" lIns="224242" tIns="173442" rIns="48982" bIns="148042" rtlCol="0" anchor="t">
            <a:normAutofit/>
          </a:bodyPr>
          <a:lstStyle/>
          <a:p>
            <a:pPr algn="l" indent="0" marL="0">
              <a:lnSpc>
                <a:spcPts val="1680"/>
              </a:lnSpc>
              <a:buNone/>
            </a:pPr>
            <a:r>
              <a:rPr lang="en-US" sz="1200" dirty="0">
                <a:solidFill>
                  <a:srgbClr val="8DA2BF"/>
                </a:solidFill>
                <a:latin typeface="JetBrains Mono" pitchFamily="49" charset="0"/>
                <a:ea typeface="JetBrains Mono" pitchFamily="49" charset="-122"/>
                <a:cs typeface="JetBrains Mono" pitchFamily="49" charset="-120"/>
              </a:rPr>
              <a:t># 0. Ubicarse en el proyecto y activar el entorno</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cd C:\Users\Usuario\proyectos\osciladores-acoplados</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.\.venv\Scripts\Activate.ps1</a:t>
            </a:r>
            <a:endParaRPr lang="en-US" sz="1200" dirty="0"/>
          </a:p>
          <a:p>
            <a:pPr algn="l" indent="0" marL="0">
              <a:lnSpc>
                <a:spcPts val="1680"/>
              </a:lnSpc>
              <a:buNone/>
            </a:pPr>
            <a:endParaRPr lang="en-US" sz="1200" dirty="0"/>
          </a:p>
          <a:p>
            <a:pPr algn="l" indent="0" marL="0">
              <a:lnSpc>
                <a:spcPts val="1680"/>
              </a:lnSpc>
              <a:buNone/>
            </a:pPr>
            <a:r>
              <a:rPr lang="en-US" sz="1200" dirty="0">
                <a:solidFill>
                  <a:srgbClr val="8DA2BF"/>
                </a:solidFill>
                <a:latin typeface="JetBrains Mono" pitchFamily="49" charset="0"/>
                <a:ea typeface="JetBrains Mono" pitchFamily="49" charset="-122"/>
                <a:cs typeface="JetBrains Mono" pitchFamily="49" charset="-120"/>
              </a:rPr>
              <a:t># 1. Borrar construcciones anteriores</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Remove-Item -Recurse -Force dist -ErrorAction SilentlyContinue</a:t>
            </a:r>
            <a:endParaRPr lang="en-US" sz="1200" dirty="0"/>
          </a:p>
          <a:p>
            <a:pPr algn="l" indent="0" marL="0">
              <a:lnSpc>
                <a:spcPts val="1680"/>
              </a:lnSpc>
              <a:buNone/>
            </a:pPr>
            <a:endParaRPr lang="en-US" sz="1200" dirty="0"/>
          </a:p>
          <a:p>
            <a:pPr algn="l" indent="0" marL="0">
              <a:lnSpc>
                <a:spcPts val="1680"/>
              </a:lnSpc>
              <a:buNone/>
            </a:pPr>
            <a:r>
              <a:rPr lang="en-US" sz="1200" dirty="0">
                <a:solidFill>
                  <a:srgbClr val="8DA2BF"/>
                </a:solidFill>
                <a:latin typeface="JetBrains Mono" pitchFamily="49" charset="0"/>
                <a:ea typeface="JetBrains Mono" pitchFamily="49" charset="-122"/>
                <a:cs typeface="JetBrains Mono" pitchFamily="49" charset="-120"/>
              </a:rPr>
              <a:t># 2. Construir el paquete</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python -m build</a:t>
            </a:r>
            <a:endParaRPr lang="en-US" sz="1200" dirty="0"/>
          </a:p>
          <a:p>
            <a:pPr algn="l" indent="0" marL="0">
              <a:lnSpc>
                <a:spcPts val="1680"/>
              </a:lnSpc>
              <a:buNone/>
            </a:pPr>
            <a:endParaRPr lang="en-US" sz="1200" dirty="0"/>
          </a:p>
          <a:p>
            <a:pPr algn="l" indent="0" marL="0">
              <a:lnSpc>
                <a:spcPts val="1680"/>
              </a:lnSpc>
              <a:buNone/>
            </a:pPr>
            <a:r>
              <a:rPr lang="en-US" sz="1200" dirty="0">
                <a:solidFill>
                  <a:srgbClr val="8DA2BF"/>
                </a:solidFill>
                <a:latin typeface="JetBrains Mono" pitchFamily="49" charset="0"/>
                <a:ea typeface="JetBrains Mono" pitchFamily="49" charset="-122"/>
                <a:cs typeface="JetBrains Mono" pitchFamily="49" charset="-120"/>
              </a:rPr>
              <a:t># 3. Revisar que PyPI lo aceptará</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python -m twine check dist/*</a:t>
            </a:r>
            <a:endParaRPr lang="en-US" sz="1200" dirty="0"/>
          </a:p>
        </p:txBody>
      </p:sp>
      <p:sp>
        <p:nvSpPr>
          <p:cNvPr id="5" name="Text 3"/>
          <p:cNvSpPr/>
          <p:nvPr/>
        </p:nvSpPr>
        <p:spPr>
          <a:xfrm>
            <a:off x="7366000" y="1870670"/>
            <a:ext cx="413359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3"/>
                </a:solidFill>
                <a:latin typeface="IBM Plex Sans" pitchFamily="34" charset="0"/>
                <a:ea typeface="IBM Plex Sans" pitchFamily="34" charset="-122"/>
                <a:cs typeface="IBM Plex Sans" pitchFamily="34" charset="-120"/>
              </a:rPr>
              <a:t>RESULTADO EN LA CARPETA DIST/</a:t>
            </a:r>
            <a:endParaRPr lang="en-US" sz="1200" dirty="0"/>
          </a:p>
        </p:txBody>
      </p:sp>
      <p:sp>
        <p:nvSpPr>
          <p:cNvPr id="6" name="Text 4"/>
          <p:cNvSpPr/>
          <p:nvPr/>
        </p:nvSpPr>
        <p:spPr>
          <a:xfrm>
            <a:off x="7366000" y="2236391"/>
            <a:ext cx="11303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IBM Plex Sans" pitchFamily="34" charset="0"/>
                <a:ea typeface="IBM Plex Sans" pitchFamily="34" charset="-122"/>
                <a:cs typeface="IBM Plex Sans" pitchFamily="34" charset="-120"/>
              </a:rPr>
              <a:t>CÓDIGO</a:t>
            </a:r>
            <a:endParaRPr lang="en-US" sz="1200" dirty="0"/>
          </a:p>
        </p:txBody>
      </p:sp>
      <p:sp>
        <p:nvSpPr>
          <p:cNvPr id="7" name="Text 5"/>
          <p:cNvSpPr/>
          <p:nvPr/>
        </p:nvSpPr>
        <p:spPr>
          <a:xfrm>
            <a:off x="8648700" y="2236391"/>
            <a:ext cx="281241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IBM Plex Sans" pitchFamily="34" charset="0"/>
                <a:ea typeface="IBM Plex Sans" pitchFamily="34" charset="-122"/>
                <a:cs typeface="IBM Plex Sans" pitchFamily="34" charset="-120"/>
              </a:rPr>
              <a:t>QUÉ SIGNIFICA</a:t>
            </a:r>
            <a:endParaRPr lang="en-US" sz="1200" dirty="0"/>
          </a:p>
        </p:txBody>
      </p:sp>
      <p:sp>
        <p:nvSpPr>
          <p:cNvPr id="8" name="Text 6"/>
          <p:cNvSpPr/>
          <p:nvPr/>
        </p:nvSpPr>
        <p:spPr>
          <a:xfrm>
            <a:off x="7366000" y="2538611"/>
            <a:ext cx="1079500" cy="289520"/>
          </a:xfrm>
          <a:prstGeom prst="roundRect">
            <a:avLst>
              <a:gd name="adj" fmla="val 17546"/>
            </a:avLst>
          </a:prstGeom>
          <a:solidFill>
            <a:srgbClr val="EFEBE1"/>
          </a:solidFill>
          <a:ln/>
        </p:spPr>
        <p:txBody>
          <a:bodyPr wrap="square" lIns="61321" tIns="23221" rIns="10521"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….tar.gz</a:t>
            </a:r>
            <a:endParaRPr lang="en-US" sz="1200" dirty="0"/>
          </a:p>
        </p:txBody>
      </p:sp>
      <p:sp>
        <p:nvSpPr>
          <p:cNvPr id="9" name="Text 7"/>
          <p:cNvSpPr/>
          <p:nvPr/>
        </p:nvSpPr>
        <p:spPr>
          <a:xfrm>
            <a:off x="8648700" y="2538611"/>
            <a:ext cx="28124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Código fuente (sdist).</a:t>
            </a:r>
            <a:endParaRPr lang="en-US" sz="1200" dirty="0"/>
          </a:p>
        </p:txBody>
      </p:sp>
      <p:sp>
        <p:nvSpPr>
          <p:cNvPr id="10" name="Text 8"/>
          <p:cNvSpPr/>
          <p:nvPr/>
        </p:nvSpPr>
        <p:spPr>
          <a:xfrm>
            <a:off x="7366000" y="2917031"/>
            <a:ext cx="1079500" cy="289520"/>
          </a:xfrm>
          <a:prstGeom prst="roundRect">
            <a:avLst>
              <a:gd name="adj" fmla="val 17546"/>
            </a:avLst>
          </a:prstGeom>
          <a:solidFill>
            <a:srgbClr val="EFEBE1"/>
          </a:solidFill>
          <a:ln/>
        </p:spPr>
        <p:txBody>
          <a:bodyPr wrap="square" lIns="61321" tIns="23221" rIns="10521"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….whl</a:t>
            </a:r>
            <a:endParaRPr lang="en-US" sz="1200" dirty="0"/>
          </a:p>
        </p:txBody>
      </p:sp>
      <p:sp>
        <p:nvSpPr>
          <p:cNvPr id="11" name="Text 9"/>
          <p:cNvSpPr/>
          <p:nvPr/>
        </p:nvSpPr>
        <p:spPr>
          <a:xfrm>
            <a:off x="8648700" y="2917031"/>
            <a:ext cx="28124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La rueda (wheel): lo que pip instala.</a:t>
            </a:r>
            <a:endParaRPr lang="en-US" sz="1200" dirty="0"/>
          </a:p>
        </p:txBody>
      </p:sp>
      <p:sp>
        <p:nvSpPr>
          <p:cNvPr id="12" name="Text 10"/>
          <p:cNvSpPr/>
          <p:nvPr/>
        </p:nvSpPr>
        <p:spPr>
          <a:xfrm>
            <a:off x="7366000" y="3295452"/>
            <a:ext cx="1079500" cy="289520"/>
          </a:xfrm>
          <a:prstGeom prst="roundRect">
            <a:avLst>
              <a:gd name="adj" fmla="val 17546"/>
            </a:avLst>
          </a:prstGeom>
          <a:solidFill>
            <a:srgbClr val="EFEBE1"/>
          </a:solidFill>
          <a:ln/>
        </p:spPr>
        <p:txBody>
          <a:bodyPr wrap="square" lIns="61321" tIns="23221" rIns="10521"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PASSED</a:t>
            </a:r>
            <a:endParaRPr lang="en-US" sz="1200" dirty="0"/>
          </a:p>
        </p:txBody>
      </p:sp>
      <p:sp>
        <p:nvSpPr>
          <p:cNvPr id="13" name="Text 11"/>
          <p:cNvSpPr/>
          <p:nvPr/>
        </p:nvSpPr>
        <p:spPr>
          <a:xfrm>
            <a:off x="8648700" y="3295452"/>
            <a:ext cx="281241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twine check aprobó los metadatos y el README.</a:t>
            </a:r>
            <a:endParaRPr lang="en-US" sz="12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Todos los comandos se escriben en PowerShell, dentro de la carpeta del proyecto, con (.venv) activo</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7 · PYPI · 20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Antes de subir: dos cuentas y dos tokens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83370"/>
          <a:ext cx="6210300" cy="1995487"/>
        </p:xfrm>
        <a:graphic>
          <a:graphicData uri="http://schemas.openxmlformats.org/drawingml/2006/table">
            <a:tbl>
              <a:tblPr/>
              <a:tblGrid>
                <a:gridCol w="1242060"/>
                <a:gridCol w="2484120"/>
                <a:gridCol w="2484120"/>
              </a:tblGrid>
              <a:tr h="332581">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1680"/>
                        </a:lnSpc>
                        <a:buNone/>
                      </a:pPr>
                      <a:r>
                        <a:rPr lang="en-US" sz="1200" b="1" dirty="0">
                          <a:solidFill>
                            <a:srgbClr val="3E4A5C"/>
                          </a:solidFill>
                          <a:latin typeface="IBM Plex Sans" pitchFamily="34" charset="0"/>
                          <a:ea typeface="IBM Plex Sans" pitchFamily="34" charset="-122"/>
                          <a:cs typeface="IBM Plex Sans" pitchFamily="34" charset="-120"/>
                        </a:rPr>
                        <a:t>TestPyPI · ensayo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1680"/>
                        </a:lnSpc>
                        <a:buNone/>
                      </a:pPr>
                      <a:r>
                        <a:rPr lang="en-US" sz="1200" b="1" dirty="0">
                          <a:solidFill>
                            <a:srgbClr val="3E4A5C"/>
                          </a:solidFill>
                          <a:latin typeface="IBM Plex Sans" pitchFamily="34" charset="0"/>
                          <a:ea typeface="IBM Plex Sans" pitchFamily="34" charset="-122"/>
                          <a:cs typeface="IBM Plex Sans" pitchFamily="34" charset="-120"/>
                        </a:rPr>
                        <a:t>PyPI · real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r>
              <a:tr h="332581">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Sitio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test.pypi.org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pypi.org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32581">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Cuenta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Registro propio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Otro registro, independiente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r>
              <a:tr h="332581">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Seguridad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2FA obligatoria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2FA obligatoria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32581">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Token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Account settings → API tokens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Account settings → API tokens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r>
              <a:tr h="332581">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Alcance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1.ª vez: Entire account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1.ª vez: Entire account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7239000" y="187067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3"/>
                </a:solidFill>
                <a:latin typeface="IBM Plex Sans" pitchFamily="34" charset="0"/>
                <a:ea typeface="IBM Plex Sans" pitchFamily="34" charset="-122"/>
                <a:cs typeface="IBM Plex Sans" pitchFamily="34" charset="-120"/>
              </a:rPr>
              <a:t>DÓNDE SE GUARDAN LOS TOKENS</a:t>
            </a:r>
            <a:endParaRPr lang="en-US" sz="1200" dirty="0"/>
          </a:p>
        </p:txBody>
      </p:sp>
      <p:sp>
        <p:nvSpPr>
          <p:cNvPr id="6" name="Text 3"/>
          <p:cNvSpPr/>
          <p:nvPr/>
        </p:nvSpPr>
        <p:spPr>
          <a:xfrm>
            <a:off x="7239000" y="2185591"/>
            <a:ext cx="42644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C:\Users\Usuario\.pypirc</a:t>
            </a:r>
            <a:endParaRPr lang="en-US" sz="1200" dirty="0"/>
          </a:p>
        </p:txBody>
      </p:sp>
      <p:sp>
        <p:nvSpPr>
          <p:cNvPr id="7" name="Text 4"/>
          <p:cNvSpPr/>
          <p:nvPr/>
        </p:nvSpPr>
        <p:spPr>
          <a:xfrm>
            <a:off x="7239000" y="2500511"/>
            <a:ext cx="4140200" cy="1899642"/>
          </a:xfrm>
          <a:prstGeom prst="roundRect">
            <a:avLst>
              <a:gd name="adj" fmla="val 5348"/>
            </a:avLst>
          </a:prstGeom>
          <a:solidFill>
            <a:srgbClr val="14213D"/>
          </a:solidFill>
          <a:ln/>
        </p:spPr>
        <p:txBody>
          <a:bodyPr wrap="none" lIns="224242" tIns="173442" rIns="115276" bIns="148042" rtlCol="0" anchor="t">
            <a:normAutofit/>
          </a:bodyPr>
          <a:lstStyle/>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[testpypi]</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username = __token__</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password = pypi-AgENdGVzdC5weXBp...</a:t>
            </a:r>
            <a:endParaRPr lang="en-US" sz="1200" dirty="0"/>
          </a:p>
          <a:p>
            <a:pPr algn="l" indent="0" marL="0">
              <a:lnSpc>
                <a:spcPts val="1680"/>
              </a:lnSpc>
              <a:buNone/>
            </a:pP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[pypi]</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username = __token__</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password = pypi-AgEIcHlwaS5vcmc...</a:t>
            </a:r>
            <a:endParaRPr lang="en-US" sz="1200" dirty="0"/>
          </a:p>
        </p:txBody>
      </p:sp>
      <p:sp>
        <p:nvSpPr>
          <p:cNvPr id="8" name="Text 5"/>
          <p:cNvSpPr/>
          <p:nvPr/>
        </p:nvSpPr>
        <p:spPr>
          <a:xfrm>
            <a:off x="7239000" y="4501753"/>
            <a:ext cx="426440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Cada token va en su sección. Nunca suba este archivo a GitHub.</a:t>
            </a:r>
            <a:endParaRPr lang="en-US" sz="12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Los tokens de ejemplo están recortados: los reales son mucho más largos</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7 · PYPI · 20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Pasos 4 y 5: ensayo en TestPyPI</a:t>
            </a:r>
            <a:endParaRPr lang="en-US" sz="3000" dirty="0"/>
          </a:p>
        </p:txBody>
      </p:sp>
      <p:sp>
        <p:nvSpPr>
          <p:cNvPr id="4" name="Text 2"/>
          <p:cNvSpPr/>
          <p:nvPr/>
        </p:nvSpPr>
        <p:spPr>
          <a:xfrm>
            <a:off x="812800" y="1870670"/>
            <a:ext cx="7048500" cy="2966244"/>
          </a:xfrm>
          <a:prstGeom prst="roundRect">
            <a:avLst>
              <a:gd name="adj" fmla="val 3425"/>
            </a:avLst>
          </a:prstGeom>
          <a:solidFill>
            <a:srgbClr val="14213D"/>
          </a:solidFill>
          <a:ln/>
        </p:spPr>
        <p:txBody>
          <a:bodyPr wrap="none" lIns="224242" tIns="173442" rIns="28027" bIns="148042" rtlCol="0" anchor="t">
            <a:normAutofit/>
          </a:bodyPr>
          <a:lstStyle/>
          <a:p>
            <a:pPr algn="l" indent="0" marL="0">
              <a:lnSpc>
                <a:spcPts val="1680"/>
              </a:lnSpc>
              <a:buNone/>
            </a:pPr>
            <a:r>
              <a:rPr lang="en-US" sz="1200" dirty="0">
                <a:solidFill>
                  <a:srgbClr val="8DA2BF"/>
                </a:solidFill>
                <a:latin typeface="JetBrains Mono" pitchFamily="49" charset="0"/>
                <a:ea typeface="JetBrains Mono" pitchFamily="49" charset="-122"/>
                <a:cs typeface="JetBrains Mono" pitchFamily="49" charset="-120"/>
              </a:rPr>
              <a:t># 4. Subir al repositorio de ensayo</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python -m twine upload --repository testpypi dist/*</a:t>
            </a:r>
            <a:endParaRPr lang="en-US" sz="1200" dirty="0"/>
          </a:p>
          <a:p>
            <a:pPr algn="l" indent="0" marL="0">
              <a:lnSpc>
                <a:spcPts val="1680"/>
              </a:lnSpc>
              <a:buNone/>
            </a:pPr>
            <a:r>
              <a:rPr lang="en-US" sz="1200" dirty="0">
                <a:solidFill>
                  <a:srgbClr val="8DA2BF"/>
                </a:solidFill>
                <a:latin typeface="JetBrains Mono" pitchFamily="49" charset="0"/>
                <a:ea typeface="JetBrains Mono" pitchFamily="49" charset="-122"/>
                <a:cs typeface="JetBrains Mono" pitchFamily="49" charset="-120"/>
              </a:rPr>
              <a:t>#    → https://test.pypi.org/project/osciladores-acoplados-sunombre/</a:t>
            </a:r>
            <a:endParaRPr lang="en-US" sz="1200" dirty="0"/>
          </a:p>
          <a:p>
            <a:pPr algn="l" indent="0" marL="0">
              <a:lnSpc>
                <a:spcPts val="1680"/>
              </a:lnSpc>
              <a:buNone/>
            </a:pPr>
            <a:endParaRPr lang="en-US" sz="1200" dirty="0"/>
          </a:p>
          <a:p>
            <a:pPr algn="l" indent="0" marL="0">
              <a:lnSpc>
                <a:spcPts val="1680"/>
              </a:lnSpc>
              <a:buNone/>
            </a:pPr>
            <a:r>
              <a:rPr lang="en-US" sz="1200" dirty="0">
                <a:solidFill>
                  <a:srgbClr val="8DA2BF"/>
                </a:solidFill>
                <a:latin typeface="JetBrains Mono" pitchFamily="49" charset="0"/>
                <a:ea typeface="JetBrains Mono" pitchFamily="49" charset="-122"/>
                <a:cs typeface="JetBrains Mono" pitchFamily="49" charset="-120"/>
              </a:rPr>
              <a:t># 5. Probar en un entorno limpio, en otra carpeta</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python -m venv C:\temp\prueba</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C:\temp\prueba\Scripts\Activate.ps1</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python -m pip install `</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--index-url https://test.pypi.org/simple/ `</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--extra-index-url https://pypi.org/simple/ `</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osciladores-acoplados-sunombre</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python -c "</a:t>
            </a:r>
            <a:r>
              <a:rPr lang="en-US" sz="1200" dirty="0">
                <a:solidFill>
                  <a:srgbClr val="F0A35E"/>
                </a:solidFill>
                <a:latin typeface="JetBrains Mono" pitchFamily="49" charset="0"/>
                <a:ea typeface="JetBrains Mono" pitchFamily="49" charset="-122"/>
                <a:cs typeface="JetBrains Mono" pitchFamily="49" charset="-120"/>
              </a:rPr>
              <a:t>import</a:t>
            </a:r>
            <a:r>
              <a:rPr lang="en-US" sz="1200" dirty="0">
                <a:solidFill>
                  <a:srgbClr val="E8EDF5"/>
                </a:solidFill>
                <a:latin typeface="JetBrains Mono" pitchFamily="49" charset="0"/>
                <a:ea typeface="JetBrains Mono" pitchFamily="49" charset="-122"/>
                <a:cs typeface="JetBrains Mono" pitchFamily="49" charset="-120"/>
              </a:rPr>
              <a:t> osciladores_acoplados as oa; print(oa.__version__)"</a:t>
            </a:r>
            <a:endParaRPr lang="en-US" sz="1200" dirty="0"/>
          </a:p>
        </p:txBody>
      </p:sp>
      <p:sp>
        <p:nvSpPr>
          <p:cNvPr id="5" name="Shape 3"/>
          <p:cNvSpPr/>
          <p:nvPr/>
        </p:nvSpPr>
        <p:spPr>
          <a:xfrm>
            <a:off x="8067675" y="1873845"/>
            <a:ext cx="3308350" cy="1144191"/>
          </a:xfrm>
          <a:prstGeom prst="roundRect">
            <a:avLst>
              <a:gd name="adj" fmla="val 8602"/>
            </a:avLst>
          </a:prstGeom>
          <a:solidFill>
            <a:srgbClr val="FDFCF8"/>
          </a:solidFill>
          <a:ln w="6350">
            <a:solidFill>
              <a:srgbClr val="E2DED3"/>
            </a:solidFill>
            <a:prstDash val="solid"/>
          </a:ln>
        </p:spPr>
      </p:sp>
      <p:sp>
        <p:nvSpPr>
          <p:cNvPr id="6" name="Text 4"/>
          <p:cNvSpPr/>
          <p:nvPr/>
        </p:nvSpPr>
        <p:spPr>
          <a:xfrm>
            <a:off x="8274050" y="2080220"/>
            <a:ext cx="298246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--repository testpypi</a:t>
            </a:r>
            <a:endParaRPr lang="en-US" sz="1500" dirty="0"/>
          </a:p>
        </p:txBody>
      </p:sp>
      <p:sp>
        <p:nvSpPr>
          <p:cNvPr id="7" name="Text 5"/>
          <p:cNvSpPr/>
          <p:nvPr/>
        </p:nvSpPr>
        <p:spPr>
          <a:xfrm>
            <a:off x="8274050" y="2385020"/>
            <a:ext cx="298246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Toma el token de la sección [testpypi] de .pypirc.</a:t>
            </a:r>
            <a:endParaRPr lang="en-US" sz="1200" dirty="0"/>
          </a:p>
        </p:txBody>
      </p:sp>
      <p:sp>
        <p:nvSpPr>
          <p:cNvPr id="8" name="Shape 6"/>
          <p:cNvSpPr/>
          <p:nvPr/>
        </p:nvSpPr>
        <p:spPr>
          <a:xfrm>
            <a:off x="8067675" y="3176786"/>
            <a:ext cx="3308350" cy="1144191"/>
          </a:xfrm>
          <a:prstGeom prst="roundRect">
            <a:avLst>
              <a:gd name="adj" fmla="val 8602"/>
            </a:avLst>
          </a:prstGeom>
          <a:solidFill>
            <a:srgbClr val="FDFCF8"/>
          </a:solidFill>
          <a:ln w="6350">
            <a:solidFill>
              <a:srgbClr val="E2DED3"/>
            </a:solidFill>
            <a:prstDash val="solid"/>
          </a:ln>
        </p:spPr>
      </p:sp>
      <p:sp>
        <p:nvSpPr>
          <p:cNvPr id="9" name="Text 7"/>
          <p:cNvSpPr/>
          <p:nvPr/>
        </p:nvSpPr>
        <p:spPr>
          <a:xfrm>
            <a:off x="8274050" y="3383161"/>
            <a:ext cx="298246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--extra-index-url</a:t>
            </a:r>
            <a:endParaRPr lang="en-US" sz="1500" dirty="0"/>
          </a:p>
        </p:txBody>
      </p:sp>
      <p:sp>
        <p:nvSpPr>
          <p:cNvPr id="10" name="Text 8"/>
          <p:cNvSpPr/>
          <p:nvPr/>
        </p:nvSpPr>
        <p:spPr>
          <a:xfrm>
            <a:off x="8274050" y="3687961"/>
            <a:ext cx="298246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NumPy no está en TestPyPI: pip lo descarga de PyPI.</a:t>
            </a:r>
            <a:endParaRPr lang="en-US" sz="1200" dirty="0"/>
          </a:p>
        </p:txBody>
      </p:sp>
      <p:sp>
        <p:nvSpPr>
          <p:cNvPr id="11" name="Shape 9"/>
          <p:cNvSpPr/>
          <p:nvPr/>
        </p:nvSpPr>
        <p:spPr>
          <a:xfrm>
            <a:off x="8064500" y="4476552"/>
            <a:ext cx="3314700" cy="1137841"/>
          </a:xfrm>
          <a:prstGeom prst="roundRect">
            <a:avLst>
              <a:gd name="adj" fmla="val 8929"/>
            </a:avLst>
          </a:prstGeom>
          <a:solidFill>
            <a:srgbClr val="14213D"/>
          </a:solidFill>
          <a:ln/>
        </p:spPr>
      </p:sp>
      <p:sp>
        <p:nvSpPr>
          <p:cNvPr id="12" name="Text 10"/>
          <p:cNvSpPr/>
          <p:nvPr/>
        </p:nvSpPr>
        <p:spPr>
          <a:xfrm>
            <a:off x="8267700" y="4679752"/>
            <a:ext cx="299554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35E"/>
                </a:solidFill>
                <a:latin typeface="Rubik" pitchFamily="34" charset="0"/>
                <a:ea typeface="Rubik" pitchFamily="34" charset="-122"/>
                <a:cs typeface="Rubik" pitchFamily="34" charset="-120"/>
              </a:rPr>
              <a:t>El acento grave `</a:t>
            </a:r>
            <a:endParaRPr lang="en-US" sz="1500" dirty="0"/>
          </a:p>
        </p:txBody>
      </p:sp>
      <p:sp>
        <p:nvSpPr>
          <p:cNvPr id="13" name="Text 11"/>
          <p:cNvSpPr/>
          <p:nvPr/>
        </p:nvSpPr>
        <p:spPr>
          <a:xfrm>
            <a:off x="8267700" y="4984552"/>
            <a:ext cx="299554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Continúa el comando en la línea siguiente en PowerShell.</a:t>
            </a:r>
            <a:endParaRPr lang="en-US" sz="12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TestPyPI se puede usar todas las veces que haga falta; también exige una versión nueva en cada subida</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1A"/>
                </a:solidFill>
                <a:latin typeface="IBM Plex Sans" pitchFamily="34" charset="0"/>
                <a:ea typeface="IBM Plex Sans" pitchFamily="34" charset="-122"/>
                <a:cs typeface="IBM Plex Sans" pitchFamily="34" charset="-120"/>
              </a:rPr>
              <a:t>ETAPA 7 · PYPI · 20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Rubik" pitchFamily="34" charset="0"/>
                <a:ea typeface="Rubik" pitchFamily="34" charset="-122"/>
                <a:cs typeface="Rubik" pitchFamily="34" charset="-120"/>
              </a:rPr>
              <a:t>Paso 6: la versión final en PyPI</a:t>
            </a:r>
            <a:endParaRPr lang="en-US" sz="3000" dirty="0"/>
          </a:p>
        </p:txBody>
      </p:sp>
      <p:sp>
        <p:nvSpPr>
          <p:cNvPr id="4" name="Text 2"/>
          <p:cNvSpPr/>
          <p:nvPr/>
        </p:nvSpPr>
        <p:spPr>
          <a:xfrm>
            <a:off x="812800" y="1870670"/>
            <a:ext cx="6350000" cy="2752923"/>
          </a:xfrm>
          <a:prstGeom prst="roundRect">
            <a:avLst>
              <a:gd name="adj" fmla="val 3691"/>
            </a:avLst>
          </a:prstGeom>
          <a:solidFill>
            <a:srgbClr val="14213D"/>
          </a:solidFill>
          <a:ln/>
        </p:spPr>
        <p:txBody>
          <a:bodyPr wrap="none" lIns="224242" tIns="173442" rIns="48982" bIns="148042" rtlCol="0" anchor="t">
            <a:normAutofit/>
          </a:bodyPr>
          <a:lstStyle/>
          <a:p>
            <a:pPr algn="l" indent="0" marL="0">
              <a:lnSpc>
                <a:spcPts val="1680"/>
              </a:lnSpc>
              <a:buNone/>
            </a:pPr>
            <a:r>
              <a:rPr lang="en-US" sz="1200" dirty="0">
                <a:solidFill>
                  <a:srgbClr val="8DA2BF"/>
                </a:solidFill>
                <a:latin typeface="JetBrains Mono" pitchFamily="49" charset="0"/>
                <a:ea typeface="JetBrains Mono" pitchFamily="49" charset="-122"/>
                <a:cs typeface="JetBrains Mono" pitchFamily="49" charset="-120"/>
              </a:rPr>
              <a:t># Volver al entorno del proyecto</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deactivate</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cd C:\Users\Usuario\proyectos\osciladores-acoplados</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.\.venv\Scripts\Activate.ps1</a:t>
            </a:r>
            <a:endParaRPr lang="en-US" sz="1200" dirty="0"/>
          </a:p>
          <a:p>
            <a:pPr algn="l" indent="0" marL="0">
              <a:lnSpc>
                <a:spcPts val="1680"/>
              </a:lnSpc>
              <a:buNone/>
            </a:pPr>
            <a:endParaRPr lang="en-US" sz="1200" dirty="0"/>
          </a:p>
          <a:p>
            <a:pPr algn="l" indent="0" marL="0">
              <a:lnSpc>
                <a:spcPts val="1680"/>
              </a:lnSpc>
              <a:buNone/>
            </a:pPr>
            <a:r>
              <a:rPr lang="en-US" sz="1200" dirty="0">
                <a:solidFill>
                  <a:srgbClr val="8DA2BF"/>
                </a:solidFill>
                <a:latin typeface="JetBrains Mono" pitchFamily="49" charset="0"/>
                <a:ea typeface="JetBrains Mono" pitchFamily="49" charset="-122"/>
                <a:cs typeface="JetBrains Mono" pitchFamily="49" charset="-120"/>
              </a:rPr>
              <a:t># 6. Subir los MISMOS archivos de dist/ a PyPI</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python -m twine upload dist/*</a:t>
            </a:r>
            <a:endParaRPr lang="en-US" sz="1200" dirty="0"/>
          </a:p>
          <a:p>
            <a:pPr algn="l" indent="0" marL="0">
              <a:lnSpc>
                <a:spcPts val="1680"/>
              </a:lnSpc>
              <a:buNone/>
            </a:pPr>
            <a:r>
              <a:rPr lang="en-US" sz="1200" dirty="0">
                <a:solidFill>
                  <a:srgbClr val="8DA2BF"/>
                </a:solidFill>
                <a:latin typeface="JetBrains Mono" pitchFamily="49" charset="0"/>
                <a:ea typeface="JetBrains Mono" pitchFamily="49" charset="-122"/>
                <a:cs typeface="JetBrains Mono" pitchFamily="49" charset="-120"/>
              </a:rPr>
              <a:t>#    → https://pypi.org/project/osciladores-acoplados-sunombre/</a:t>
            </a:r>
            <a:endParaRPr lang="en-US" sz="1200" dirty="0"/>
          </a:p>
          <a:p>
            <a:pPr algn="l" indent="0" marL="0">
              <a:lnSpc>
                <a:spcPts val="1680"/>
              </a:lnSpc>
              <a:buNone/>
            </a:pPr>
            <a:endParaRPr lang="en-US" sz="1200" dirty="0"/>
          </a:p>
          <a:p>
            <a:pPr algn="l" indent="0" marL="0">
              <a:lnSpc>
                <a:spcPts val="1680"/>
              </a:lnSpc>
              <a:buNone/>
            </a:pPr>
            <a:r>
              <a:rPr lang="en-US" sz="1200" dirty="0">
                <a:solidFill>
                  <a:srgbClr val="8DA2BF"/>
                </a:solidFill>
                <a:latin typeface="JetBrains Mono" pitchFamily="49" charset="0"/>
                <a:ea typeface="JetBrains Mono" pitchFamily="49" charset="-122"/>
                <a:cs typeface="JetBrains Mono" pitchFamily="49" charset="-120"/>
              </a:rPr>
              <a:t># Desde ahora, cualquier persona puede instalarlo</a:t>
            </a:r>
            <a:endParaRPr lang="en-US" sz="1200" dirty="0"/>
          </a:p>
          <a:p>
            <a:pPr algn="l" indent="0" marL="0">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pip install "osciladores-acoplados-sunombre[gui]"</a:t>
            </a:r>
            <a:endParaRPr lang="en-US" sz="1200" dirty="0"/>
          </a:p>
        </p:txBody>
      </p:sp>
      <p:sp>
        <p:nvSpPr>
          <p:cNvPr id="5" name="Shape 3"/>
          <p:cNvSpPr/>
          <p:nvPr/>
        </p:nvSpPr>
        <p:spPr>
          <a:xfrm>
            <a:off x="7369175" y="1873845"/>
            <a:ext cx="4006850" cy="1860550"/>
          </a:xfrm>
          <a:prstGeom prst="roundRect">
            <a:avLst>
              <a:gd name="adj" fmla="val 5290"/>
            </a:avLst>
          </a:prstGeom>
          <a:solidFill>
            <a:srgbClr val="FDFCF8"/>
          </a:solidFill>
          <a:ln w="6350">
            <a:solidFill>
              <a:srgbClr val="E2DED3"/>
            </a:solidFill>
            <a:prstDash val="solid"/>
          </a:ln>
        </p:spPr>
      </p:sp>
      <p:sp>
        <p:nvSpPr>
          <p:cNvPr id="6" name="Text 4"/>
          <p:cNvSpPr/>
          <p:nvPr/>
        </p:nvSpPr>
        <p:spPr>
          <a:xfrm>
            <a:off x="7575550" y="2080220"/>
            <a:ext cx="370192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Para la siguiente versión</a:t>
            </a:r>
            <a:endParaRPr lang="en-US" sz="1500" dirty="0"/>
          </a:p>
        </p:txBody>
      </p:sp>
      <p:sp>
        <p:nvSpPr>
          <p:cNvPr id="7" name="Text 5"/>
          <p:cNvSpPr/>
          <p:nvPr/>
        </p:nvSpPr>
        <p:spPr>
          <a:xfrm>
            <a:off x="7660580" y="2385020"/>
            <a:ext cx="3609273" cy="1168400"/>
          </a:xfrm>
          <a:prstGeom prst="rect">
            <a:avLst/>
          </a:prstGeom>
          <a:noFill/>
          <a:ln/>
        </p:spPr>
        <p:txBody>
          <a:bodyPr wrap="square" lIns="0" tIns="0" rIns="0" bIns="0" rtlCol="0" anchor="t">
            <a:normAutofit/>
          </a:bodyPr>
          <a:lstStyle/>
          <a:p>
            <a:pPr algn="l" marL="168970" indent="-168970">
              <a:lnSpc>
                <a:spcPts val="1800"/>
              </a:lnSpc>
              <a:buSzPct val="100000"/>
              <a:buFontTx/>
              <a:buAutoNum type="arabicPeriod" startAt="1"/>
            </a:pPr>
            <a:r>
              <a:rPr lang="en-US" sz="1200" dirty="0">
                <a:solidFill>
                  <a:srgbClr val="3E4A5C"/>
                </a:solidFill>
                <a:latin typeface="IBM Plex Sans" pitchFamily="34" charset="0"/>
                <a:ea typeface="IBM Plex Sans" pitchFamily="34" charset="-122"/>
                <a:cs typeface="IBM Plex Sans" pitchFamily="34" charset="-120"/>
              </a:rPr>
              <a:t>Subir la versión en pyproject.toml y __init__.py</a:t>
            </a:r>
            <a:endParaRPr lang="en-US" sz="1200" dirty="0"/>
          </a:p>
          <a:p>
            <a:pPr algn="l" marL="168970" indent="-168970">
              <a:lnSpc>
                <a:spcPts val="1800"/>
              </a:lnSpc>
              <a:buSzPct val="100000"/>
              <a:buFontTx/>
              <a:buAutoNum type="arabicPeriod" startAt="1"/>
            </a:pPr>
            <a:r>
              <a:rPr lang="en-US" sz="1200" dirty="0">
                <a:solidFill>
                  <a:srgbClr val="3E4A5C"/>
                </a:solidFill>
                <a:latin typeface="IBM Plex Sans" pitchFamily="34" charset="0"/>
                <a:ea typeface="IBM Plex Sans" pitchFamily="34" charset="-122"/>
                <a:cs typeface="IBM Plex Sans" pitchFamily="34" charset="-120"/>
              </a:rPr>
              <a:t>Borrar dist/</a:t>
            </a:r>
            <a:endParaRPr lang="en-US" sz="1200" dirty="0"/>
          </a:p>
          <a:p>
            <a:pPr algn="l" marL="168970" indent="-168970">
              <a:lnSpc>
                <a:spcPts val="1800"/>
              </a:lnSpc>
              <a:buSzPct val="100000"/>
              <a:buFontTx/>
              <a:buAutoNum type="arabicPeriod" startAt="1"/>
            </a:pPr>
            <a:r>
              <a:rPr lang="en-US" sz="1200" dirty="0">
                <a:solidFill>
                  <a:srgbClr val="3E4A5C"/>
                </a:solidFill>
                <a:latin typeface="IBM Plex Sans" pitchFamily="34" charset="0"/>
                <a:ea typeface="IBM Plex Sans" pitchFamily="34" charset="-122"/>
                <a:cs typeface="IBM Plex Sans" pitchFamily="34" charset="-120"/>
              </a:rPr>
              <a:t>python -m build y twine check</a:t>
            </a:r>
            <a:endParaRPr lang="en-US" sz="1200" dirty="0"/>
          </a:p>
          <a:p>
            <a:pPr algn="l" marL="168970" indent="-168970">
              <a:lnSpc>
                <a:spcPts val="1800"/>
              </a:lnSpc>
              <a:buSzPct val="100000"/>
              <a:buFontTx/>
              <a:buAutoNum type="arabicPeriod" startAt="1"/>
            </a:pPr>
            <a:r>
              <a:rPr lang="en-US" sz="1200" dirty="0">
                <a:solidFill>
                  <a:srgbClr val="3E4A5C"/>
                </a:solidFill>
                <a:latin typeface="IBM Plex Sans" pitchFamily="34" charset="0"/>
                <a:ea typeface="IBM Plex Sans" pitchFamily="34" charset="-122"/>
                <a:cs typeface="IBM Plex Sans" pitchFamily="34" charset="-120"/>
              </a:rPr>
              <a:t>Subir a TestPyPI y probar</a:t>
            </a:r>
            <a:endParaRPr lang="en-US" sz="1200" dirty="0"/>
          </a:p>
          <a:p>
            <a:pPr algn="l" marL="168970" indent="-168970">
              <a:lnSpc>
                <a:spcPts val="1800"/>
              </a:lnSpc>
              <a:buSzPct val="100000"/>
              <a:buFontTx/>
              <a:buAutoNum type="arabicPeriod" startAt="1"/>
            </a:pPr>
            <a:r>
              <a:rPr lang="en-US" sz="1200" dirty="0">
                <a:solidFill>
                  <a:srgbClr val="3E4A5C"/>
                </a:solidFill>
                <a:latin typeface="IBM Plex Sans" pitchFamily="34" charset="0"/>
                <a:ea typeface="IBM Plex Sans" pitchFamily="34" charset="-122"/>
                <a:cs typeface="IBM Plex Sans" pitchFamily="34" charset="-120"/>
              </a:rPr>
              <a:t>Subir a PyPI</a:t>
            </a:r>
            <a:endParaRPr lang="en-US" sz="1200" dirty="0"/>
          </a:p>
        </p:txBody>
      </p:sp>
      <p:sp>
        <p:nvSpPr>
          <p:cNvPr id="8" name="Shape 6"/>
          <p:cNvSpPr/>
          <p:nvPr/>
        </p:nvSpPr>
        <p:spPr>
          <a:xfrm>
            <a:off x="7366000" y="3889970"/>
            <a:ext cx="4013200" cy="1137841"/>
          </a:xfrm>
          <a:prstGeom prst="roundRect">
            <a:avLst>
              <a:gd name="adj" fmla="val 8929"/>
            </a:avLst>
          </a:prstGeom>
          <a:solidFill>
            <a:srgbClr val="14213D"/>
          </a:solidFill>
          <a:ln/>
        </p:spPr>
      </p:sp>
      <p:sp>
        <p:nvSpPr>
          <p:cNvPr id="9" name="Text 7"/>
          <p:cNvSpPr/>
          <p:nvPr/>
        </p:nvSpPr>
        <p:spPr>
          <a:xfrm>
            <a:off x="7569200" y="4093170"/>
            <a:ext cx="371500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35E"/>
                </a:solidFill>
                <a:latin typeface="Rubik" pitchFamily="34" charset="0"/>
                <a:ea typeface="Rubik" pitchFamily="34" charset="-122"/>
                <a:cs typeface="Rubik" pitchFamily="34" charset="-120"/>
              </a:rPr>
              <a:t>Sin vuelta atrás</a:t>
            </a:r>
            <a:endParaRPr lang="en-US" sz="1500" dirty="0"/>
          </a:p>
        </p:txBody>
      </p:sp>
      <p:sp>
        <p:nvSpPr>
          <p:cNvPr id="10" name="Text 8"/>
          <p:cNvSpPr/>
          <p:nvPr/>
        </p:nvSpPr>
        <p:spPr>
          <a:xfrm>
            <a:off x="7569200" y="4397970"/>
            <a:ext cx="371500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PyPI no acepta dos veces la misma versión, ni siquiera después de borrarla.</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Sin --repository, twine sube a PyPI · el import sigue siendo osciladores_acoplados</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A35E"/>
                </a:solidFill>
                <a:latin typeface="IBM Plex Sans" pitchFamily="34" charset="0"/>
                <a:ea typeface="IBM Plex Sans" pitchFamily="34" charset="-122"/>
                <a:cs typeface="IBM Plex Sans" pitchFamily="34" charset="-120"/>
              </a:rPr>
              <a:t>CIERRE · 5 MIN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F7F5EF"/>
                </a:solidFill>
                <a:latin typeface="Rubik" pitchFamily="34" charset="0"/>
                <a:ea typeface="Rubik" pitchFamily="34" charset="-122"/>
                <a:cs typeface="Rubik" pitchFamily="34" charset="-120"/>
              </a:rPr>
              <a:t>Retos para la próxima clase</a:t>
            </a:r>
            <a:endParaRPr lang="en-US" sz="3000" dirty="0"/>
          </a:p>
        </p:txBody>
      </p:sp>
      <p:sp>
        <p:nvSpPr>
          <p:cNvPr id="4" name="Shape 2"/>
          <p:cNvSpPr/>
          <p:nvPr/>
        </p:nvSpPr>
        <p:spPr>
          <a:xfrm>
            <a:off x="812800" y="1870670"/>
            <a:ext cx="5181600" cy="1239441"/>
          </a:xfrm>
          <a:prstGeom prst="roundRect">
            <a:avLst>
              <a:gd name="adj" fmla="val 8197"/>
            </a:avLst>
          </a:prstGeom>
          <a:solidFill>
            <a:srgbClr val="1E2E50"/>
          </a:solidFill>
          <a:ln/>
        </p:spPr>
      </p:sp>
      <p:sp>
        <p:nvSpPr>
          <p:cNvPr id="5" name="Text 3"/>
          <p:cNvSpPr/>
          <p:nvPr/>
        </p:nvSpPr>
        <p:spPr>
          <a:xfrm>
            <a:off x="1066800" y="2124670"/>
            <a:ext cx="48138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35E"/>
                </a:solidFill>
                <a:latin typeface="Rubik" pitchFamily="34" charset="0"/>
                <a:ea typeface="Rubik" pitchFamily="34" charset="-122"/>
                <a:cs typeface="Rubik" pitchFamily="34" charset="-120"/>
              </a:rPr>
              <a:t>1. Amortiguamiento</a:t>
            </a:r>
            <a:endParaRPr lang="en-US" sz="1500" dirty="0"/>
          </a:p>
        </p:txBody>
      </p:sp>
      <p:sp>
        <p:nvSpPr>
          <p:cNvPr id="6" name="Text 4"/>
          <p:cNvSpPr/>
          <p:nvPr/>
        </p:nvSpPr>
        <p:spPr>
          <a:xfrm>
            <a:off x="1066800" y="2429470"/>
            <a:ext cx="48138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Agregar una fuerza −γ v. ¿Qué estrategia deja de ser válida y por qué?</a:t>
            </a:r>
            <a:endParaRPr lang="en-US" sz="1200" dirty="0"/>
          </a:p>
        </p:txBody>
      </p:sp>
      <p:sp>
        <p:nvSpPr>
          <p:cNvPr id="7" name="Shape 5"/>
          <p:cNvSpPr/>
          <p:nvPr/>
        </p:nvSpPr>
        <p:spPr>
          <a:xfrm>
            <a:off x="6197600" y="1870670"/>
            <a:ext cx="5181600" cy="1239441"/>
          </a:xfrm>
          <a:prstGeom prst="roundRect">
            <a:avLst>
              <a:gd name="adj" fmla="val 8197"/>
            </a:avLst>
          </a:prstGeom>
          <a:solidFill>
            <a:srgbClr val="1E2E50"/>
          </a:solidFill>
          <a:ln/>
        </p:spPr>
      </p:sp>
      <p:sp>
        <p:nvSpPr>
          <p:cNvPr id="8" name="Text 6"/>
          <p:cNvSpPr/>
          <p:nvPr/>
        </p:nvSpPr>
        <p:spPr>
          <a:xfrm>
            <a:off x="6451600" y="2124670"/>
            <a:ext cx="48138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35E"/>
                </a:solidFill>
                <a:latin typeface="Rubik" pitchFamily="34" charset="0"/>
                <a:ea typeface="Rubik" pitchFamily="34" charset="-122"/>
                <a:cs typeface="Rubik" pitchFamily="34" charset="-120"/>
              </a:rPr>
              <a:t>2. Resonancia</a:t>
            </a:r>
            <a:endParaRPr lang="en-US" sz="1500" dirty="0"/>
          </a:p>
        </p:txBody>
      </p:sp>
      <p:sp>
        <p:nvSpPr>
          <p:cNvPr id="9" name="Text 7"/>
          <p:cNvSpPr/>
          <p:nvPr/>
        </p:nvSpPr>
        <p:spPr>
          <a:xfrm>
            <a:off x="6451600" y="2429470"/>
            <a:ext cx="48138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Forzar una masa con F₀ cos(Ωt) y barrer Ω cerca de cada ωⱼ.</a:t>
            </a:r>
            <a:endParaRPr lang="en-US" sz="1200" dirty="0"/>
          </a:p>
        </p:txBody>
      </p:sp>
      <p:sp>
        <p:nvSpPr>
          <p:cNvPr id="10" name="Shape 8"/>
          <p:cNvSpPr/>
          <p:nvPr/>
        </p:nvSpPr>
        <p:spPr>
          <a:xfrm>
            <a:off x="812800" y="3313311"/>
            <a:ext cx="5181600" cy="1239441"/>
          </a:xfrm>
          <a:prstGeom prst="roundRect">
            <a:avLst>
              <a:gd name="adj" fmla="val 8197"/>
            </a:avLst>
          </a:prstGeom>
          <a:solidFill>
            <a:srgbClr val="1E2E50"/>
          </a:solidFill>
          <a:ln/>
        </p:spPr>
      </p:sp>
      <p:sp>
        <p:nvSpPr>
          <p:cNvPr id="11" name="Text 9"/>
          <p:cNvSpPr/>
          <p:nvPr/>
        </p:nvSpPr>
        <p:spPr>
          <a:xfrm>
            <a:off x="1066800" y="3567311"/>
            <a:ext cx="48138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35E"/>
                </a:solidFill>
                <a:latin typeface="Rubik" pitchFamily="34" charset="0"/>
                <a:ea typeface="Rubik" pitchFamily="34" charset="-122"/>
                <a:cs typeface="Rubik" pitchFamily="34" charset="-120"/>
              </a:rPr>
              <a:t>3. Un integrador más</a:t>
            </a:r>
            <a:endParaRPr lang="en-US" sz="1500" dirty="0"/>
          </a:p>
        </p:txBody>
      </p:sp>
      <p:sp>
        <p:nvSpPr>
          <p:cNvPr id="12" name="Text 10"/>
          <p:cNvSpPr/>
          <p:nvPr/>
        </p:nvSpPr>
        <p:spPr>
          <a:xfrm>
            <a:off x="1066800" y="3872111"/>
            <a:ext cx="48138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Euler-Cromer o Leapfrog, registrado en la fábrica y con su prueba.</a:t>
            </a:r>
            <a:endParaRPr lang="en-US" sz="1200" dirty="0"/>
          </a:p>
        </p:txBody>
      </p:sp>
      <p:sp>
        <p:nvSpPr>
          <p:cNvPr id="13" name="Shape 11"/>
          <p:cNvSpPr/>
          <p:nvPr/>
        </p:nvSpPr>
        <p:spPr>
          <a:xfrm>
            <a:off x="6197600" y="3313311"/>
            <a:ext cx="5181600" cy="1239441"/>
          </a:xfrm>
          <a:prstGeom prst="roundRect">
            <a:avLst>
              <a:gd name="adj" fmla="val 8197"/>
            </a:avLst>
          </a:prstGeom>
          <a:solidFill>
            <a:srgbClr val="1E2E50"/>
          </a:solidFill>
          <a:ln/>
        </p:spPr>
      </p:sp>
      <p:sp>
        <p:nvSpPr>
          <p:cNvPr id="14" name="Text 12"/>
          <p:cNvSpPr/>
          <p:nvPr/>
        </p:nvSpPr>
        <p:spPr>
          <a:xfrm>
            <a:off x="6451600" y="3567311"/>
            <a:ext cx="48138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35E"/>
                </a:solidFill>
                <a:latin typeface="Rubik" pitchFamily="34" charset="0"/>
                <a:ea typeface="Rubik" pitchFamily="34" charset="-122"/>
                <a:cs typeface="Rubik" pitchFamily="34" charset="-120"/>
              </a:rPr>
              <a:t>4. Otra interfaz</a:t>
            </a:r>
            <a:endParaRPr lang="en-US" sz="1500" dirty="0"/>
          </a:p>
        </p:txBody>
      </p:sp>
      <p:sp>
        <p:nvSpPr>
          <p:cNvPr id="15" name="Text 13"/>
          <p:cNvSpPr/>
          <p:nvPr/>
        </p:nvSpPr>
        <p:spPr>
          <a:xfrm>
            <a:off x="6451600" y="3872111"/>
            <a:ext cx="48138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Una línea de comandos con argparse o un notebook, sin tocar core.py.</a:t>
            </a:r>
            <a:endParaRPr lang="en-US" sz="1200" dirty="0"/>
          </a:p>
        </p:txBody>
      </p:sp>
      <p:sp>
        <p:nvSpPr>
          <p:cNvPr id="16" name="Text 14"/>
          <p:cNvSpPr/>
          <p:nvPr/>
        </p:nvSpPr>
        <p:spPr>
          <a:xfrm>
            <a:off x="812800" y="475595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EF"/>
                </a:solidFill>
                <a:latin typeface="IBM Plex Sans" pitchFamily="34" charset="0"/>
                <a:ea typeface="IBM Plex Sans" pitchFamily="34" charset="-122"/>
                <a:cs typeface="IBM Plex Sans" pitchFamily="34" charset="-120"/>
              </a:rPr>
              <a:t>Cada reto se entrega como una nueva versión del paquete: 0.2.0, 0.3.0…</a:t>
            </a:r>
            <a:endParaRPr lang="en-US" sz="15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A2BF"/>
                </a:solidFill>
                <a:latin typeface="IBM Plex Sans" pitchFamily="34" charset="0"/>
                <a:ea typeface="IBM Plex Sans" pitchFamily="34" charset="-122"/>
                <a:cs typeface="IBM Plex Sans" pitchFamily="34" charset="-120"/>
              </a:rPr>
              <a:t>Osciladores acoplados · de la física a PyPI</a:t>
            </a:r>
            <a:endParaRPr lang="en-US" sz="1200" dirty="0"/>
          </a:p>
        </p:txBody>
      </p:sp>
    </p:spTree>
  </p:cSld>
  <p:clrMapOvr>
    <a:masterClrMapping/>
  </p:clrMapOvr>
</p:sld>
</file>

<file path=ppt/theme/theme1.xml><?xml version="1.0" encoding="utf-8"?>
<a:theme xmlns:a="http://schemas.openxmlformats.org/drawingml/2006/main" name="Osciladores acoplados: de la física a PyPI">
  <a:themeElements>
    <a:clrScheme name="Osciladores acoplados: de la física a PyPI">
      <a:dk1>
        <a:srgbClr val="14213D"/>
      </a:dk1>
      <a:lt1>
        <a:srgbClr val="F7F5EF"/>
      </a:lt1>
      <a:dk2>
        <a:srgbClr val="4D566A"/>
      </a:dk2>
      <a:lt2>
        <a:srgbClr val="E0E0DD"/>
      </a:lt2>
      <a:accent1>
        <a:srgbClr val="B4531A"/>
      </a:accent1>
      <a:accent2>
        <a:srgbClr val="F0A35E"/>
      </a:accent2>
      <a:accent3>
        <a:srgbClr val="2F6FB3"/>
      </a:accent3>
      <a:accent4>
        <a:srgbClr val="8DA2BF"/>
      </a:accent4>
      <a:accent5>
        <a:srgbClr val="8DB8EA"/>
      </a:accent5>
      <a:accent6>
        <a:srgbClr val="3E4A5C"/>
      </a:accent6>
      <a:hlink>
        <a:srgbClr val="0563C1"/>
      </a:hlink>
      <a:folHlink>
        <a:srgbClr val="954F72"/>
      </a:folHlink>
    </a:clrScheme>
    <a:fontScheme name="Osciladores acoplados: de la física a PyPI">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Osciladores acoplados: de la física a PyPI</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Rubik
Copyright 2015 The Rubik Project Authors (https://github.com/googlefonts/rubik)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2026-10-27T16:10:28Z</dcterms:created>
  <dcterms:modified xsi:type="dcterms:W3CDTF">2026-10-27T16:10:28Z</dcterms:modified>
</cp:coreProperties>
</file>