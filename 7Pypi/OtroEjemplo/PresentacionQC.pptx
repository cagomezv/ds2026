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embeddedFontLst>
    <p:embeddedFont>
      <p:font typeface="Calibri" panose="020F0502020204030204" pitchFamily="34" charset="0"/>
      <p:regular r:id="rId36"/>
      <p:bold r:id="rId37"/>
      <p:italic r:id="rId38"/>
      <p:boldItalic r:id="rId39"/>
    </p:embeddedFont>
    <p:embeddedFont>
      <p:font typeface="JetBrains Mono" panose="020B0604020202020204" charset="0"/>
      <p:regular r:id="rId40"/>
      <p:bold r:id="rId41"/>
    </p:embeddedFont>
    <p:embeddedFont>
      <p:font typeface="Rubik" panose="020B0604020202020204" charset="-79"/>
      <p:regular r:id="rId42"/>
      <p:bold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6098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(1 min). Mostrar GUI.py funcionando: elegir Grover con 3 qubits, ejecutar paso a paso y ver cómo crece la barra de 101; luego deshacer. Antes de clase, cada estudiante descomprime el proyecto y, dentro de su carpeta, ejecuta: python -m venv .venv, activa el entorno con .venv\Scripts\Activate.ps1 y ejecuta python -m pip install -e ".[gui,dev]". Si ya hicieron el proyecto de osciladores acoplados, la estructura es idéntica; lo nuevo es la física y el patrón de diseño.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(1 min). La estructura del proyecto es la misma del ejemplo de osciladores: lógica en core.py, interfaz en GUI.py, pruebas y publicación. Cada etapa termina con un archivo o un resultado concreto. Si el grupo no conoce el proyecto anterior, la etapa 2 y la 8 merecen más calma.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1, 0:02 a 0:06. Partir de lo que conocen de mecánica cuántica: un sistema de dos niveles (espín 1/2, polarización de un fotón). En el código, un qubit es simplemente un arreglo de NumPy de dos números complejos. La esfera de Bloch: α = cos(θ/2), β = e^{iφ} sin(θ/2); θ y φ son los ángulos de la esfera. En el simulador, RY(θ) y RZ(φ) mueven el vector justo así, y estado.bloch(q) devuelve sus coordenadas (x, y, 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1, 0:06 a 0:10. Producto tensorial: dos qubits en |0⟩ y |1⟩ forman |01⟩, el vector (0, 1, 0, 0). La tabla muestra por qué un computador cuántico es interesante: 30 qubits ya exigen 16 GB a un simulador clásico, y cada qubit adicional duplica la memoria. La convención de orden es una fuente frecuente de confusión: Qiskit usa la opuesta (qubit 0 a la derecha). En este proyecto se eligió la de los libros de texto.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1, 0:10 a 0:15. Hacer en el tablero H|0⟩ y luego CNOT sobre (|00⟩+|10⟩)/√2 para llegar al estado de Bell (|00⟩+|11⟩)/√2. U† es la traspuesta conjugada; para una unitaria es la inversa. Esta propiedad física es la que aprovechará el patrón Command en la etapa 2: si cada puerta guarda su matriz, deshacerla es trivial. La medición rompe esta simetría, y en el código eso obliga a una solución distinta (etapa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0:15 a 0:18. La arquitectura es la misma del proyecto anterior, a propósito: el método de trabajo se repite aunque cambie la física. Se decidió no usar Qiskit u otra librería cuántica para que nada sea una caja negra: todo el simulador cabe en un archivo de unas 500 líneas que los estudiantes pueden leer completo.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0:18 a 0:21. Plantear el problema antes del patrón. Queremos: ejecutar el circuito paso a paso para ver cómo cambia el estado, deshacer, dibujar el circuito y guardarlo. Con una cadena de if/elif, las puertas son sólo texto: el código que las aplica no recuerda nada. El patrón Command convierte cada orden en un objeto con dos métodos, aplicar y deshacer; el circuito sólo guarda la lista y un marcador de posición. Es el mismo mecanismo del Ctrl+Z de un editor de texto.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0:21 a 0:26. Los tres papeles del patrón: el comando (Puerta, con aplicar y deshacer), el receptor (EstadoCuantico, sobre el que actúan) y el invocador (Circuito, que guarda la lista, el historial y decide cuándo ejecutar). Dos familias de comandos: las unitarias heredan de PuertaMatricial y se deshacen con U†; Medir no es unitaria y se deshace restaurando una copia guardada del estado (patrón Memento). La analogía del Ctrl+Z de un editor funciona muy bien aquí.</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2, 0:26 a 0:30. Si vienen del proyecto de osciladores, comparar: allí había un problema (resolver M ẍ = −K x) y varias formas de resolverlo, así que Strategy encajaba. Aquí hay una secuencia de operaciones que se ejecutan en orden y se pueden revertir: eso es Command. Elegir un patrón es reconocer la forma del problema. La alternativa de multiplicar todas las matrices en una sola U total funciona para circuitos pequeños, pero pierde los estados intermedios, que son justamente lo que queremos enseñar, y la matriz de 2ⁿ × 2ⁿ crece muy rápido.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0:30 a 0:33. Glosario para quienes no programan a diario. Probar en la consola de Python: a = 0.6 + 0.8j; abs(a) ** 2 da 1.0. Luego import numpy as np; v = np.arange(8); v.reshape(2, 2, 2) para ver el cubo. Con estas seis piezas se lee todo el archivo core.py.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0:33 a 0:37. Este es el corazón del simulador. El vector de estado guarda 2ⁿ amplitudes complejas y empieza en |00…0⟩. aplicar_matriz es la única operación que necesitan todas las puertas unitarias. Versión resumida: el archivo real también valida los datos y normaliza un vector dado por el usuario. Preguntar: ¿qué tamaño tendría U para una puerta de 1 qubit? (2 × 2) ¿y para CNOT? (4 × 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0:37 a 0:41. La idea clave: una puerta sobre el qubit 1 actúa igual en todas las «columnas» formadas por los demás qubits. reshape y moveaxis sólo reorganizan los números para que esa multiplicación sea una sola línea. Hacer el ejemplo de la derecha en vivo: H sobre q1 da 0.707|00⟩ + 0.707|01⟩ (el bit que cambia es el de la derecha, q1); después H sobre q0 deja los 4 resultados con probabilidad 1/4.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3, 0:41 a 0:45. probabilidades() es exacta: lo que predice la teoría. medir() imita al laboratorio: repite el experimento muchas veces y cuenta. Con 1000 disparos sobre el estado de Bell se obtiene algo como 00: 502, 11: 498; nunca 01 ni 10. Medir así no modifica el estado del simulador (en un equipo real cada medición destruye el estado y hay que volver a prepararlo). etiqueta(k) convierte el índice k en una cadena de bits, por ejemplo 6 → '110' con 3 qubits.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0:45 a 0:49. Versión resumida del archivo. Puerta define el contrato del patrón Command. PuertaMatricial lo cumple para todas las puertas unitarias a la vez: aplicar multiplica por U y deshacer por U†. Por eso H, X, Z, CNOT, CZ, SWAP, Toffoli, RX, RY y RZ son clases de pocas líneas: sólo dan su matriz. Mostrar en core.py las clases reales.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0:49 a 0:53. Oraculo y Difusion tienen además un atajo: en vez de multiplicar por una matriz de 2ⁿ × 2ⁿ, cambian un signo o calculan 2·media − a_k directamente. Así Grover con 12 qubits tarda milisegundos. La prueba test_atajos_de_grover_coinciden_con_la_matriz verifica que el atajo y la matriz dan exactamente lo mismo: optimizar sí, pero con una prueba que lo respalde.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0:53 a 0:57. El Circuito no sabe nada de física: no sabe qué hace una H ni una CNOT. Sólo guarda la lista, un marcador (posicion) y le pide a cada puerta que se aplique o se deshaga. Ese desconocimiento es la virtud del patrón: se pueden agregar puertas nuevas sin tocar esta clase.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0:57 a 1:01. Los estados son reales, calculados con la librería. Ejecutar en la consola: c = CatalogoCircuitos.bell(); c.paso(); c.estado.ket(); c.paso(); c.estado.ket(); c.deshacer(); c.estado.ket(). Observar que tras H(0) cambia el bit de la izquierda (q0) y que la CNOT copia ese bit sobre q1, creando el entrelazamiento.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4, 1:01 a 1:05. Buen momento para discutir la diferencia entre simular y medir de verdad. La medición proyecta el estado sobre el resultado obtenido y renormaliza: si en el estado de Bell q0 da 0, el estado pasa a |00⟩. Probar: c = CatalogoCircuitos.bell().agregar(Medir(0)); c.ejecutar(); c.estado.ket(); c.deshacer(); c.estado.ket(). El patrón Command se adapta sin problema: cada comando decide cómo deshacerse.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5, 1:05 a 1:09. En la GUI: elegir «Estado de Bell», ejecutar paso a paso y luego «Medir N veces». Mostrar en la pestaña «Estado: ket y Bloch» que |r| = 0 para ambos qubits: ninguno tiene un estado propio, el estado describe al par. Es el punto de partida de la teleportación y de los experimentos de Bell (Premio Nobel de Física 2022). Variante: CatalogoCircuitos.ghz(4) extiende la idea a 4 qubits.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5, 1:09 a 1:14. Lo que se transmite no es materia sino el estado. En el protocolo real, el emisor mide q0 y q1 y envía dos bits clásicos; el receptor aplica X y/o Z sobre q2 según esos bits. Aquí las correcciones se hacen con CNOT y CZ controladas (principio de medición diferida): da el mismo resultado y el circuito queda determinista, así se puede verificar con una prueba. Al final, q0 queda en (1, 0, 0): el estado original se destruyó, como exige el teorema de no clonación. Probar en la GUI con distintos θ y φ y comparar los vectores de Bloch.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5, 1:14 a 1:20. Los valores de la gráfica salen de CatalogoCircuitos.grover(3, 0b101, k) con k = 0 … 5. Un buscador clásico necesita en promedio N/2 consultas; Grover, unas (π/4)√N. Interpretación geométrica: cada iteración gira el estado un ángulo fijo hacia |101⟩; si se gira de más, se pasa de largo, por eso con 3 iteraciones la probabilidad baja. En la GUI: Grover con 3 qubits, ejecutar paso a paso y mirar la barra de 101 en cada Oráculo y cada Difusión. Probar también 5 o 6 qubits.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6, 1:20 a 1:25. Abrir GUI.py y mostrar: _crear_panel (los cuatro bloques de la izquierda), _dibujar_circuito (cables, cajas, punto de control y ⊕ en un tk.Canvas; azul = aplicada, gris = pendiente, línea naranja = posición) y _graficar_probabilidades (matplotlib). La gráfica de la diapositiva son las probabilidades reales tras una iteración de Grover: 0.781 para 101 y 0.031 para los demás.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6, 1:25 a 1:30. Actividad: elegir «Circuito vacío» con 2 qubits, agregar H en 0 y CNOT en 0, 1 y verificar que sale el estado de Bell. Luego provocar un error a propósito (CNOT con un solo qubit, o un qubit que no existe) para ver cómo la GUI muestra el mensaje que generó la lógica.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7, 1:30 a 1:35. Con el entorno activo, correr pytest -v. pytest.approx compara números decimales con tolerancia, también dentro de un diccionario. Las pruebas de teleportación y Grover usan @pytest.mark.parametrize para repetirse con varios datos. Romper algo a propósito, por ejemplo cambiar el signo -1 de la matriz H por +1, y ver qué pruebas fallan: la de unitariedad avisa de inmediato.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1:35 a 1:37. Idéntica a la del proyecto de osciladores: ese es el punto, la receta se reutiliza. El diseño src/ obliga a instalar el paquete para usarlo, así los errores de empaquetado aparecen antes de publicar. matplotlib es una dependencia opcional (extra gui): quien sólo quiere el simulador instala únicamente NumPy.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1:37 a 1:40. Mostrar el mensaje en vivo: abrir una terminal nueva sin activar el entorno y ejecutar python GUI.py. Luego activar el entorno (el prompt muestra (.venv)) y todo funciona. Si PowerShell bloquea Activate.ps1: Set-ExecutionPolicy -Scope CurrentUser RemoteSigned, una sola vez. Para saber qué copia de la librería se usa: python -c "import circuitos_cuanticos as cc; print(cc.__file__)"; si la ruta termina en src es la instalación editable.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1:40 a 1:41. Sólo el mapa general: las cinco diapositivas siguientes detallan cada paso con los comandos exactos. Todo el detalle también está en PUBLICAR_PYPI.md dentro del proyecto.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1:41 a 1:43. Todo lo que se ve en la página del proyecto en test.pypi.org y en pypi.org sale de aquí: name forma la URL, description es el subtítulo, el README es el cuerpo y [project.urls] son los enlaces laterales. Buscar el nombre en pypi.org y en test.pypi.org antes de usarlo: si existe en cualquiera de los dos, la subida falla con 403. Cada estudiante usa su propio sufijo. Recordar poner la misma versión en src/circuitos_cuanticos/__init__.py.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1:43 a 1:46. Ejecutar en vivo con el entorno activo. python -m build lee pyproject.toml y genera dos archivos en dist/, por ejemplo circuitos_cuanticos_sunombre-0.1.0.tar.gz y circuitos_cuanticos_sunombre-0.1.0-py3-none-any.whl (el guion del nombre se vuelve guion bajo). Se borra dist/ antes para no subir archivos de versiones viejas. twine check debe decir PASSED dos veces; si dice FAILED, casi siempre es el README o pyproject.toml.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1:46 a 1:49. Hacer esto ANTES de la clase: el registro y la autenticación de dos factores toman tiempo. TestPyPI y PyPI son sitios separados: cuenta, contraseña y token de uno no sirven en el otro. Token: iniciar sesión, Account settings, API tokens, Add API token. La primera vez el alcance debe ser «Entire account» porque el proyecto aún no existe; después conviene crear uno limitado al proyecto. El token empieza por pypi- y se muestra una sola vez: copiarlo al archivo .pypirc en la carpeta personal (Windows C:\Users\SU_USUARIO\.pypirc; Linux y macOS ~/.pypirc). Sin .pypirc, twine pide usuario (__token__) y contraseña (el token).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1:49 a 1:52. Abrir en el navegador la dirección que imprime twine: allí está la página con el README. Probar en un entorno nuevo, en otra carpeta, como lo haría un desconocido. --index-url busca el paquete en TestPyPI y --extra-index-url busca NumPy en PyPI. Si imprime 0.1.0, funciona; completar la prueba con python -c "from circuitos_cuanticos import CatalogoCircuitos as C; print(C.bell().ejecutar().ket())". Si algo falla: corregir, subir la versión (0.1.1), reconstruir y repetir. En TestPyPI equivocarse no cuesta nada.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Etapa 8, 1:52 a 1:55. Sin --repository, twine sube a PyPI y usa la sección [pypi] de .pypirc. Se suben exactamente los mismos archivos ya probados en TestPyPI: no se reconstruye entre un paso y otro. Luego, en cualquier computador: pip install "circuitos-cuanticos-sunombre[gui]" instala la librería con matplotlib, y el import sigue siendo import circuitos_cuanticos. Una versión publicada no se puede reemplazar: por eso primero se ensaya.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1:55 a 2:00. Recapitular: (1) un registro de qubits es un vector de 2ⁿ amplitudes y cada puerta una matriz unitaria; (2) el patrón Command convierte cada puerta en una orden que se aplica y se deshace, lo que permite ejecutar paso a paso; (3) con pyproject.toml, build y twine el simulador se convierte en una librería pública. Pistas: el reto 1 sólo necesita una puerta nueva tipo oráculo; el reto 2 es un comando no unitario como Medir; el reto 3 necesita una puerta de fase controlada (subclase de PuertaMatricial con una matriz 4 × 4 diagonal).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72270"/>
            <a:ext cx="10566400" cy="407293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72270"/>
            <a:ext cx="10566400" cy="407293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229320"/>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7F5EF"/>
                </a:solidFill>
                <a:latin typeface="Rubik" pitchFamily="34" charset="0"/>
                <a:ea typeface="Rubik" pitchFamily="34" charset="-122"/>
                <a:cs typeface="Rubik" pitchFamily="34" charset="-120"/>
              </a:rPr>
              <a:t>Circuitos cuánticos</a:t>
            </a:r>
            <a:endParaRPr lang="en-US" sz="4800" dirty="0"/>
          </a:p>
        </p:txBody>
      </p:sp>
      <p:sp>
        <p:nvSpPr>
          <p:cNvPr id="4" name="Text 2"/>
          <p:cNvSpPr/>
          <p:nvPr/>
        </p:nvSpPr>
        <p:spPr>
          <a:xfrm>
            <a:off x="812800" y="2072580"/>
            <a:ext cx="9483725"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D3E3"/>
                </a:solidFill>
                <a:latin typeface="IBM Plex Sans" pitchFamily="34" charset="0"/>
                <a:ea typeface="IBM Plex Sans" pitchFamily="34" charset="-122"/>
                <a:cs typeface="IBM Plex Sans" pitchFamily="34" charset="-120"/>
              </a:rPr>
              <a:t>Un simulador de qubits en Python con el patrón Command: estado de Bell, teleportación y algoritmo de Grover, publicado como librería en PyPI.</a:t>
            </a:r>
            <a:endParaRPr lang="en-US" sz="2000" dirty="0"/>
          </a:p>
        </p:txBody>
      </p:sp>
      <p:pic>
        <p:nvPicPr>
          <p:cNvPr id="5" name="Image 0" descr="circuito decorativo"/>
          <p:cNvPicPr>
            <a:picLocks noChangeAspect="1"/>
          </p:cNvPicPr>
          <p:nvPr/>
        </p:nvPicPr>
        <p:blipFill>
          <a:blip r:embed="rId3"/>
          <a:srcRect t="-49" b="-49"/>
          <a:stretch/>
        </p:blipFill>
        <p:spPr>
          <a:xfrm>
            <a:off x="812800" y="4572000"/>
            <a:ext cx="6985000" cy="1270000"/>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A2BF"/>
                </a:solidFill>
                <a:latin typeface="IBM Plex Sans" pitchFamily="34" charset="0"/>
                <a:ea typeface="IBM Plex Sans" pitchFamily="34" charset="-122"/>
                <a:cs typeface="IBM Plex Sans" pitchFamily="34" charset="-120"/>
              </a:rPr>
              <a:t>Carlos Andrés Gómez Vasco· Desarrollo de Software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AGENDA</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Ocho etapas en 120 minutos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10553700" cy="3592710"/>
        </p:xfrm>
        <a:graphic>
          <a:graphicData uri="http://schemas.openxmlformats.org/drawingml/2006/table">
            <a:tbl>
              <a:tblPr/>
              <a:tblGrid>
                <a:gridCol w="1794129">
                  <a:extLst>
                    <a:ext uri="{9D8B030D-6E8A-4147-A177-3AD203B41FA5}">
                      <a16:colId xmlns:a16="http://schemas.microsoft.com/office/drawing/2014/main" val="20000"/>
                    </a:ext>
                  </a:extLst>
                </a:gridCol>
                <a:gridCol w="4749165">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Inicio · duración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Etapa</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Entregable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0:00 · 15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 Física: qubits, medición y puertas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Vector de estado</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0:15 · 15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2. Diseño: el patrón Command</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Diagrama de clases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0:30 · 15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3. Modelo: EstadoCuantico</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Amplitudes y medición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0:45 · 20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4. Puertas y circuito</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Paso a paso y deshacer</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1:05 · 15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5. Bell, teleportación y Grover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Tres algoritmos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1:20 · 10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6. Interfaz gráfica en tkinter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GUI.py</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1:30 · 5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7. Pruebas con pytest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tests/test_core.py</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1:35 · 20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8. Publicar en TestPyPI y PyPI</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pip install circuitos-cuanticos</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8"/>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1:55 · 5 min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Cierre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Retos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1 · FÍSICA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Un qubit: dos amplitudes complejas</a:t>
            </a:r>
            <a:endParaRPr lang="en-US" sz="3000" dirty="0"/>
          </a:p>
        </p:txBody>
      </p:sp>
      <p:sp>
        <p:nvSpPr>
          <p:cNvPr id="4" name="Shape 2"/>
          <p:cNvSpPr/>
          <p:nvPr/>
        </p:nvSpPr>
        <p:spPr>
          <a:xfrm>
            <a:off x="812800" y="1870670"/>
            <a:ext cx="6985000" cy="1384300"/>
          </a:xfrm>
          <a:prstGeom prst="roundRect">
            <a:avLst>
              <a:gd name="adj" fmla="val 7339"/>
            </a:avLst>
          </a:prstGeom>
          <a:solidFill>
            <a:srgbClr val="14213D"/>
          </a:solidFill>
          <a:ln/>
        </p:spPr>
      </p:sp>
      <p:sp>
        <p:nvSpPr>
          <p:cNvPr id="5" name="Text 3"/>
          <p:cNvSpPr/>
          <p:nvPr/>
        </p:nvSpPr>
        <p:spPr>
          <a:xfrm>
            <a:off x="1066800" y="2124670"/>
            <a:ext cx="6671310" cy="558800"/>
          </a:xfrm>
          <a:prstGeom prst="rect">
            <a:avLst/>
          </a:prstGeom>
          <a:noFill/>
          <a:ln/>
        </p:spPr>
        <p:txBody>
          <a:bodyPr wrap="square" lIns="0" tIns="0" rIns="0" bIns="0" rtlCol="0" anchor="t">
            <a:normAutofit/>
          </a:bodyPr>
          <a:lstStyle/>
          <a:p>
            <a:pPr marL="0" indent="0" algn="l">
              <a:lnSpc>
                <a:spcPts val="4200"/>
              </a:lnSpc>
              <a:buNone/>
            </a:pPr>
            <a:r>
              <a:rPr lang="en-US" sz="3000" dirty="0">
                <a:solidFill>
                  <a:srgbClr val="F7F5EF"/>
                </a:solidFill>
                <a:latin typeface="Rubik" pitchFamily="34" charset="0"/>
                <a:ea typeface="Rubik" pitchFamily="34" charset="-122"/>
                <a:cs typeface="Rubik" pitchFamily="34" charset="-120"/>
              </a:rPr>
              <a:t>|ψ⟩ = α|0⟩ + β|1⟩</a:t>
            </a:r>
            <a:endParaRPr lang="en-US" sz="3000" dirty="0"/>
          </a:p>
        </p:txBody>
      </p:sp>
      <p:sp>
        <p:nvSpPr>
          <p:cNvPr id="6" name="Text 4"/>
          <p:cNvSpPr/>
          <p:nvPr/>
        </p:nvSpPr>
        <p:spPr>
          <a:xfrm>
            <a:off x="1066800" y="2734270"/>
            <a:ext cx="667131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IBM Plex Sans" pitchFamily="34" charset="0"/>
                <a:ea typeface="IBM Plex Sans" pitchFamily="34" charset="-122"/>
                <a:cs typeface="IBM Plex Sans" pitchFamily="34" charset="-120"/>
              </a:rPr>
              <a:t>α, β complejos con |α|² + |β|² = 1</a:t>
            </a:r>
            <a:endParaRPr lang="en-US" sz="1500" dirty="0"/>
          </a:p>
        </p:txBody>
      </p:sp>
      <p:sp>
        <p:nvSpPr>
          <p:cNvPr id="7" name="Shape 5"/>
          <p:cNvSpPr/>
          <p:nvPr/>
        </p:nvSpPr>
        <p:spPr>
          <a:xfrm>
            <a:off x="815975" y="3410545"/>
            <a:ext cx="3384550" cy="1144191"/>
          </a:xfrm>
          <a:prstGeom prst="roundRect">
            <a:avLst>
              <a:gd name="adj" fmla="val 8602"/>
            </a:avLst>
          </a:prstGeom>
          <a:solidFill>
            <a:srgbClr val="FDFCF8"/>
          </a:solidFill>
          <a:ln w="6350">
            <a:solidFill>
              <a:srgbClr val="E2DED3"/>
            </a:solidFill>
            <a:prstDash val="solid"/>
          </a:ln>
        </p:spPr>
      </p:sp>
      <p:sp>
        <p:nvSpPr>
          <p:cNvPr id="8" name="Text 6"/>
          <p:cNvSpPr/>
          <p:nvPr/>
        </p:nvSpPr>
        <p:spPr>
          <a:xfrm>
            <a:off x="1022350" y="3616920"/>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Superposición</a:t>
            </a:r>
            <a:endParaRPr lang="en-US" sz="1500" dirty="0"/>
          </a:p>
        </p:txBody>
      </p:sp>
      <p:sp>
        <p:nvSpPr>
          <p:cNvPr id="9" name="Text 7"/>
          <p:cNvSpPr/>
          <p:nvPr/>
        </p:nvSpPr>
        <p:spPr>
          <a:xfrm>
            <a:off x="1022350" y="3921720"/>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Si α y β son ambos distintos de cero, el qubit no está «en 0 o en 1».</a:t>
            </a:r>
            <a:endParaRPr lang="en-US" sz="1200" dirty="0"/>
          </a:p>
        </p:txBody>
      </p:sp>
      <p:sp>
        <p:nvSpPr>
          <p:cNvPr id="10" name="Shape 8"/>
          <p:cNvSpPr/>
          <p:nvPr/>
        </p:nvSpPr>
        <p:spPr>
          <a:xfrm>
            <a:off x="4410075" y="3410545"/>
            <a:ext cx="3384550" cy="1144191"/>
          </a:xfrm>
          <a:prstGeom prst="roundRect">
            <a:avLst>
              <a:gd name="adj" fmla="val 8602"/>
            </a:avLst>
          </a:prstGeom>
          <a:solidFill>
            <a:srgbClr val="FDFCF8"/>
          </a:solidFill>
          <a:ln w="6350">
            <a:solidFill>
              <a:srgbClr val="E2DED3"/>
            </a:solidFill>
            <a:prstDash val="solid"/>
          </a:ln>
        </p:spPr>
      </p:sp>
      <p:sp>
        <p:nvSpPr>
          <p:cNvPr id="11" name="Text 9"/>
          <p:cNvSpPr/>
          <p:nvPr/>
        </p:nvSpPr>
        <p:spPr>
          <a:xfrm>
            <a:off x="4616450" y="3616920"/>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Regla de Born</a:t>
            </a:r>
            <a:endParaRPr lang="en-US" sz="1500" dirty="0"/>
          </a:p>
        </p:txBody>
      </p:sp>
      <p:sp>
        <p:nvSpPr>
          <p:cNvPr id="12" name="Text 10"/>
          <p:cNvSpPr/>
          <p:nvPr/>
        </p:nvSpPr>
        <p:spPr>
          <a:xfrm>
            <a:off x="4616450" y="3921720"/>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Al medir sale 0 con probabilidad |α|² y 1 con |β|²; el estado colapsa.</a:t>
            </a:r>
            <a:endParaRPr lang="en-US" sz="1200" dirty="0"/>
          </a:p>
        </p:txBody>
      </p:sp>
      <p:pic>
        <p:nvPicPr>
          <p:cNvPr id="13" name="Image 0" descr="esfera de Bloch con un vector de estado"/>
          <p:cNvPicPr>
            <a:picLocks noChangeAspect="1"/>
          </p:cNvPicPr>
          <p:nvPr/>
        </p:nvPicPr>
        <p:blipFill>
          <a:blip r:embed="rId3"/>
          <a:srcRect/>
          <a:stretch/>
        </p:blipFill>
        <p:spPr>
          <a:xfrm>
            <a:off x="8255000" y="1870670"/>
            <a:ext cx="2921000" cy="2921000"/>
          </a:xfrm>
          <a:prstGeom prst="rect">
            <a:avLst/>
          </a:prstGeom>
        </p:spPr>
      </p:pic>
      <p:sp>
        <p:nvSpPr>
          <p:cNvPr id="14" name="Text 11"/>
          <p:cNvSpPr/>
          <p:nvPr/>
        </p:nvSpPr>
        <p:spPr>
          <a:xfrm>
            <a:off x="8001889" y="4893270"/>
            <a:ext cx="3427222"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E4A5C"/>
                </a:solidFill>
                <a:latin typeface="IBM Plex Sans" pitchFamily="34" charset="0"/>
                <a:ea typeface="IBM Plex Sans" pitchFamily="34" charset="-122"/>
                <a:cs typeface="IBM Plex Sans" pitchFamily="34" charset="-120"/>
              </a:rPr>
              <a:t>Esfera de Bloch: |0⟩ arriba, |1⟩ abajo; cada punto de la superficie es un qubit.</a:t>
            </a:r>
            <a:endParaRPr lang="en-US" sz="12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1 · FÍSICA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Varios qubits: el vector crece como 2ⁿ</a:t>
            </a:r>
            <a:endParaRPr lang="en-US" sz="3000" dirty="0"/>
          </a:p>
        </p:txBody>
      </p:sp>
      <p:sp>
        <p:nvSpPr>
          <p:cNvPr id="4" name="Text 2"/>
          <p:cNvSpPr/>
          <p:nvPr/>
        </p:nvSpPr>
        <p:spPr>
          <a:xfrm>
            <a:off x="812800" y="1870670"/>
            <a:ext cx="588645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3"/>
                </a:solidFill>
                <a:latin typeface="IBM Plex Sans" pitchFamily="34" charset="0"/>
                <a:ea typeface="IBM Plex Sans" pitchFamily="34" charset="-122"/>
                <a:cs typeface="IBM Plex Sans" pitchFamily="34" charset="-120"/>
              </a:rPr>
              <a:t>TAMAÑO DEL VECTOR DE ESTADO</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98291"/>
          <a:ext cx="5702300" cy="2155626"/>
        </p:xfrm>
        <a:graphic>
          <a:graphicData uri="http://schemas.openxmlformats.org/drawingml/2006/table">
            <a:tbl>
              <a:tblPr/>
              <a:tblGrid>
                <a:gridCol w="1254506">
                  <a:extLst>
                    <a:ext uri="{9D8B030D-6E8A-4147-A177-3AD203B41FA5}">
                      <a16:colId xmlns:a16="http://schemas.microsoft.com/office/drawing/2014/main" val="20000"/>
                    </a:ext>
                  </a:extLst>
                </a:gridCol>
                <a:gridCol w="2509012">
                  <a:extLst>
                    <a:ext uri="{9D8B030D-6E8A-4147-A177-3AD203B41FA5}">
                      <a16:colId xmlns:a16="http://schemas.microsoft.com/office/drawing/2014/main" val="20001"/>
                    </a:ext>
                  </a:extLst>
                </a:gridCol>
                <a:gridCol w="1938782">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Qubits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Amplitudes 2ⁿ</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Memoria</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32 B</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64 B</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1 024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16 KB</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1 048 576</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16 MB</a:t>
                      </a:r>
                      <a:endParaRPr lang="en-US" sz="1300" dirty="0">
                        <a:latin typeface="IBM Plex Sans" charset="0"/>
                        <a:ea typeface="IBM Plex Sans" charset="0"/>
                        <a:cs typeface="IBM Plex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 1 073 millones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3E4A5C"/>
                          </a:solidFill>
                          <a:latin typeface="IBM Plex Sans" pitchFamily="34" charset="0"/>
                          <a:ea typeface="IBM Plex Sans" pitchFamily="34" charset="-122"/>
                          <a:cs typeface="IBM Plex Sans" pitchFamily="34" charset="-120"/>
                        </a:rPr>
                        <a:t>16 GB</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800" y="4455517"/>
            <a:ext cx="58864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Cada amplitud compleja ocupa 16 bytes. Por eso simular es fácil con pocos qubits e imposible con muchos.</a:t>
            </a:r>
            <a:endParaRPr lang="en-US" sz="1200" dirty="0"/>
          </a:p>
        </p:txBody>
      </p:sp>
      <p:sp>
        <p:nvSpPr>
          <p:cNvPr id="7" name="Shape 4"/>
          <p:cNvSpPr/>
          <p:nvPr/>
        </p:nvSpPr>
        <p:spPr>
          <a:xfrm>
            <a:off x="6734175" y="1873845"/>
            <a:ext cx="4641850" cy="1144191"/>
          </a:xfrm>
          <a:prstGeom prst="roundRect">
            <a:avLst>
              <a:gd name="adj" fmla="val 8602"/>
            </a:avLst>
          </a:prstGeom>
          <a:solidFill>
            <a:srgbClr val="FDFCF8"/>
          </a:solidFill>
          <a:ln w="6350">
            <a:solidFill>
              <a:srgbClr val="E2DED3"/>
            </a:solidFill>
            <a:prstDash val="solid"/>
          </a:ln>
        </p:spPr>
      </p:sp>
      <p:sp>
        <p:nvSpPr>
          <p:cNvPr id="8" name="Text 5"/>
          <p:cNvSpPr/>
          <p:nvPr/>
        </p:nvSpPr>
        <p:spPr>
          <a:xfrm>
            <a:off x="6940550" y="2080220"/>
            <a:ext cx="435597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Orden de los qubits</a:t>
            </a:r>
            <a:endParaRPr lang="en-US" sz="1500" dirty="0"/>
          </a:p>
        </p:txBody>
      </p:sp>
      <p:sp>
        <p:nvSpPr>
          <p:cNvPr id="9" name="Text 6"/>
          <p:cNvSpPr/>
          <p:nvPr/>
        </p:nvSpPr>
        <p:spPr>
          <a:xfrm>
            <a:off x="6940550" y="2385020"/>
            <a:ext cx="435597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En |q0 q1 q2⟩ el qubit 0 va a la izquierda: |110⟩ es el índice 6 del vector.</a:t>
            </a:r>
            <a:endParaRPr lang="en-US" sz="1200" dirty="0"/>
          </a:p>
        </p:txBody>
      </p:sp>
      <p:sp>
        <p:nvSpPr>
          <p:cNvPr id="10" name="Shape 7"/>
          <p:cNvSpPr/>
          <p:nvPr/>
        </p:nvSpPr>
        <p:spPr>
          <a:xfrm>
            <a:off x="6731000" y="3173611"/>
            <a:ext cx="4648200" cy="1137841"/>
          </a:xfrm>
          <a:prstGeom prst="roundRect">
            <a:avLst>
              <a:gd name="adj" fmla="val 8929"/>
            </a:avLst>
          </a:prstGeom>
          <a:solidFill>
            <a:srgbClr val="14213D"/>
          </a:solidFill>
          <a:ln/>
        </p:spPr>
      </p:sp>
      <p:sp>
        <p:nvSpPr>
          <p:cNvPr id="11" name="Text 8"/>
          <p:cNvSpPr/>
          <p:nvPr/>
        </p:nvSpPr>
        <p:spPr>
          <a:xfrm>
            <a:off x="6934200" y="3376811"/>
            <a:ext cx="4369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Entrelazamiento</a:t>
            </a:r>
            <a:endParaRPr lang="en-US" sz="1500" dirty="0"/>
          </a:p>
        </p:txBody>
      </p:sp>
      <p:sp>
        <p:nvSpPr>
          <p:cNvPr id="12" name="Text 9"/>
          <p:cNvSpPr/>
          <p:nvPr/>
        </p:nvSpPr>
        <p:spPr>
          <a:xfrm>
            <a:off x="6934200" y="3681611"/>
            <a:ext cx="43690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(|00⟩ + |11⟩)/√2 no se puede escribir como «estado de q0» por «estado de q1».</a:t>
            </a:r>
            <a:endParaRPr lang="en-US" sz="12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1 · FÍSICA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Las puertas son matrices unitarias</a:t>
            </a:r>
            <a:endParaRPr lang="en-US" sz="3000" dirty="0"/>
          </a:p>
        </p:txBody>
      </p:sp>
      <p:sp>
        <p:nvSpPr>
          <p:cNvPr id="4" name="Shape 2"/>
          <p:cNvSpPr/>
          <p:nvPr/>
        </p:nvSpPr>
        <p:spPr>
          <a:xfrm>
            <a:off x="815975" y="1873845"/>
            <a:ext cx="2482850" cy="2073672"/>
          </a:xfrm>
          <a:prstGeom prst="roundRect">
            <a:avLst>
              <a:gd name="adj" fmla="val 4746"/>
            </a:avLst>
          </a:prstGeom>
          <a:solidFill>
            <a:srgbClr val="FDFCF8"/>
          </a:solidFill>
          <a:ln w="6350">
            <a:solidFill>
              <a:srgbClr val="E2DED3"/>
            </a:solidFill>
            <a:prstDash val="solid"/>
          </a:ln>
        </p:spPr>
      </p:sp>
      <p:sp>
        <p:nvSpPr>
          <p:cNvPr id="5" name="Text 3"/>
          <p:cNvSpPr/>
          <p:nvPr/>
        </p:nvSpPr>
        <p:spPr>
          <a:xfrm>
            <a:off x="10223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Hadamard H</a:t>
            </a:r>
            <a:endParaRPr lang="en-US" sz="1500" dirty="0"/>
          </a:p>
        </p:txBody>
      </p:sp>
      <p:sp>
        <p:nvSpPr>
          <p:cNvPr id="6" name="Text 4"/>
          <p:cNvSpPr/>
          <p:nvPr/>
        </p:nvSpPr>
        <p:spPr>
          <a:xfrm>
            <a:off x="1022350" y="2385020"/>
            <a:ext cx="2132203" cy="452041"/>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1/√2 [1  1]</a:t>
            </a:r>
            <a:endParaRPr lang="en-US" sz="1200" dirty="0"/>
          </a:p>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     [1 -1]</a:t>
            </a:r>
            <a:endParaRPr lang="en-US" sz="1200" dirty="0"/>
          </a:p>
        </p:txBody>
      </p:sp>
      <p:sp>
        <p:nvSpPr>
          <p:cNvPr id="7" name="Text 5"/>
          <p:cNvSpPr/>
          <p:nvPr/>
        </p:nvSpPr>
        <p:spPr>
          <a:xfrm>
            <a:off x="1022350" y="2887861"/>
            <a:ext cx="21322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|0⟩ → (|0⟩+|1⟩)/√2: crea superposición.</a:t>
            </a:r>
            <a:endParaRPr lang="en-US" sz="1200" dirty="0"/>
          </a:p>
        </p:txBody>
      </p:sp>
      <p:sp>
        <p:nvSpPr>
          <p:cNvPr id="8" name="Shape 6"/>
          <p:cNvSpPr/>
          <p:nvPr/>
        </p:nvSpPr>
        <p:spPr>
          <a:xfrm>
            <a:off x="3508375" y="1873845"/>
            <a:ext cx="2482850" cy="2073672"/>
          </a:xfrm>
          <a:prstGeom prst="roundRect">
            <a:avLst>
              <a:gd name="adj" fmla="val 4746"/>
            </a:avLst>
          </a:prstGeom>
          <a:solidFill>
            <a:srgbClr val="FDFCF8"/>
          </a:solidFill>
          <a:ln w="6350">
            <a:solidFill>
              <a:srgbClr val="E2DED3"/>
            </a:solidFill>
            <a:prstDash val="solid"/>
          </a:ln>
        </p:spPr>
      </p:sp>
      <p:sp>
        <p:nvSpPr>
          <p:cNvPr id="9" name="Text 7"/>
          <p:cNvSpPr/>
          <p:nvPr/>
        </p:nvSpPr>
        <p:spPr>
          <a:xfrm>
            <a:off x="37147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NOT cuántico X</a:t>
            </a:r>
            <a:endParaRPr lang="en-US" sz="1500" dirty="0"/>
          </a:p>
        </p:txBody>
      </p:sp>
      <p:sp>
        <p:nvSpPr>
          <p:cNvPr id="10" name="Text 8"/>
          <p:cNvSpPr/>
          <p:nvPr/>
        </p:nvSpPr>
        <p:spPr>
          <a:xfrm>
            <a:off x="3714750" y="2385020"/>
            <a:ext cx="2132203" cy="452041"/>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[0 1]</a:t>
            </a:r>
            <a:endParaRPr lang="en-US" sz="1200" dirty="0"/>
          </a:p>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[1 0]</a:t>
            </a:r>
            <a:endParaRPr lang="en-US" sz="1200" dirty="0"/>
          </a:p>
        </p:txBody>
      </p:sp>
      <p:sp>
        <p:nvSpPr>
          <p:cNvPr id="11" name="Text 9"/>
          <p:cNvSpPr/>
          <p:nvPr/>
        </p:nvSpPr>
        <p:spPr>
          <a:xfrm>
            <a:off x="3714750" y="2887861"/>
            <a:ext cx="21322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Intercambia |0⟩ y |1⟩.</a:t>
            </a:r>
            <a:endParaRPr lang="en-US" sz="1200" dirty="0"/>
          </a:p>
        </p:txBody>
      </p:sp>
      <p:sp>
        <p:nvSpPr>
          <p:cNvPr id="12" name="Shape 10"/>
          <p:cNvSpPr/>
          <p:nvPr/>
        </p:nvSpPr>
        <p:spPr>
          <a:xfrm>
            <a:off x="6200775" y="1873845"/>
            <a:ext cx="2482850" cy="2073672"/>
          </a:xfrm>
          <a:prstGeom prst="roundRect">
            <a:avLst>
              <a:gd name="adj" fmla="val 4746"/>
            </a:avLst>
          </a:prstGeom>
          <a:solidFill>
            <a:srgbClr val="FDFCF8"/>
          </a:solidFill>
          <a:ln w="6350">
            <a:solidFill>
              <a:srgbClr val="E2DED3"/>
            </a:solidFill>
            <a:prstDash val="solid"/>
          </a:ln>
        </p:spPr>
      </p:sp>
      <p:sp>
        <p:nvSpPr>
          <p:cNvPr id="13" name="Text 11"/>
          <p:cNvSpPr/>
          <p:nvPr/>
        </p:nvSpPr>
        <p:spPr>
          <a:xfrm>
            <a:off x="64071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Fase Z</a:t>
            </a:r>
            <a:endParaRPr lang="en-US" sz="1500" dirty="0"/>
          </a:p>
        </p:txBody>
      </p:sp>
      <p:sp>
        <p:nvSpPr>
          <p:cNvPr id="14" name="Text 12"/>
          <p:cNvSpPr/>
          <p:nvPr/>
        </p:nvSpPr>
        <p:spPr>
          <a:xfrm>
            <a:off x="6407150" y="2385020"/>
            <a:ext cx="2132203" cy="452041"/>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[1  0]</a:t>
            </a:r>
            <a:endParaRPr lang="en-US" sz="1200" dirty="0"/>
          </a:p>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[0 -1]</a:t>
            </a:r>
            <a:endParaRPr lang="en-US" sz="1200" dirty="0"/>
          </a:p>
        </p:txBody>
      </p:sp>
      <p:sp>
        <p:nvSpPr>
          <p:cNvPr id="15" name="Text 13"/>
          <p:cNvSpPr/>
          <p:nvPr/>
        </p:nvSpPr>
        <p:spPr>
          <a:xfrm>
            <a:off x="6407150" y="2887861"/>
            <a:ext cx="21322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Cambia el signo de |1⟩.</a:t>
            </a:r>
            <a:endParaRPr lang="en-US" sz="1200" dirty="0"/>
          </a:p>
        </p:txBody>
      </p:sp>
      <p:sp>
        <p:nvSpPr>
          <p:cNvPr id="16" name="Shape 14"/>
          <p:cNvSpPr/>
          <p:nvPr/>
        </p:nvSpPr>
        <p:spPr>
          <a:xfrm>
            <a:off x="8893175" y="1873845"/>
            <a:ext cx="2482850" cy="2073672"/>
          </a:xfrm>
          <a:prstGeom prst="roundRect">
            <a:avLst>
              <a:gd name="adj" fmla="val 4746"/>
            </a:avLst>
          </a:prstGeom>
          <a:solidFill>
            <a:srgbClr val="FDFCF8"/>
          </a:solidFill>
          <a:ln w="6350">
            <a:solidFill>
              <a:srgbClr val="E2DED3"/>
            </a:solidFill>
            <a:prstDash val="solid"/>
          </a:ln>
        </p:spPr>
      </p:sp>
      <p:sp>
        <p:nvSpPr>
          <p:cNvPr id="17" name="Text 15"/>
          <p:cNvSpPr/>
          <p:nvPr/>
        </p:nvSpPr>
        <p:spPr>
          <a:xfrm>
            <a:off x="90995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CNOT</a:t>
            </a:r>
            <a:endParaRPr lang="en-US" sz="1500" dirty="0"/>
          </a:p>
        </p:txBody>
      </p:sp>
      <p:sp>
        <p:nvSpPr>
          <p:cNvPr id="18" name="Text 16"/>
          <p:cNvSpPr/>
          <p:nvPr/>
        </p:nvSpPr>
        <p:spPr>
          <a:xfrm>
            <a:off x="9099550" y="2385020"/>
            <a:ext cx="2132203" cy="878681"/>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[1 0 0 0]</a:t>
            </a:r>
            <a:endParaRPr lang="en-US" sz="1200" dirty="0"/>
          </a:p>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[0 1 0 0]</a:t>
            </a:r>
            <a:endParaRPr lang="en-US" sz="1200" dirty="0"/>
          </a:p>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[0 0 0 1]</a:t>
            </a:r>
            <a:endParaRPr lang="en-US" sz="1200" dirty="0"/>
          </a:p>
          <a:p>
            <a:pPr marL="0" indent="0" algn="l">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[0 0 1 0]</a:t>
            </a:r>
            <a:endParaRPr lang="en-US" sz="1200" dirty="0"/>
          </a:p>
        </p:txBody>
      </p:sp>
      <p:sp>
        <p:nvSpPr>
          <p:cNvPr id="19" name="Text 17"/>
          <p:cNvSpPr/>
          <p:nvPr/>
        </p:nvSpPr>
        <p:spPr>
          <a:xfrm>
            <a:off x="9099550" y="3314502"/>
            <a:ext cx="21322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Niega el objetivo si el control vale 1.</a:t>
            </a:r>
            <a:endParaRPr lang="en-US" sz="1200" dirty="0"/>
          </a:p>
        </p:txBody>
      </p:sp>
      <p:sp>
        <p:nvSpPr>
          <p:cNvPr id="20" name="Shape 18"/>
          <p:cNvSpPr/>
          <p:nvPr/>
        </p:nvSpPr>
        <p:spPr>
          <a:xfrm>
            <a:off x="812800" y="4153892"/>
            <a:ext cx="10566400" cy="1064220"/>
          </a:xfrm>
          <a:prstGeom prst="roundRect">
            <a:avLst>
              <a:gd name="adj" fmla="val 9547"/>
            </a:avLst>
          </a:prstGeom>
          <a:solidFill>
            <a:srgbClr val="14213D"/>
          </a:solidFill>
          <a:ln/>
        </p:spPr>
      </p:sp>
      <p:sp>
        <p:nvSpPr>
          <p:cNvPr id="21" name="Text 19"/>
          <p:cNvSpPr/>
          <p:nvPr/>
        </p:nvSpPr>
        <p:spPr>
          <a:xfrm>
            <a:off x="1066800" y="4407892"/>
            <a:ext cx="1036015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5EF"/>
                </a:solidFill>
                <a:latin typeface="IBM Plex Sans" pitchFamily="34" charset="0"/>
                <a:ea typeface="IBM Plex Sans" pitchFamily="34" charset="-122"/>
                <a:cs typeface="IBM Plex Sans" pitchFamily="34" charset="-120"/>
              </a:rPr>
              <a:t>Todas son unitarias: U†U = I. Por eso cualquier puerta se deshace aplicando U†.</a:t>
            </a:r>
            <a:endParaRPr lang="en-US" sz="1500" dirty="0"/>
          </a:p>
        </p:txBody>
      </p:sp>
      <p:sp>
        <p:nvSpPr>
          <p:cNvPr id="22" name="Text 20"/>
          <p:cNvSpPr/>
          <p:nvPr/>
        </p:nvSpPr>
        <p:spPr>
          <a:xfrm>
            <a:off x="1066800" y="4750792"/>
            <a:ext cx="103601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A35E"/>
                </a:solidFill>
                <a:latin typeface="IBM Plex Sans" pitchFamily="34" charset="0"/>
                <a:ea typeface="IBM Plex Sans" pitchFamily="34" charset="-122"/>
                <a:cs typeface="IBM Plex Sans" pitchFamily="34" charset="-120"/>
              </a:rPr>
              <a:t>La medición es la excepción: no es unitaria y no se puede revertir.</a:t>
            </a:r>
            <a:endParaRPr lang="en-US" sz="12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Separar la lógica de la interfaz</a:t>
            </a:r>
            <a:endParaRPr lang="en-US" sz="3000" dirty="0"/>
          </a:p>
        </p:txBody>
      </p:sp>
      <p:sp>
        <p:nvSpPr>
          <p:cNvPr id="4" name="Shape 2"/>
          <p:cNvSpPr/>
          <p:nvPr/>
        </p:nvSpPr>
        <p:spPr>
          <a:xfrm>
            <a:off x="819150" y="1877020"/>
            <a:ext cx="5575300" cy="861020"/>
          </a:xfrm>
          <a:prstGeom prst="roundRect">
            <a:avLst>
              <a:gd name="adj" fmla="val 11062"/>
            </a:avLst>
          </a:prstGeom>
          <a:solidFill>
            <a:srgbClr val="FDFCF8"/>
          </a:solidFill>
          <a:ln w="12700">
            <a:solidFill>
              <a:srgbClr val="2F6FB3"/>
            </a:solidFill>
            <a:prstDash val="solid"/>
          </a:ln>
        </p:spPr>
      </p:sp>
      <p:sp>
        <p:nvSpPr>
          <p:cNvPr id="5" name="Text 3"/>
          <p:cNvSpPr/>
          <p:nvPr/>
        </p:nvSpPr>
        <p:spPr>
          <a:xfrm>
            <a:off x="1003300" y="2061170"/>
            <a:ext cx="536321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F6FB3"/>
                </a:solidFill>
                <a:latin typeface="JetBrains Mono" pitchFamily="49" charset="0"/>
                <a:ea typeface="JetBrains Mono" pitchFamily="49" charset="-122"/>
                <a:cs typeface="JetBrains Mono" pitchFamily="49" charset="-120"/>
              </a:rPr>
              <a:t>GUI.py</a:t>
            </a:r>
            <a:endParaRPr lang="en-US" sz="1500" dirty="0"/>
          </a:p>
        </p:txBody>
      </p:sp>
      <p:sp>
        <p:nvSpPr>
          <p:cNvPr id="6" name="Text 4"/>
          <p:cNvSpPr/>
          <p:nvPr/>
        </p:nvSpPr>
        <p:spPr>
          <a:xfrm>
            <a:off x="1003300" y="2340570"/>
            <a:ext cx="53632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tkinter + matplotlib: dibuja el circuito y las probabilidades</a:t>
            </a:r>
            <a:endParaRPr lang="en-US" sz="1200" dirty="0"/>
          </a:p>
        </p:txBody>
      </p:sp>
      <p:pic>
        <p:nvPicPr>
          <p:cNvPr id="7" name="Image 0" descr="arrow-down"/>
          <p:cNvPicPr>
            <a:picLocks noChangeAspect="1"/>
          </p:cNvPicPr>
          <p:nvPr/>
        </p:nvPicPr>
        <p:blipFill>
          <a:blip r:embed="rId3"/>
          <a:srcRect/>
          <a:stretch/>
        </p:blipFill>
        <p:spPr>
          <a:xfrm>
            <a:off x="2470249" y="2845991"/>
            <a:ext cx="279400" cy="406400"/>
          </a:xfrm>
          <a:prstGeom prst="rect">
            <a:avLst/>
          </a:prstGeom>
        </p:spPr>
      </p:pic>
      <p:sp>
        <p:nvSpPr>
          <p:cNvPr id="8" name="Text 5"/>
          <p:cNvSpPr/>
          <p:nvPr/>
        </p:nvSpPr>
        <p:spPr>
          <a:xfrm>
            <a:off x="2902049" y="2942530"/>
            <a:ext cx="22095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importa sólo la API pública</a:t>
            </a:r>
            <a:endParaRPr lang="en-US" sz="1200" dirty="0"/>
          </a:p>
        </p:txBody>
      </p:sp>
      <p:sp>
        <p:nvSpPr>
          <p:cNvPr id="9" name="Shape 6"/>
          <p:cNvSpPr/>
          <p:nvPr/>
        </p:nvSpPr>
        <p:spPr>
          <a:xfrm>
            <a:off x="812800" y="3353991"/>
            <a:ext cx="5588000" cy="848320"/>
          </a:xfrm>
          <a:prstGeom prst="roundRect">
            <a:avLst>
              <a:gd name="adj" fmla="val 11977"/>
            </a:avLst>
          </a:prstGeom>
          <a:solidFill>
            <a:srgbClr val="14213D"/>
          </a:solidFill>
          <a:ln/>
        </p:spPr>
      </p:sp>
      <p:sp>
        <p:nvSpPr>
          <p:cNvPr id="10" name="Text 7"/>
          <p:cNvSpPr/>
          <p:nvPr/>
        </p:nvSpPr>
        <p:spPr>
          <a:xfrm>
            <a:off x="990600" y="3531791"/>
            <a:ext cx="538937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JetBrains Mono" pitchFamily="49" charset="0"/>
                <a:ea typeface="JetBrains Mono" pitchFamily="49" charset="-122"/>
                <a:cs typeface="JetBrains Mono" pitchFamily="49" charset="-120"/>
              </a:rPr>
              <a:t>circuitos_cuanticos/core.py</a:t>
            </a:r>
            <a:endParaRPr lang="en-US" sz="1500" dirty="0"/>
          </a:p>
        </p:txBody>
      </p:sp>
      <p:sp>
        <p:nvSpPr>
          <p:cNvPr id="11" name="Text 8"/>
          <p:cNvSpPr/>
          <p:nvPr/>
        </p:nvSpPr>
        <p:spPr>
          <a:xfrm>
            <a:off x="990600" y="3811191"/>
            <a:ext cx="53893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estado, puertas y circuito · se publica en PyPI</a:t>
            </a:r>
            <a:endParaRPr lang="en-US" sz="1200" dirty="0"/>
          </a:p>
        </p:txBody>
      </p:sp>
      <p:pic>
        <p:nvPicPr>
          <p:cNvPr id="12" name="Image 1" descr="arrow-down"/>
          <p:cNvPicPr>
            <a:picLocks noChangeAspect="1"/>
          </p:cNvPicPr>
          <p:nvPr/>
        </p:nvPicPr>
        <p:blipFill>
          <a:blip r:embed="rId3"/>
          <a:srcRect/>
          <a:stretch/>
        </p:blipFill>
        <p:spPr>
          <a:xfrm>
            <a:off x="3467100" y="4303911"/>
            <a:ext cx="279400" cy="406400"/>
          </a:xfrm>
          <a:prstGeom prst="rect">
            <a:avLst/>
          </a:prstGeom>
        </p:spPr>
      </p:pic>
      <p:sp>
        <p:nvSpPr>
          <p:cNvPr id="13" name="Text 9"/>
          <p:cNvSpPr/>
          <p:nvPr/>
        </p:nvSpPr>
        <p:spPr>
          <a:xfrm>
            <a:off x="812800" y="4811911"/>
            <a:ext cx="5588000" cy="584200"/>
          </a:xfrm>
          <a:prstGeom prst="roundRect">
            <a:avLst>
              <a:gd name="adj" fmla="val 17391"/>
            </a:avLst>
          </a:prstGeom>
          <a:solidFill>
            <a:srgbClr val="EFEBE1"/>
          </a:solidFill>
          <a:ln/>
        </p:spPr>
        <p:txBody>
          <a:bodyPr wrap="square" lIns="148042" tIns="148042" rIns="0" bIns="122642" rtlCol="0" anchor="t">
            <a:normAutofit/>
          </a:bodyPr>
          <a:lstStyle/>
          <a:p>
            <a:pPr marL="0" indent="0" algn="l">
              <a:lnSpc>
                <a:spcPts val="1800"/>
              </a:lnSpc>
              <a:buNone/>
            </a:pPr>
            <a:r>
              <a:rPr lang="en-US" sz="1500" b="1" dirty="0">
                <a:solidFill>
                  <a:srgbClr val="14213D"/>
                </a:solidFill>
                <a:latin typeface="JetBrains Mono" pitchFamily="49" charset="0"/>
                <a:ea typeface="JetBrains Mono" pitchFamily="49" charset="-122"/>
                <a:cs typeface="JetBrains Mono" pitchFamily="49" charset="-120"/>
              </a:rPr>
              <a:t>numpy</a:t>
            </a:r>
            <a:endParaRPr lang="en-US" sz="1500" dirty="0"/>
          </a:p>
        </p:txBody>
      </p:sp>
      <p:sp>
        <p:nvSpPr>
          <p:cNvPr id="14" name="Text 10"/>
          <p:cNvSpPr/>
          <p:nvPr/>
        </p:nvSpPr>
        <p:spPr>
          <a:xfrm>
            <a:off x="6807200" y="2763441"/>
            <a:ext cx="470916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core.py nunca importa tkinter.</a:t>
            </a:r>
            <a:r>
              <a:rPr lang="en-US" sz="1500" dirty="0">
                <a:solidFill>
                  <a:srgbClr val="3E4A5C"/>
                </a:solidFill>
                <a:latin typeface="IBM Plex Sans" pitchFamily="34" charset="0"/>
                <a:ea typeface="IBM Plex Sans" pitchFamily="34" charset="-122"/>
                <a:cs typeface="IBM Plex Sans" pitchFamily="34" charset="-120"/>
              </a:rPr>
              <a:t> Se usa igual desde la consola, un notebook o las pruebas.</a:t>
            </a:r>
            <a:endParaRPr lang="en-US" sz="1500" dirty="0"/>
          </a:p>
        </p:txBody>
      </p:sp>
      <p:sp>
        <p:nvSpPr>
          <p:cNvPr id="15" name="Text 11"/>
          <p:cNvSpPr/>
          <p:nvPr/>
        </p:nvSpPr>
        <p:spPr>
          <a:xfrm>
            <a:off x="6807200" y="3500041"/>
            <a:ext cx="470916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Sin Qiskit.</a:t>
            </a:r>
            <a:r>
              <a:rPr lang="en-US" sz="1500" dirty="0">
                <a:solidFill>
                  <a:srgbClr val="3E4A5C"/>
                </a:solidFill>
                <a:latin typeface="IBM Plex Sans" pitchFamily="34" charset="0"/>
                <a:ea typeface="IBM Plex Sans" pitchFamily="34" charset="-122"/>
                <a:cs typeface="IBM Plex Sans" pitchFamily="34" charset="-120"/>
              </a:rPr>
              <a:t> Sólo NumPy: los estudiantes ven toda la física.</a:t>
            </a:r>
            <a:endParaRPr lang="en-US" sz="1500" dirty="0"/>
          </a:p>
        </p:txBody>
      </p:sp>
      <p:sp>
        <p:nvSpPr>
          <p:cNvPr id="16" name="Text 12"/>
          <p:cNvSpPr/>
          <p:nvPr/>
        </p:nvSpPr>
        <p:spPr>
          <a:xfrm>
            <a:off x="6807200" y="4236641"/>
            <a:ext cx="4709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Misma estructura</a:t>
            </a:r>
            <a:r>
              <a:rPr lang="en-US" sz="1500" dirty="0">
                <a:solidFill>
                  <a:srgbClr val="3E4A5C"/>
                </a:solidFill>
                <a:latin typeface="IBM Plex Sans" pitchFamily="34" charset="0"/>
                <a:ea typeface="IBM Plex Sans" pitchFamily="34" charset="-122"/>
                <a:cs typeface="IBM Plex Sans" pitchFamily="34" charset="-120"/>
              </a:rPr>
              <a:t> que el proyecto de osciladores.</a:t>
            </a:r>
            <a:endParaRPr lang="en-US" sz="1500" dirty="0"/>
          </a:p>
        </p:txBody>
      </p:sp>
      <p:sp>
        <p:nvSpPr>
          <p:cNvPr id="17"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Un circuito es una lista de órdenes</a:t>
            </a:r>
            <a:endParaRPr lang="en-US" sz="3000" dirty="0"/>
          </a:p>
        </p:txBody>
      </p:sp>
      <p:sp>
        <p:nvSpPr>
          <p:cNvPr id="4" name="Text 2"/>
          <p:cNvSpPr/>
          <p:nvPr/>
        </p:nvSpPr>
        <p:spPr>
          <a:xfrm>
            <a:off x="812800" y="1870670"/>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SIN PATRÓN</a:t>
            </a:r>
            <a:endParaRPr lang="en-US" sz="1200" dirty="0"/>
          </a:p>
        </p:txBody>
      </p:sp>
      <p:sp>
        <p:nvSpPr>
          <p:cNvPr id="5" name="Text 3"/>
          <p:cNvSpPr/>
          <p:nvPr/>
        </p:nvSpPr>
        <p:spPr>
          <a:xfrm>
            <a:off x="812800" y="2185591"/>
            <a:ext cx="5181600" cy="2326283"/>
          </a:xfrm>
          <a:prstGeom prst="roundRect">
            <a:avLst>
              <a:gd name="adj" fmla="val 4367"/>
            </a:avLst>
          </a:prstGeom>
          <a:solidFill>
            <a:srgbClr val="14213D"/>
          </a:solidFill>
          <a:ln/>
        </p:spPr>
        <p:txBody>
          <a:bodyPr wrap="none" lIns="224242" tIns="173442" rIns="84034" bIns="148042" rtlCol="0" anchor="t">
            <a:normAutofit/>
          </a:bodyPr>
          <a:lstStyle/>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ejecutar(estado, lista):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for</a:t>
            </a:r>
            <a:r>
              <a:rPr lang="en-US" sz="1200" dirty="0">
                <a:solidFill>
                  <a:srgbClr val="E8EDF5"/>
                </a:solidFill>
                <a:latin typeface="JetBrains Mono" pitchFamily="49" charset="0"/>
                <a:ea typeface="JetBrains Mono" pitchFamily="49" charset="-122"/>
                <a:cs typeface="JetBrains Mono" pitchFamily="49" charset="-120"/>
              </a:rPr>
              <a:t> nombre, qubits </a:t>
            </a:r>
            <a:r>
              <a:rPr lang="en-US" sz="1200" dirty="0">
                <a:solidFill>
                  <a:srgbClr val="F0A35E"/>
                </a:solidFill>
                <a:latin typeface="JetBrains Mono" pitchFamily="49" charset="0"/>
                <a:ea typeface="JetBrains Mono" pitchFamily="49" charset="-122"/>
                <a:cs typeface="JetBrains Mono" pitchFamily="49" charset="-120"/>
              </a:rPr>
              <a:t>in</a:t>
            </a:r>
            <a:r>
              <a:rPr lang="en-US" sz="1200" dirty="0">
                <a:solidFill>
                  <a:srgbClr val="E8EDF5"/>
                </a:solidFill>
                <a:latin typeface="JetBrains Mono" pitchFamily="49" charset="0"/>
                <a:ea typeface="JetBrains Mono" pitchFamily="49" charset="-122"/>
                <a:cs typeface="JetBrains Mono" pitchFamily="49" charset="-120"/>
              </a:rPr>
              <a:t> lista: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if</a:t>
            </a:r>
            <a:r>
              <a:rPr lang="en-US" sz="1200" dirty="0">
                <a:solidFill>
                  <a:srgbClr val="E8EDF5"/>
                </a:solidFill>
                <a:latin typeface="JetBrains Mono" pitchFamily="49" charset="0"/>
                <a:ea typeface="JetBrains Mono" pitchFamily="49" charset="-122"/>
                <a:cs typeface="JetBrains Mono" pitchFamily="49" charset="-120"/>
              </a:rPr>
              <a:t> nombre == "H":</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elif nombre == "CNOT":</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elif nombre == "Medir":</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¿deshacer? ¿paso a paso? ¿dibujar?</a:t>
            </a:r>
            <a:endParaRPr lang="en-US" sz="1200" dirty="0"/>
          </a:p>
        </p:txBody>
      </p:sp>
      <p:sp>
        <p:nvSpPr>
          <p:cNvPr id="6" name="Text 4"/>
          <p:cNvSpPr/>
          <p:nvPr/>
        </p:nvSpPr>
        <p:spPr>
          <a:xfrm>
            <a:off x="812800" y="4613473"/>
            <a:ext cx="533704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Las puertas son texto: nadie recuerda qué se hizo ni cómo volver atrás.</a:t>
            </a:r>
            <a:endParaRPr lang="en-US" sz="1500" dirty="0"/>
          </a:p>
        </p:txBody>
      </p:sp>
      <p:sp>
        <p:nvSpPr>
          <p:cNvPr id="7" name="Text 5"/>
          <p:cNvSpPr/>
          <p:nvPr/>
        </p:nvSpPr>
        <p:spPr>
          <a:xfrm>
            <a:off x="6197600" y="1870670"/>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3"/>
                </a:solidFill>
                <a:latin typeface="IBM Plex Sans" pitchFamily="34" charset="0"/>
                <a:ea typeface="IBM Plex Sans" pitchFamily="34" charset="-122"/>
                <a:cs typeface="IBM Plex Sans" pitchFamily="34" charset="-120"/>
              </a:rPr>
              <a:t>CON COMMAND</a:t>
            </a:r>
            <a:endParaRPr lang="en-US" sz="1200" dirty="0"/>
          </a:p>
        </p:txBody>
      </p:sp>
      <p:sp>
        <p:nvSpPr>
          <p:cNvPr id="8" name="Text 6"/>
          <p:cNvSpPr/>
          <p:nvPr/>
        </p:nvSpPr>
        <p:spPr>
          <a:xfrm>
            <a:off x="6197600" y="2185591"/>
            <a:ext cx="5181600" cy="1899642"/>
          </a:xfrm>
          <a:prstGeom prst="roundRect">
            <a:avLst>
              <a:gd name="adj" fmla="val 5348"/>
            </a:avLst>
          </a:prstGeom>
          <a:solidFill>
            <a:srgbClr val="14213D"/>
          </a:solidFill>
          <a:ln/>
        </p:spPr>
        <p:txBody>
          <a:bodyPr wrap="none" lIns="224242" tIns="173442" rIns="84034"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 = Circuito(2)</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c.agregar(H(0)).agregar(CNOT(0, 1))</a:t>
            </a:r>
            <a:endParaRPr lang="en-US" sz="1200" dirty="0"/>
          </a:p>
          <a:p>
            <a:pPr marL="0" indent="0" algn="l">
              <a:lnSpc>
                <a:spcPts val="1680"/>
              </a:lnSpc>
              <a:buNone/>
            </a:pP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c.paso()        </a:t>
            </a:r>
            <a:r>
              <a:rPr lang="en-US" sz="1200" dirty="0">
                <a:solidFill>
                  <a:srgbClr val="8DA2BF"/>
                </a:solidFill>
                <a:latin typeface="JetBrains Mono" pitchFamily="49" charset="0"/>
                <a:ea typeface="JetBrains Mono" pitchFamily="49" charset="-122"/>
                <a:cs typeface="JetBrains Mono" pitchFamily="49" charset="-120"/>
              </a:rPr>
              <a:t># aplica H</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c.paso()        </a:t>
            </a:r>
            <a:r>
              <a:rPr lang="en-US" sz="1200" dirty="0">
                <a:solidFill>
                  <a:srgbClr val="8DA2BF"/>
                </a:solidFill>
                <a:latin typeface="JetBrains Mono" pitchFamily="49" charset="0"/>
                <a:ea typeface="JetBrains Mono" pitchFamily="49" charset="-122"/>
                <a:cs typeface="JetBrains Mono" pitchFamily="49" charset="-120"/>
              </a:rPr>
              <a:t># aplica CNOT</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c.deshacer()    </a:t>
            </a:r>
            <a:r>
              <a:rPr lang="en-US" sz="1200" dirty="0">
                <a:solidFill>
                  <a:srgbClr val="8DA2BF"/>
                </a:solidFill>
                <a:latin typeface="JetBrains Mono" pitchFamily="49" charset="0"/>
                <a:ea typeface="JetBrains Mono" pitchFamily="49" charset="-122"/>
                <a:cs typeface="JetBrains Mono" pitchFamily="49" charset="-120"/>
              </a:rPr>
              <a:t># revierte CNOT</a:t>
            </a: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cada puerta sabe hacerse y deshacerse</a:t>
            </a:r>
            <a:endParaRPr lang="en-US" sz="1200" dirty="0"/>
          </a:p>
        </p:txBody>
      </p:sp>
      <p:sp>
        <p:nvSpPr>
          <p:cNvPr id="9" name="Text 7"/>
          <p:cNvSpPr/>
          <p:nvPr/>
        </p:nvSpPr>
        <p:spPr>
          <a:xfrm>
            <a:off x="6197600" y="4186833"/>
            <a:ext cx="533704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Cada puerta es un objeto que sabe aplicarse y deshacerse.</a:t>
            </a:r>
            <a:endParaRPr lang="en-US" sz="15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Patrón Command: cada puerta es una orden</a:t>
            </a:r>
            <a:endParaRPr lang="en-US" sz="3000" dirty="0"/>
          </a:p>
        </p:txBody>
      </p:sp>
      <p:sp>
        <p:nvSpPr>
          <p:cNvPr id="4" name="Shape 2"/>
          <p:cNvSpPr/>
          <p:nvPr/>
        </p:nvSpPr>
        <p:spPr>
          <a:xfrm>
            <a:off x="822325" y="2105025"/>
            <a:ext cx="2774950" cy="933450"/>
          </a:xfrm>
          <a:prstGeom prst="roundRect">
            <a:avLst>
              <a:gd name="adj" fmla="val 9864"/>
            </a:avLst>
          </a:prstGeom>
          <a:solidFill>
            <a:srgbClr val="FDFCF8"/>
          </a:solidFill>
          <a:ln w="19050">
            <a:solidFill>
              <a:srgbClr val="2F6FB3"/>
            </a:solidFill>
            <a:prstDash val="solid"/>
          </a:ln>
        </p:spPr>
      </p:sp>
      <p:sp>
        <p:nvSpPr>
          <p:cNvPr id="5" name="Text 3"/>
          <p:cNvSpPr/>
          <p:nvPr/>
        </p:nvSpPr>
        <p:spPr>
          <a:xfrm>
            <a:off x="984250" y="2333030"/>
            <a:ext cx="252463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FB3"/>
                </a:solidFill>
                <a:latin typeface="JetBrains Mono" pitchFamily="49" charset="0"/>
                <a:ea typeface="JetBrains Mono" pitchFamily="49" charset="-122"/>
                <a:cs typeface="JetBrains Mono" pitchFamily="49" charset="-120"/>
              </a:rPr>
              <a:t>Circuito</a:t>
            </a:r>
            <a:endParaRPr lang="en-US" sz="1400" dirty="0"/>
          </a:p>
        </p:txBody>
      </p:sp>
      <p:sp>
        <p:nvSpPr>
          <p:cNvPr id="6" name="Text 4"/>
          <p:cNvSpPr/>
          <p:nvPr/>
        </p:nvSpPr>
        <p:spPr>
          <a:xfrm>
            <a:off x="984250" y="2597150"/>
            <a:ext cx="25246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invocador: paso(), deshacer()</a:t>
            </a:r>
            <a:endParaRPr lang="en-US" sz="1200" dirty="0"/>
          </a:p>
        </p:txBody>
      </p:sp>
      <p:sp>
        <p:nvSpPr>
          <p:cNvPr id="7" name="Shape 5"/>
          <p:cNvSpPr/>
          <p:nvPr/>
        </p:nvSpPr>
        <p:spPr>
          <a:xfrm>
            <a:off x="4572000" y="2095500"/>
            <a:ext cx="3302000" cy="952500"/>
          </a:xfrm>
          <a:prstGeom prst="roundRect">
            <a:avLst>
              <a:gd name="adj" fmla="val 10667"/>
            </a:avLst>
          </a:prstGeom>
          <a:solidFill>
            <a:srgbClr val="14213D"/>
          </a:solidFill>
          <a:ln/>
        </p:spPr>
      </p:sp>
      <p:sp>
        <p:nvSpPr>
          <p:cNvPr id="8" name="Text 6"/>
          <p:cNvSpPr/>
          <p:nvPr/>
        </p:nvSpPr>
        <p:spPr>
          <a:xfrm>
            <a:off x="4724400" y="2333030"/>
            <a:ext cx="30871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0A35E"/>
                </a:solidFill>
                <a:latin typeface="JetBrains Mono" pitchFamily="49" charset="0"/>
                <a:ea typeface="JetBrains Mono" pitchFamily="49" charset="-122"/>
                <a:cs typeface="JetBrains Mono" pitchFamily="49" charset="-120"/>
              </a:rPr>
              <a:t>«abstracta» Puerta</a:t>
            </a:r>
            <a:endParaRPr lang="en-US" sz="1400" dirty="0"/>
          </a:p>
        </p:txBody>
      </p:sp>
      <p:sp>
        <p:nvSpPr>
          <p:cNvPr id="9" name="Text 7"/>
          <p:cNvSpPr/>
          <p:nvPr/>
        </p:nvSpPr>
        <p:spPr>
          <a:xfrm>
            <a:off x="4724400" y="2597150"/>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JetBrains Mono" pitchFamily="49" charset="0"/>
                <a:ea typeface="JetBrains Mono" pitchFamily="49" charset="-122"/>
                <a:cs typeface="JetBrains Mono" pitchFamily="49" charset="-120"/>
              </a:rPr>
              <a:t>aplicar(e) · deshacer(e)</a:t>
            </a:r>
            <a:endParaRPr lang="en-US" sz="1200" dirty="0"/>
          </a:p>
        </p:txBody>
      </p:sp>
      <p:sp>
        <p:nvSpPr>
          <p:cNvPr id="10" name="Shape 8"/>
          <p:cNvSpPr/>
          <p:nvPr/>
        </p:nvSpPr>
        <p:spPr>
          <a:xfrm>
            <a:off x="9153525" y="2105025"/>
            <a:ext cx="2216150" cy="933450"/>
          </a:xfrm>
          <a:prstGeom prst="roundRect">
            <a:avLst>
              <a:gd name="adj" fmla="val 9864"/>
            </a:avLst>
          </a:prstGeom>
          <a:solidFill>
            <a:srgbClr val="FDFCF8"/>
          </a:solidFill>
          <a:ln w="19050">
            <a:solidFill>
              <a:srgbClr val="B4531A"/>
            </a:solidFill>
            <a:prstDash val="dash"/>
          </a:ln>
        </p:spPr>
      </p:sp>
      <p:sp>
        <p:nvSpPr>
          <p:cNvPr id="11" name="Text 9"/>
          <p:cNvSpPr/>
          <p:nvPr/>
        </p:nvSpPr>
        <p:spPr>
          <a:xfrm>
            <a:off x="9315450" y="2333030"/>
            <a:ext cx="194906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4531A"/>
                </a:solidFill>
                <a:latin typeface="JetBrains Mono" pitchFamily="49" charset="0"/>
                <a:ea typeface="JetBrains Mono" pitchFamily="49" charset="-122"/>
                <a:cs typeface="JetBrains Mono" pitchFamily="49" charset="-120"/>
              </a:rPr>
              <a:t>EstadoCuantico</a:t>
            </a:r>
            <a:endParaRPr lang="en-US" sz="1400" dirty="0"/>
          </a:p>
        </p:txBody>
      </p:sp>
      <p:sp>
        <p:nvSpPr>
          <p:cNvPr id="12" name="Text 10"/>
          <p:cNvSpPr/>
          <p:nvPr/>
        </p:nvSpPr>
        <p:spPr>
          <a:xfrm>
            <a:off x="9315450" y="2597150"/>
            <a:ext cx="19490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receptor: amplitudes</a:t>
            </a:r>
            <a:endParaRPr lang="en-US" sz="1200" dirty="0"/>
          </a:p>
        </p:txBody>
      </p:sp>
      <p:sp>
        <p:nvSpPr>
          <p:cNvPr id="13" name="Shape 11"/>
          <p:cNvSpPr/>
          <p:nvPr/>
        </p:nvSpPr>
        <p:spPr>
          <a:xfrm>
            <a:off x="3559175" y="3686175"/>
            <a:ext cx="3295650" cy="819150"/>
          </a:xfrm>
          <a:prstGeom prst="roundRect">
            <a:avLst>
              <a:gd name="adj" fmla="val 12016"/>
            </a:avLst>
          </a:prstGeom>
          <a:solidFill>
            <a:srgbClr val="FDFCF8"/>
          </a:solidFill>
          <a:ln w="6350">
            <a:solidFill>
              <a:srgbClr val="C9C3B5"/>
            </a:solidFill>
            <a:prstDash val="solid"/>
          </a:ln>
        </p:spPr>
      </p:sp>
      <p:sp>
        <p:nvSpPr>
          <p:cNvPr id="14" name="Text 12"/>
          <p:cNvSpPr/>
          <p:nvPr/>
        </p:nvSpPr>
        <p:spPr>
          <a:xfrm>
            <a:off x="3714750" y="3857030"/>
            <a:ext cx="307403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PuertaMatricial</a:t>
            </a:r>
            <a:endParaRPr lang="en-US" sz="1400" dirty="0"/>
          </a:p>
        </p:txBody>
      </p:sp>
      <p:sp>
        <p:nvSpPr>
          <p:cNvPr id="15" name="Text 13"/>
          <p:cNvSpPr/>
          <p:nvPr/>
        </p:nvSpPr>
        <p:spPr>
          <a:xfrm>
            <a:off x="3714750" y="4121150"/>
            <a:ext cx="30740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deshacer = aplicar U†</a:t>
            </a:r>
            <a:endParaRPr lang="en-US" sz="1200" dirty="0"/>
          </a:p>
        </p:txBody>
      </p:sp>
      <p:sp>
        <p:nvSpPr>
          <p:cNvPr id="16" name="Shape 14"/>
          <p:cNvSpPr/>
          <p:nvPr/>
        </p:nvSpPr>
        <p:spPr>
          <a:xfrm>
            <a:off x="7623175" y="3686175"/>
            <a:ext cx="2660650" cy="819150"/>
          </a:xfrm>
          <a:prstGeom prst="roundRect">
            <a:avLst>
              <a:gd name="adj" fmla="val 12016"/>
            </a:avLst>
          </a:prstGeom>
          <a:solidFill>
            <a:srgbClr val="FDFCF8"/>
          </a:solidFill>
          <a:ln w="6350">
            <a:solidFill>
              <a:srgbClr val="C9C3B5"/>
            </a:solidFill>
            <a:prstDash val="solid"/>
          </a:ln>
        </p:spPr>
      </p:sp>
      <p:sp>
        <p:nvSpPr>
          <p:cNvPr id="17" name="Text 15"/>
          <p:cNvSpPr/>
          <p:nvPr/>
        </p:nvSpPr>
        <p:spPr>
          <a:xfrm>
            <a:off x="7778750" y="3857030"/>
            <a:ext cx="241998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Medir</a:t>
            </a:r>
            <a:endParaRPr lang="en-US" sz="1400" dirty="0"/>
          </a:p>
        </p:txBody>
      </p:sp>
      <p:sp>
        <p:nvSpPr>
          <p:cNvPr id="18" name="Text 16"/>
          <p:cNvSpPr/>
          <p:nvPr/>
        </p:nvSpPr>
        <p:spPr>
          <a:xfrm>
            <a:off x="7778750" y="4121150"/>
            <a:ext cx="2419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guarda una foto (Memento)</a:t>
            </a:r>
            <a:endParaRPr lang="en-US" sz="1200" dirty="0"/>
          </a:p>
        </p:txBody>
      </p:sp>
      <p:sp>
        <p:nvSpPr>
          <p:cNvPr id="19" name="Text 17"/>
          <p:cNvSpPr/>
          <p:nvPr/>
        </p:nvSpPr>
        <p:spPr>
          <a:xfrm>
            <a:off x="2416175" y="5019675"/>
            <a:ext cx="1771650" cy="755650"/>
          </a:xfrm>
          <a:prstGeom prst="roundRect">
            <a:avLst>
              <a:gd name="adj" fmla="val 13025"/>
            </a:avLst>
          </a:prstGeom>
          <a:solidFill>
            <a:srgbClr val="FDFCF8"/>
          </a:solidFill>
          <a:ln w="6350">
            <a:solidFill>
              <a:srgbClr val="C9C3B5"/>
            </a:solidFill>
            <a:prstDash val="solid"/>
          </a:ln>
        </p:spPr>
        <p:txBody>
          <a:bodyPr wrap="square" lIns="126747" tIns="126747" rIns="75947" bIns="126747" rtlCol="0" anchor="ctr">
            <a:normAutofit/>
          </a:bodyPr>
          <a:lstStyle/>
          <a:p>
            <a:pPr marL="0" indent="0" algn="l">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H, X, Z…</a:t>
            </a:r>
            <a:endParaRPr lang="en-US" sz="1400" dirty="0"/>
          </a:p>
        </p:txBody>
      </p:sp>
      <p:sp>
        <p:nvSpPr>
          <p:cNvPr id="20" name="Text 18"/>
          <p:cNvSpPr/>
          <p:nvPr/>
        </p:nvSpPr>
        <p:spPr>
          <a:xfrm>
            <a:off x="4384675" y="5019675"/>
            <a:ext cx="1771650" cy="755650"/>
          </a:xfrm>
          <a:prstGeom prst="roundRect">
            <a:avLst>
              <a:gd name="adj" fmla="val 13025"/>
            </a:avLst>
          </a:prstGeom>
          <a:solidFill>
            <a:srgbClr val="FDFCF8"/>
          </a:solidFill>
          <a:ln w="6350">
            <a:solidFill>
              <a:srgbClr val="C9C3B5"/>
            </a:solidFill>
            <a:prstDash val="solid"/>
          </a:ln>
        </p:spPr>
        <p:txBody>
          <a:bodyPr wrap="square" lIns="126747" tIns="126747" rIns="75947" bIns="126747" rtlCol="0" anchor="ctr">
            <a:normAutofit/>
          </a:bodyPr>
          <a:lstStyle/>
          <a:p>
            <a:pPr marL="0" indent="0" algn="l">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CNOT, CZ…</a:t>
            </a:r>
            <a:endParaRPr lang="en-US" sz="1400" dirty="0"/>
          </a:p>
        </p:txBody>
      </p:sp>
      <p:sp>
        <p:nvSpPr>
          <p:cNvPr id="21" name="Text 19"/>
          <p:cNvSpPr/>
          <p:nvPr/>
        </p:nvSpPr>
        <p:spPr>
          <a:xfrm>
            <a:off x="6353175" y="5019675"/>
            <a:ext cx="2406650" cy="755650"/>
          </a:xfrm>
          <a:prstGeom prst="roundRect">
            <a:avLst>
              <a:gd name="adj" fmla="val 13025"/>
            </a:avLst>
          </a:prstGeom>
          <a:solidFill>
            <a:srgbClr val="FDFCF8"/>
          </a:solidFill>
          <a:ln w="6350">
            <a:solidFill>
              <a:srgbClr val="C9C3B5"/>
            </a:solidFill>
            <a:prstDash val="solid"/>
          </a:ln>
        </p:spPr>
        <p:txBody>
          <a:bodyPr wrap="square" lIns="126747" tIns="126747" rIns="63882" bIns="126747" rtlCol="0" anchor="ctr">
            <a:normAutofit/>
          </a:bodyPr>
          <a:lstStyle/>
          <a:p>
            <a:pPr marL="0" indent="0" algn="l">
              <a:lnSpc>
                <a:spcPts val="1680"/>
              </a:lnSpc>
              <a:buNone/>
            </a:pPr>
            <a:r>
              <a:rPr lang="en-US" sz="1400" b="1" dirty="0">
                <a:solidFill>
                  <a:srgbClr val="14213D"/>
                </a:solidFill>
                <a:latin typeface="JetBrains Mono" pitchFamily="49" charset="0"/>
                <a:ea typeface="JetBrains Mono" pitchFamily="49" charset="-122"/>
                <a:cs typeface="JetBrains Mono" pitchFamily="49" charset="-120"/>
              </a:rPr>
              <a:t>Oraculo, Difusion</a:t>
            </a:r>
            <a:endParaRPr lang="en-US" sz="1400" dirty="0"/>
          </a:p>
        </p:txBody>
      </p:sp>
      <p:pic>
        <p:nvPicPr>
          <p:cNvPr id="22" name="Image 0" descr="connector"/>
          <p:cNvPicPr>
            <a:picLocks noChangeAspect="1"/>
          </p:cNvPicPr>
          <p:nvPr/>
        </p:nvPicPr>
        <p:blipFill>
          <a:blip r:embed="rId3"/>
          <a:srcRect/>
          <a:stretch/>
        </p:blipFill>
        <p:spPr>
          <a:xfrm>
            <a:off x="3556000" y="2520950"/>
            <a:ext cx="1066800" cy="101600"/>
          </a:xfrm>
          <a:prstGeom prst="rect">
            <a:avLst/>
          </a:prstGeom>
        </p:spPr>
      </p:pic>
      <p:pic>
        <p:nvPicPr>
          <p:cNvPr id="23" name="Image 1" descr="connector"/>
          <p:cNvPicPr>
            <a:picLocks noChangeAspect="1"/>
          </p:cNvPicPr>
          <p:nvPr/>
        </p:nvPicPr>
        <p:blipFill>
          <a:blip r:embed="rId4"/>
          <a:srcRect/>
          <a:stretch/>
        </p:blipFill>
        <p:spPr>
          <a:xfrm>
            <a:off x="7823200" y="2520950"/>
            <a:ext cx="1371600" cy="101600"/>
          </a:xfrm>
          <a:prstGeom prst="rect">
            <a:avLst/>
          </a:prstGeom>
        </p:spPr>
      </p:pic>
      <p:pic>
        <p:nvPicPr>
          <p:cNvPr id="24" name="Image 2" descr="connector"/>
          <p:cNvPicPr>
            <a:picLocks noChangeAspect="1"/>
          </p:cNvPicPr>
          <p:nvPr/>
        </p:nvPicPr>
        <p:blipFill>
          <a:blip r:embed="rId5"/>
          <a:srcRect/>
          <a:stretch/>
        </p:blipFill>
        <p:spPr>
          <a:xfrm>
            <a:off x="5156200" y="2997200"/>
            <a:ext cx="609600" cy="736600"/>
          </a:xfrm>
          <a:prstGeom prst="rect">
            <a:avLst/>
          </a:prstGeom>
        </p:spPr>
      </p:pic>
      <p:pic>
        <p:nvPicPr>
          <p:cNvPr id="25" name="Image 3" descr="connector"/>
          <p:cNvPicPr>
            <a:picLocks noChangeAspect="1"/>
          </p:cNvPicPr>
          <p:nvPr/>
        </p:nvPicPr>
        <p:blipFill>
          <a:blip r:embed="rId6"/>
          <a:srcRect/>
          <a:stretch/>
        </p:blipFill>
        <p:spPr>
          <a:xfrm>
            <a:off x="7061200" y="2997200"/>
            <a:ext cx="1943100" cy="736600"/>
          </a:xfrm>
          <a:prstGeom prst="rect">
            <a:avLst/>
          </a:prstGeom>
        </p:spPr>
      </p:pic>
      <p:pic>
        <p:nvPicPr>
          <p:cNvPr id="26" name="Image 4" descr="connector"/>
          <p:cNvPicPr>
            <a:picLocks noChangeAspect="1"/>
          </p:cNvPicPr>
          <p:nvPr/>
        </p:nvPicPr>
        <p:blipFill>
          <a:blip r:embed="rId7"/>
          <a:srcRect/>
          <a:stretch/>
        </p:blipFill>
        <p:spPr>
          <a:xfrm>
            <a:off x="3251200" y="4457700"/>
            <a:ext cx="1244600" cy="609600"/>
          </a:xfrm>
          <a:prstGeom prst="rect">
            <a:avLst/>
          </a:prstGeom>
        </p:spPr>
      </p:pic>
      <p:pic>
        <p:nvPicPr>
          <p:cNvPr id="27" name="Image 5" descr="connector"/>
          <p:cNvPicPr>
            <a:picLocks noChangeAspect="1"/>
          </p:cNvPicPr>
          <p:nvPr/>
        </p:nvPicPr>
        <p:blipFill>
          <a:blip r:embed="rId8"/>
          <a:srcRect/>
          <a:stretch/>
        </p:blipFill>
        <p:spPr>
          <a:xfrm>
            <a:off x="5219700" y="4457700"/>
            <a:ext cx="101600" cy="609600"/>
          </a:xfrm>
          <a:prstGeom prst="rect">
            <a:avLst/>
          </a:prstGeom>
        </p:spPr>
      </p:pic>
      <p:pic>
        <p:nvPicPr>
          <p:cNvPr id="28" name="Image 6" descr="connector"/>
          <p:cNvPicPr>
            <a:picLocks noChangeAspect="1"/>
          </p:cNvPicPr>
          <p:nvPr/>
        </p:nvPicPr>
        <p:blipFill>
          <a:blip r:embed="rId9"/>
          <a:srcRect/>
          <a:stretch/>
        </p:blipFill>
        <p:spPr>
          <a:xfrm>
            <a:off x="6045200" y="4457700"/>
            <a:ext cx="1562100" cy="609600"/>
          </a:xfrm>
          <a:prstGeom prst="rect">
            <a:avLst/>
          </a:prstGeom>
        </p:spPr>
      </p:pic>
      <p:sp>
        <p:nvSpPr>
          <p:cNvPr id="29" name="Text 20"/>
          <p:cNvSpPr/>
          <p:nvPr/>
        </p:nvSpPr>
        <p:spPr>
          <a:xfrm>
            <a:off x="3657600" y="2222500"/>
            <a:ext cx="876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F6FB3"/>
                </a:solidFill>
                <a:latin typeface="IBM Plex Sans" pitchFamily="34" charset="0"/>
                <a:ea typeface="IBM Plex Sans" pitchFamily="34" charset="-122"/>
                <a:cs typeface="IBM Plex Sans" pitchFamily="34" charset="-120"/>
              </a:rPr>
              <a:t>usa</a:t>
            </a:r>
            <a:endParaRPr lang="en-US" sz="1200" dirty="0"/>
          </a:p>
        </p:txBody>
      </p:sp>
      <p:sp>
        <p:nvSpPr>
          <p:cNvPr id="30" name="Text 21"/>
          <p:cNvSpPr/>
          <p:nvPr/>
        </p:nvSpPr>
        <p:spPr>
          <a:xfrm>
            <a:off x="7912100" y="2222500"/>
            <a:ext cx="1193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4531A"/>
                </a:solidFill>
                <a:latin typeface="IBM Plex Sans" pitchFamily="34" charset="0"/>
                <a:ea typeface="IBM Plex Sans" pitchFamily="34" charset="-122"/>
                <a:cs typeface="IBM Plex Sans" pitchFamily="34" charset="-120"/>
              </a:rPr>
              <a:t>actúa sobre</a:t>
            </a:r>
            <a:endParaRPr lang="en-US" sz="1200" dirty="0"/>
          </a:p>
        </p:txBody>
      </p:sp>
      <p:sp>
        <p:nvSpPr>
          <p:cNvPr id="31" name="Text 22"/>
          <p:cNvSpPr/>
          <p:nvPr/>
        </p:nvSpPr>
        <p:spPr>
          <a:xfrm>
            <a:off x="9017000" y="5016500"/>
            <a:ext cx="243306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Triángulo abierto = «hereda de». Puerta nueva = clase nueva.</a:t>
            </a:r>
            <a:endParaRPr lang="en-US" sz="1200" dirty="0"/>
          </a:p>
        </p:txBody>
      </p:sp>
      <p:sp>
        <p:nvSpPr>
          <p:cNvPr id="32"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2 · DISEÑO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¿Por qué Command y no otra cosa?</a:t>
            </a:r>
            <a:endParaRPr lang="en-US" sz="3000" dirty="0"/>
          </a:p>
        </p:txBody>
      </p:sp>
      <p:sp>
        <p:nvSpPr>
          <p:cNvPr id="4" name="Shape 2"/>
          <p:cNvSpPr/>
          <p:nvPr/>
        </p:nvSpPr>
        <p:spPr>
          <a:xfrm>
            <a:off x="815975" y="1873845"/>
            <a:ext cx="2482850" cy="1357511"/>
          </a:xfrm>
          <a:prstGeom prst="roundRect">
            <a:avLst>
              <a:gd name="adj" fmla="val 7250"/>
            </a:avLst>
          </a:prstGeom>
          <a:solidFill>
            <a:srgbClr val="FDFCF8"/>
          </a:solidFill>
          <a:ln w="6350">
            <a:solidFill>
              <a:srgbClr val="E2DED3"/>
            </a:solidFill>
            <a:prstDash val="solid"/>
          </a:ln>
        </p:spPr>
      </p:sp>
      <p:sp>
        <p:nvSpPr>
          <p:cNvPr id="5" name="Text 3"/>
          <p:cNvSpPr/>
          <p:nvPr/>
        </p:nvSpPr>
        <p:spPr>
          <a:xfrm>
            <a:off x="10223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Paso a paso</a:t>
            </a:r>
            <a:endParaRPr lang="en-US" sz="1500" dirty="0"/>
          </a:p>
        </p:txBody>
      </p:sp>
      <p:sp>
        <p:nvSpPr>
          <p:cNvPr id="6" name="Text 4"/>
          <p:cNvSpPr/>
          <p:nvPr/>
        </p:nvSpPr>
        <p:spPr>
          <a:xfrm>
            <a:off x="1022350" y="2385020"/>
            <a:ext cx="21322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Aplicar una puerta y mirar el estado: ideal para enseñar.</a:t>
            </a:r>
            <a:endParaRPr lang="en-US" sz="1200" dirty="0"/>
          </a:p>
        </p:txBody>
      </p:sp>
      <p:sp>
        <p:nvSpPr>
          <p:cNvPr id="7" name="Shape 5"/>
          <p:cNvSpPr/>
          <p:nvPr/>
        </p:nvSpPr>
        <p:spPr>
          <a:xfrm>
            <a:off x="3508375" y="1873845"/>
            <a:ext cx="2482850" cy="1357511"/>
          </a:xfrm>
          <a:prstGeom prst="roundRect">
            <a:avLst>
              <a:gd name="adj" fmla="val 7250"/>
            </a:avLst>
          </a:prstGeom>
          <a:solidFill>
            <a:srgbClr val="FDFCF8"/>
          </a:solidFill>
          <a:ln w="6350">
            <a:solidFill>
              <a:srgbClr val="E2DED3"/>
            </a:solidFill>
            <a:prstDash val="solid"/>
          </a:ln>
        </p:spPr>
      </p:sp>
      <p:sp>
        <p:nvSpPr>
          <p:cNvPr id="8" name="Text 6"/>
          <p:cNvSpPr/>
          <p:nvPr/>
        </p:nvSpPr>
        <p:spPr>
          <a:xfrm>
            <a:off x="37147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Deshacer</a:t>
            </a:r>
            <a:endParaRPr lang="en-US" sz="1500" dirty="0"/>
          </a:p>
        </p:txBody>
      </p:sp>
      <p:sp>
        <p:nvSpPr>
          <p:cNvPr id="9" name="Text 7"/>
          <p:cNvSpPr/>
          <p:nvPr/>
        </p:nvSpPr>
        <p:spPr>
          <a:xfrm>
            <a:off x="3714750" y="2385020"/>
            <a:ext cx="21322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 recorre el camino de vuelta: la física es reversible.</a:t>
            </a:r>
            <a:endParaRPr lang="en-US" sz="1200" dirty="0"/>
          </a:p>
        </p:txBody>
      </p:sp>
      <p:sp>
        <p:nvSpPr>
          <p:cNvPr id="10" name="Shape 8"/>
          <p:cNvSpPr/>
          <p:nvPr/>
        </p:nvSpPr>
        <p:spPr>
          <a:xfrm>
            <a:off x="6200775" y="1873845"/>
            <a:ext cx="2482850" cy="1357511"/>
          </a:xfrm>
          <a:prstGeom prst="roundRect">
            <a:avLst>
              <a:gd name="adj" fmla="val 7250"/>
            </a:avLst>
          </a:prstGeom>
          <a:solidFill>
            <a:srgbClr val="FDFCF8"/>
          </a:solidFill>
          <a:ln w="6350">
            <a:solidFill>
              <a:srgbClr val="E2DED3"/>
            </a:solidFill>
            <a:prstDash val="solid"/>
          </a:ln>
        </p:spPr>
      </p:sp>
      <p:sp>
        <p:nvSpPr>
          <p:cNvPr id="11" name="Text 9"/>
          <p:cNvSpPr/>
          <p:nvPr/>
        </p:nvSpPr>
        <p:spPr>
          <a:xfrm>
            <a:off x="64071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Circuito = datos</a:t>
            </a:r>
            <a:endParaRPr lang="en-US" sz="1500" dirty="0"/>
          </a:p>
        </p:txBody>
      </p:sp>
      <p:sp>
        <p:nvSpPr>
          <p:cNvPr id="12" name="Text 10"/>
          <p:cNvSpPr/>
          <p:nvPr/>
        </p:nvSpPr>
        <p:spPr>
          <a:xfrm>
            <a:off x="6407150" y="2385020"/>
            <a:ext cx="21322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lista se puede dibujar, guardar y contar.</a:t>
            </a:r>
            <a:endParaRPr lang="en-US" sz="1200" dirty="0"/>
          </a:p>
        </p:txBody>
      </p:sp>
      <p:sp>
        <p:nvSpPr>
          <p:cNvPr id="13" name="Shape 11"/>
          <p:cNvSpPr/>
          <p:nvPr/>
        </p:nvSpPr>
        <p:spPr>
          <a:xfrm>
            <a:off x="8893175" y="1873845"/>
            <a:ext cx="2482850" cy="1357511"/>
          </a:xfrm>
          <a:prstGeom prst="roundRect">
            <a:avLst>
              <a:gd name="adj" fmla="val 7250"/>
            </a:avLst>
          </a:prstGeom>
          <a:solidFill>
            <a:srgbClr val="FDFCF8"/>
          </a:solidFill>
          <a:ln w="6350">
            <a:solidFill>
              <a:srgbClr val="E2DED3"/>
            </a:solidFill>
            <a:prstDash val="solid"/>
          </a:ln>
        </p:spPr>
      </p:sp>
      <p:sp>
        <p:nvSpPr>
          <p:cNvPr id="14" name="Text 12"/>
          <p:cNvSpPr/>
          <p:nvPr/>
        </p:nvSpPr>
        <p:spPr>
          <a:xfrm>
            <a:off x="9099550" y="2080220"/>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Extensible</a:t>
            </a:r>
            <a:endParaRPr lang="en-US" sz="1500" dirty="0"/>
          </a:p>
        </p:txBody>
      </p:sp>
      <p:sp>
        <p:nvSpPr>
          <p:cNvPr id="15" name="Text 13"/>
          <p:cNvSpPr/>
          <p:nvPr/>
        </p:nvSpPr>
        <p:spPr>
          <a:xfrm>
            <a:off x="9099550" y="2385020"/>
            <a:ext cx="213220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Una puerta nueva es una clase nueva; nada más cambia.</a:t>
            </a:r>
            <a:endParaRPr lang="en-US" sz="1200" dirty="0"/>
          </a:p>
        </p:txBody>
      </p:sp>
      <p:sp>
        <p:nvSpPr>
          <p:cNvPr id="16" name="Shape 14"/>
          <p:cNvSpPr/>
          <p:nvPr/>
        </p:nvSpPr>
        <p:spPr>
          <a:xfrm>
            <a:off x="812800" y="3437731"/>
            <a:ext cx="10566400" cy="1554361"/>
          </a:xfrm>
          <a:prstGeom prst="roundRect">
            <a:avLst>
              <a:gd name="adj" fmla="val 6536"/>
            </a:avLst>
          </a:prstGeom>
          <a:solidFill>
            <a:srgbClr val="14213D"/>
          </a:solidFill>
          <a:ln/>
        </p:spPr>
      </p:sp>
      <p:sp>
        <p:nvSpPr>
          <p:cNvPr id="17" name="Text 15"/>
          <p:cNvSpPr/>
          <p:nvPr/>
        </p:nvSpPr>
        <p:spPr>
          <a:xfrm>
            <a:off x="1066800" y="3691731"/>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7F5EF"/>
                </a:solidFill>
                <a:latin typeface="IBM Plex Sans" pitchFamily="34" charset="0"/>
                <a:ea typeface="IBM Plex Sans" pitchFamily="34" charset="-122"/>
                <a:cs typeface="IBM Plex Sans" pitchFamily="34" charset="-120"/>
              </a:rPr>
              <a:t>ALTERNATIVAS DESCARTADAS</a:t>
            </a:r>
            <a:endParaRPr lang="en-US" sz="1200" dirty="0"/>
          </a:p>
        </p:txBody>
      </p:sp>
      <p:sp>
        <p:nvSpPr>
          <p:cNvPr id="18" name="Text 16"/>
          <p:cNvSpPr/>
          <p:nvPr/>
        </p:nvSpPr>
        <p:spPr>
          <a:xfrm>
            <a:off x="1066800" y="4032052"/>
            <a:ext cx="32789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Strategy</a:t>
            </a:r>
            <a:endParaRPr lang="en-US" sz="1500" dirty="0"/>
          </a:p>
        </p:txBody>
      </p:sp>
      <p:sp>
        <p:nvSpPr>
          <p:cNvPr id="19" name="Text 17"/>
          <p:cNvSpPr/>
          <p:nvPr/>
        </p:nvSpPr>
        <p:spPr>
          <a:xfrm>
            <a:off x="1066800" y="4311452"/>
            <a:ext cx="32789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Sirve para elegir UN algoritmo; aquí hay una secuencia de operaciones.</a:t>
            </a:r>
            <a:endParaRPr lang="en-US" sz="1200" dirty="0"/>
          </a:p>
        </p:txBody>
      </p:sp>
      <p:sp>
        <p:nvSpPr>
          <p:cNvPr id="20" name="Text 18"/>
          <p:cNvSpPr/>
          <p:nvPr/>
        </p:nvSpPr>
        <p:spPr>
          <a:xfrm>
            <a:off x="4504234" y="4032052"/>
            <a:ext cx="32790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Funciones sueltas</a:t>
            </a:r>
            <a:endParaRPr lang="en-US" sz="1500" dirty="0"/>
          </a:p>
        </p:txBody>
      </p:sp>
      <p:sp>
        <p:nvSpPr>
          <p:cNvPr id="21" name="Text 19"/>
          <p:cNvSpPr/>
          <p:nvPr/>
        </p:nvSpPr>
        <p:spPr>
          <a:xfrm>
            <a:off x="4504234" y="4311452"/>
            <a:ext cx="327903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No recuerdan qué hicieron: no hay deshacer ni dibujo.</a:t>
            </a:r>
            <a:endParaRPr lang="en-US" sz="1200" dirty="0"/>
          </a:p>
        </p:txBody>
      </p:sp>
      <p:sp>
        <p:nvSpPr>
          <p:cNvPr id="22" name="Text 20"/>
          <p:cNvSpPr/>
          <p:nvPr/>
        </p:nvSpPr>
        <p:spPr>
          <a:xfrm>
            <a:off x="7941766" y="4032052"/>
            <a:ext cx="32789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Una matriz total</a:t>
            </a:r>
            <a:endParaRPr lang="en-US" sz="1500" dirty="0"/>
          </a:p>
        </p:txBody>
      </p:sp>
      <p:sp>
        <p:nvSpPr>
          <p:cNvPr id="23" name="Text 21"/>
          <p:cNvSpPr/>
          <p:nvPr/>
        </p:nvSpPr>
        <p:spPr>
          <a:xfrm>
            <a:off x="7941766" y="4311452"/>
            <a:ext cx="32789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Multiplicar todo de una vez pierde los pasos intermedios.</a:t>
            </a:r>
            <a:endParaRPr lang="en-US" sz="12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3 · MODELO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Antes del código: el Python que vamos a leer</a:t>
            </a:r>
            <a:endParaRPr lang="en-US" sz="3000" dirty="0"/>
          </a:p>
        </p:txBody>
      </p:sp>
      <p:sp>
        <p:nvSpPr>
          <p:cNvPr id="4" name="Text 2"/>
          <p:cNvSpPr/>
          <p:nvPr/>
        </p:nvSpPr>
        <p:spPr>
          <a:xfrm>
            <a:off x="812800" y="1870670"/>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064000" y="1870670"/>
            <a:ext cx="753465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048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0.6 + 0.8j</a:t>
            </a:r>
            <a:endParaRPr lang="en-US" sz="1200" dirty="0"/>
          </a:p>
        </p:txBody>
      </p:sp>
      <p:sp>
        <p:nvSpPr>
          <p:cNvPr id="7" name="Text 5"/>
          <p:cNvSpPr/>
          <p:nvPr/>
        </p:nvSpPr>
        <p:spPr>
          <a:xfrm>
            <a:off x="4064000" y="2172891"/>
            <a:ext cx="75346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número complejo en Python: la j es la unidad imaginaria i. Las amplitudes son complejas.</a:t>
            </a:r>
            <a:endParaRPr lang="en-US" sz="1200" dirty="0"/>
          </a:p>
        </p:txBody>
      </p:sp>
      <p:sp>
        <p:nvSpPr>
          <p:cNvPr id="8" name="Text 6"/>
          <p:cNvSpPr/>
          <p:nvPr/>
        </p:nvSpPr>
        <p:spPr>
          <a:xfrm>
            <a:off x="812800" y="2551311"/>
            <a:ext cx="3048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np.abs(a) ** 2</a:t>
            </a:r>
            <a:endParaRPr lang="en-US" sz="1200" dirty="0"/>
          </a:p>
        </p:txBody>
      </p:sp>
      <p:sp>
        <p:nvSpPr>
          <p:cNvPr id="9" name="Text 7"/>
          <p:cNvSpPr/>
          <p:nvPr/>
        </p:nvSpPr>
        <p:spPr>
          <a:xfrm>
            <a:off x="4064000" y="2551311"/>
            <a:ext cx="75346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Módulo al cuadrado (** es potencia): la probabilidad de Born de la amplitud a.</a:t>
            </a:r>
            <a:endParaRPr lang="en-US" sz="1200" dirty="0"/>
          </a:p>
        </p:txBody>
      </p:sp>
      <p:sp>
        <p:nvSpPr>
          <p:cNvPr id="10" name="Text 8"/>
          <p:cNvSpPr/>
          <p:nvPr/>
        </p:nvSpPr>
        <p:spPr>
          <a:xfrm>
            <a:off x="812800" y="2929731"/>
            <a:ext cx="3048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class Nombre: … self</a:t>
            </a:r>
            <a:endParaRPr lang="en-US" sz="1200" dirty="0"/>
          </a:p>
        </p:txBody>
      </p:sp>
      <p:sp>
        <p:nvSpPr>
          <p:cNvPr id="11" name="Text 9"/>
          <p:cNvSpPr/>
          <p:nvPr/>
        </p:nvSpPr>
        <p:spPr>
          <a:xfrm>
            <a:off x="4064000" y="2929731"/>
            <a:ext cx="75346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molde de objetos; dentro de sus métodos, self es «el objeto mismo».</a:t>
            </a:r>
            <a:endParaRPr lang="en-US" sz="1200" dirty="0"/>
          </a:p>
        </p:txBody>
      </p:sp>
      <p:sp>
        <p:nvSpPr>
          <p:cNvPr id="12" name="Text 10"/>
          <p:cNvSpPr/>
          <p:nvPr/>
        </p:nvSpPr>
        <p:spPr>
          <a:xfrm>
            <a:off x="812800" y="3308152"/>
            <a:ext cx="3048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@abstractmethod</a:t>
            </a:r>
            <a:endParaRPr lang="en-US" sz="1200" dirty="0"/>
          </a:p>
        </p:txBody>
      </p:sp>
      <p:sp>
        <p:nvSpPr>
          <p:cNvPr id="13" name="Text 11"/>
          <p:cNvSpPr/>
          <p:nvPr/>
        </p:nvSpPr>
        <p:spPr>
          <a:xfrm>
            <a:off x="4064000" y="3308152"/>
            <a:ext cx="75346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Obliga a toda subclase a escribir ese método: así se define un contrato.</a:t>
            </a:r>
            <a:endParaRPr lang="en-US" sz="1200" dirty="0"/>
          </a:p>
        </p:txBody>
      </p:sp>
      <p:sp>
        <p:nvSpPr>
          <p:cNvPr id="14" name="Text 12"/>
          <p:cNvSpPr/>
          <p:nvPr/>
        </p:nvSpPr>
        <p:spPr>
          <a:xfrm>
            <a:off x="812800" y="3686572"/>
            <a:ext cx="3048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v.reshape(2, 2, 2)</a:t>
            </a:r>
            <a:endParaRPr lang="en-US" sz="1200" dirty="0"/>
          </a:p>
        </p:txBody>
      </p:sp>
      <p:sp>
        <p:nvSpPr>
          <p:cNvPr id="15" name="Text 13"/>
          <p:cNvSpPr/>
          <p:nvPr/>
        </p:nvSpPr>
        <p:spPr>
          <a:xfrm>
            <a:off x="4064000" y="3686572"/>
            <a:ext cx="75346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Ver los mismos 8 números como un cubo de 2 × 2 × 2: un eje por qubit.</a:t>
            </a:r>
            <a:endParaRPr lang="en-US" sz="1200" dirty="0"/>
          </a:p>
        </p:txBody>
      </p:sp>
      <p:sp>
        <p:nvSpPr>
          <p:cNvPr id="16" name="Text 14"/>
          <p:cNvSpPr/>
          <p:nvPr/>
        </p:nvSpPr>
        <p:spPr>
          <a:xfrm>
            <a:off x="812800" y="4064992"/>
            <a:ext cx="3048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return self</a:t>
            </a:r>
            <a:endParaRPr lang="en-US" sz="1200" dirty="0"/>
          </a:p>
        </p:txBody>
      </p:sp>
      <p:sp>
        <p:nvSpPr>
          <p:cNvPr id="17" name="Text 15"/>
          <p:cNvSpPr/>
          <p:nvPr/>
        </p:nvSpPr>
        <p:spPr>
          <a:xfrm>
            <a:off x="4064000" y="4064992"/>
            <a:ext cx="75346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Devolver el propio objeto permite encadenar: c.agregar(H(0)).agregar(X(1)).</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3 · MODELO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 clase EstadoCuantico</a:t>
            </a:r>
            <a:endParaRPr lang="en-US" sz="3000" dirty="0"/>
          </a:p>
        </p:txBody>
      </p:sp>
      <p:sp>
        <p:nvSpPr>
          <p:cNvPr id="4" name="Text 2"/>
          <p:cNvSpPr/>
          <p:nvPr/>
        </p:nvSpPr>
        <p:spPr>
          <a:xfrm>
            <a:off x="812800" y="1870670"/>
            <a:ext cx="7620000" cy="3179564"/>
          </a:xfrm>
          <a:prstGeom prst="roundRect">
            <a:avLst>
              <a:gd name="adj" fmla="val 3195"/>
            </a:avLst>
          </a:prstGeom>
          <a:solidFill>
            <a:srgbClr val="14213D"/>
          </a:solidFill>
          <a:ln/>
        </p:spPr>
        <p:txBody>
          <a:bodyPr wrap="none" lIns="224242" tIns="173442" rIns="10882" bIns="148042" rtlCol="0" anchor="t">
            <a:normAutofit/>
          </a:bodyPr>
          <a:lstStyle/>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EstadoCuantico: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__init__(self, n_qubits):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self.n = n_qubits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self._psi = np.zeros(2 ** n_qubits, dtype=complex)</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self._psi[0] = 1.0                          </a:t>
            </a:r>
            <a:r>
              <a:rPr lang="en-US" sz="1200" dirty="0">
                <a:solidFill>
                  <a:srgbClr val="8DA2BF"/>
                </a:solidFill>
                <a:latin typeface="JetBrains Mono" pitchFamily="49" charset="0"/>
                <a:ea typeface="JetBrains Mono" pitchFamily="49" charset="-122"/>
                <a:cs typeface="JetBrains Mono" pitchFamily="49" charset="-120"/>
              </a:rPr>
              <a:t># |00…0⟩</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aplicar_matriz(self, U, qubits):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k = len(qubits)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psi = self._psi.reshape([2] * self.n)       </a:t>
            </a:r>
            <a:r>
              <a:rPr lang="en-US" sz="1200" dirty="0">
                <a:solidFill>
                  <a:srgbClr val="8DA2BF"/>
                </a:solidFill>
                <a:latin typeface="JetBrains Mono" pitchFamily="49" charset="0"/>
                <a:ea typeface="JetBrains Mono" pitchFamily="49" charset="-122"/>
                <a:cs typeface="JetBrains Mono" pitchFamily="49" charset="-120"/>
              </a:rPr>
              <a:t># un eje por qubit</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psi = np.moveaxis(psi, qubits, range(k))    </a:t>
            </a:r>
            <a:r>
              <a:rPr lang="en-US" sz="1200" dirty="0">
                <a:solidFill>
                  <a:srgbClr val="8DA2BF"/>
                </a:solidFill>
                <a:latin typeface="JetBrains Mono" pitchFamily="49" charset="0"/>
                <a:ea typeface="JetBrains Mono" pitchFamily="49" charset="-122"/>
                <a:cs typeface="JetBrains Mono" pitchFamily="49" charset="-120"/>
              </a:rPr>
              <a:t># elegidos al frente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forma = psi.shape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psi = (U @ psi.reshape(2 ** k, -1)).reshape(forma)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psi = np.moveaxis(psi, range(k), qubits)    </a:t>
            </a:r>
            <a:r>
              <a:rPr lang="en-US" sz="1200" dirty="0">
                <a:solidFill>
                  <a:srgbClr val="8DA2BF"/>
                </a:solidFill>
                <a:latin typeface="JetBrains Mono" pitchFamily="49" charset="0"/>
                <a:ea typeface="JetBrains Mono" pitchFamily="49" charset="-122"/>
                <a:cs typeface="JetBrains Mono" pitchFamily="49" charset="-120"/>
              </a:rPr>
              <a:t># de vuelta a su lugar</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self._psi = psi.reshape(-1)</a:t>
            </a:r>
            <a:endParaRPr lang="en-US" sz="1200" dirty="0"/>
          </a:p>
        </p:txBody>
      </p:sp>
      <p:sp>
        <p:nvSpPr>
          <p:cNvPr id="5" name="Text 3"/>
          <p:cNvSpPr/>
          <p:nvPr/>
        </p:nvSpPr>
        <p:spPr>
          <a:xfrm>
            <a:off x="812800" y="525343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Nunca se construye la matriz de 2ⁿ × 2ⁿ: sólo se multiplica el bloque pequeño U.</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3 · MODELO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EstadoCuantico, paso a paso</a:t>
            </a:r>
            <a:endParaRPr lang="en-US" sz="3000" dirty="0"/>
          </a:p>
        </p:txBody>
      </p:sp>
      <p:sp>
        <p:nvSpPr>
          <p:cNvPr id="4" name="Text 2"/>
          <p:cNvSpPr/>
          <p:nvPr/>
        </p:nvSpPr>
        <p:spPr>
          <a:xfrm>
            <a:off x="812800" y="1870670"/>
            <a:ext cx="28778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3810000" y="1870670"/>
            <a:ext cx="410743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2794000" cy="502841"/>
          </a:xfrm>
          <a:prstGeom prst="roundRect">
            <a:avLst>
              <a:gd name="adj" fmla="val 10103"/>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np.zeros(2 ** n, dtype=complex)</a:t>
            </a:r>
            <a:endParaRPr lang="en-US" sz="1200" dirty="0"/>
          </a:p>
        </p:txBody>
      </p:sp>
      <p:sp>
        <p:nvSpPr>
          <p:cNvPr id="7" name="Text 5"/>
          <p:cNvSpPr/>
          <p:nvPr/>
        </p:nvSpPr>
        <p:spPr>
          <a:xfrm>
            <a:off x="3810000" y="2172891"/>
            <a:ext cx="4107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vector de 2ⁿ amplitudes complejas, todas en cero…</a:t>
            </a:r>
            <a:endParaRPr lang="en-US" sz="1200" dirty="0"/>
          </a:p>
        </p:txBody>
      </p:sp>
      <p:sp>
        <p:nvSpPr>
          <p:cNvPr id="8" name="Text 6"/>
          <p:cNvSpPr/>
          <p:nvPr/>
        </p:nvSpPr>
        <p:spPr>
          <a:xfrm>
            <a:off x="812800" y="2764631"/>
            <a:ext cx="2794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self._psi[0] = 1.0</a:t>
            </a:r>
            <a:endParaRPr lang="en-US" sz="1200" dirty="0"/>
          </a:p>
        </p:txBody>
      </p:sp>
      <p:sp>
        <p:nvSpPr>
          <p:cNvPr id="9" name="Text 7"/>
          <p:cNvSpPr/>
          <p:nvPr/>
        </p:nvSpPr>
        <p:spPr>
          <a:xfrm>
            <a:off x="3810000" y="2764631"/>
            <a:ext cx="4107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…salvo la primera: el registro empieza en |00…0⟩.</a:t>
            </a:r>
            <a:endParaRPr lang="en-US" sz="1200" dirty="0"/>
          </a:p>
        </p:txBody>
      </p:sp>
      <p:sp>
        <p:nvSpPr>
          <p:cNvPr id="10" name="Text 8"/>
          <p:cNvSpPr/>
          <p:nvPr/>
        </p:nvSpPr>
        <p:spPr>
          <a:xfrm>
            <a:off x="812800" y="3143052"/>
            <a:ext cx="2794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reshape([2] * self.n)</a:t>
            </a:r>
            <a:endParaRPr lang="en-US" sz="1200" dirty="0"/>
          </a:p>
        </p:txBody>
      </p:sp>
      <p:sp>
        <p:nvSpPr>
          <p:cNvPr id="11" name="Text 9"/>
          <p:cNvSpPr/>
          <p:nvPr/>
        </p:nvSpPr>
        <p:spPr>
          <a:xfrm>
            <a:off x="3810000" y="3143052"/>
            <a:ext cx="41074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Los mismos números como tabla con un eje por qubit: psi[q0, q1, q2].</a:t>
            </a:r>
            <a:endParaRPr lang="en-US" sz="1200" dirty="0"/>
          </a:p>
        </p:txBody>
      </p:sp>
      <p:sp>
        <p:nvSpPr>
          <p:cNvPr id="12" name="Text 10"/>
          <p:cNvSpPr/>
          <p:nvPr/>
        </p:nvSpPr>
        <p:spPr>
          <a:xfrm>
            <a:off x="812800" y="3658592"/>
            <a:ext cx="2794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np.moveaxis(…)</a:t>
            </a:r>
            <a:endParaRPr lang="en-US" sz="1200" dirty="0"/>
          </a:p>
        </p:txBody>
      </p:sp>
      <p:sp>
        <p:nvSpPr>
          <p:cNvPr id="13" name="Text 11"/>
          <p:cNvSpPr/>
          <p:nvPr/>
        </p:nvSpPr>
        <p:spPr>
          <a:xfrm>
            <a:off x="3810000" y="3658592"/>
            <a:ext cx="41074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Pone adelante los ejes de los qubits sobre los que actúa la puerta.</a:t>
            </a:r>
            <a:endParaRPr lang="en-US" sz="1200" dirty="0"/>
          </a:p>
        </p:txBody>
      </p:sp>
      <p:sp>
        <p:nvSpPr>
          <p:cNvPr id="14" name="Text 12"/>
          <p:cNvSpPr/>
          <p:nvPr/>
        </p:nvSpPr>
        <p:spPr>
          <a:xfrm>
            <a:off x="812800" y="4174133"/>
            <a:ext cx="2794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U @ psi.reshape(2 ** k, -1)</a:t>
            </a:r>
            <a:endParaRPr lang="en-US" sz="1200" dirty="0"/>
          </a:p>
        </p:txBody>
      </p:sp>
      <p:sp>
        <p:nvSpPr>
          <p:cNvPr id="15" name="Text 13"/>
          <p:cNvSpPr/>
          <p:nvPr/>
        </p:nvSpPr>
        <p:spPr>
          <a:xfrm>
            <a:off x="3810000" y="4174133"/>
            <a:ext cx="41074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Multiplica U por todas las columnas a la vez: actúa igual sea cual sea el resto.</a:t>
            </a:r>
            <a:endParaRPr lang="en-US" sz="1200" dirty="0"/>
          </a:p>
        </p:txBody>
      </p:sp>
      <p:sp>
        <p:nvSpPr>
          <p:cNvPr id="16" name="Text 14"/>
          <p:cNvSpPr/>
          <p:nvPr/>
        </p:nvSpPr>
        <p:spPr>
          <a:xfrm>
            <a:off x="8001000" y="1870670"/>
            <a:ext cx="347954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3"/>
                </a:solidFill>
                <a:latin typeface="IBM Plex Sans" pitchFamily="34" charset="0"/>
                <a:ea typeface="IBM Plex Sans" pitchFamily="34" charset="-122"/>
                <a:cs typeface="IBM Plex Sans" pitchFamily="34" charset="-120"/>
              </a:rPr>
              <a:t>EN LA CONSOLA</a:t>
            </a:r>
            <a:endParaRPr lang="en-US" sz="1200" dirty="0"/>
          </a:p>
        </p:txBody>
      </p:sp>
      <p:sp>
        <p:nvSpPr>
          <p:cNvPr id="17" name="Text 15"/>
          <p:cNvSpPr/>
          <p:nvPr/>
        </p:nvSpPr>
        <p:spPr>
          <a:xfrm>
            <a:off x="8001000" y="2236391"/>
            <a:ext cx="3378200" cy="2112963"/>
          </a:xfrm>
          <a:prstGeom prst="roundRect">
            <a:avLst>
              <a:gd name="adj" fmla="val 4808"/>
            </a:avLst>
          </a:prstGeom>
          <a:solidFill>
            <a:srgbClr val="14213D"/>
          </a:solidFill>
          <a:ln/>
        </p:spPr>
        <p:txBody>
          <a:bodyPr wrap="none" lIns="224242" tIns="173442" rIns="138136"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Hm = H(0).matriz()</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e = EstadoCuantico(2)</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e.aplicar_matriz(Hm, [1])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e.ket()</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0.707|00⟩ + 0.707|01⟩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e.aplicar_matriz(Hm, [0])</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&gt;&gt;&gt; len(e.probabilidades())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4</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3 · MODELO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Medir: la regla de Born en código</a:t>
            </a:r>
            <a:endParaRPr lang="en-US" sz="3000" dirty="0"/>
          </a:p>
        </p:txBody>
      </p:sp>
      <p:sp>
        <p:nvSpPr>
          <p:cNvPr id="4" name="Text 2"/>
          <p:cNvSpPr/>
          <p:nvPr/>
        </p:nvSpPr>
        <p:spPr>
          <a:xfrm>
            <a:off x="812800" y="1870670"/>
            <a:ext cx="10566400" cy="2326283"/>
          </a:xfrm>
          <a:prstGeom prst="roundRect">
            <a:avLst>
              <a:gd name="adj" fmla="val 4367"/>
            </a:avLst>
          </a:prstGeom>
          <a:solidFill>
            <a:srgbClr val="14213D"/>
          </a:solidFill>
          <a:ln/>
        </p:spPr>
        <p:txBody>
          <a:bodyPr wrap="none" lIns="224242" tIns="173442" rIns="0" bIns="148042" rtlCol="0" anchor="t">
            <a:normAutofit/>
          </a:bodyPr>
          <a:lstStyle/>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probabilidades(self):</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 = np.abs(self._psi) ** 2                          </a:t>
            </a:r>
            <a:r>
              <a:rPr lang="en-US" sz="1200" dirty="0">
                <a:solidFill>
                  <a:srgbClr val="8DA2BF"/>
                </a:solidFill>
                <a:latin typeface="JetBrains Mono" pitchFamily="49" charset="0"/>
                <a:ea typeface="JetBrains Mono" pitchFamily="49" charset="-122"/>
                <a:cs typeface="JetBrains Mono" pitchFamily="49" charset="-120"/>
              </a:rPr>
              <a:t># regla de Born</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{self.etiqueta(k): p[k] </a:t>
            </a:r>
            <a:r>
              <a:rPr lang="en-US" sz="1200" dirty="0">
                <a:solidFill>
                  <a:srgbClr val="F0A35E"/>
                </a:solidFill>
                <a:latin typeface="JetBrains Mono" pitchFamily="49" charset="0"/>
                <a:ea typeface="JetBrains Mono" pitchFamily="49" charset="-122"/>
                <a:cs typeface="JetBrains Mono" pitchFamily="49" charset="-120"/>
              </a:rPr>
              <a:t>for</a:t>
            </a:r>
            <a:r>
              <a:rPr lang="en-US" sz="1200" dirty="0">
                <a:solidFill>
                  <a:srgbClr val="E8EDF5"/>
                </a:solidFill>
                <a:latin typeface="JetBrains Mono" pitchFamily="49" charset="0"/>
                <a:ea typeface="JetBrains Mono" pitchFamily="49" charset="-122"/>
                <a:cs typeface="JetBrains Mono" pitchFamily="49" charset="-120"/>
              </a:rPr>
              <a:t> k </a:t>
            </a:r>
            <a:r>
              <a:rPr lang="en-US" sz="1200" dirty="0">
                <a:solidFill>
                  <a:srgbClr val="F0A35E"/>
                </a:solidFill>
                <a:latin typeface="JetBrains Mono" pitchFamily="49" charset="0"/>
                <a:ea typeface="JetBrains Mono" pitchFamily="49" charset="-122"/>
                <a:cs typeface="JetBrains Mono" pitchFamily="49" charset="-120"/>
              </a:rPr>
              <a:t>in</a:t>
            </a:r>
            <a:r>
              <a:rPr lang="en-US" sz="1200" dirty="0">
                <a:solidFill>
                  <a:srgbClr val="E8EDF5"/>
                </a:solidFill>
                <a:latin typeface="JetBrains Mono" pitchFamily="49" charset="0"/>
                <a:ea typeface="JetBrains Mono" pitchFamily="49" charset="-122"/>
                <a:cs typeface="JetBrains Mono" pitchFamily="49" charset="-120"/>
              </a:rPr>
              <a:t> range(p.size) </a:t>
            </a:r>
            <a:r>
              <a:rPr lang="en-US" sz="1200" dirty="0">
                <a:solidFill>
                  <a:srgbClr val="F0A35E"/>
                </a:solidFill>
                <a:latin typeface="JetBrains Mono" pitchFamily="49" charset="0"/>
                <a:ea typeface="JetBrains Mono" pitchFamily="49" charset="-122"/>
                <a:cs typeface="JetBrains Mono" pitchFamily="49" charset="-120"/>
              </a:rPr>
              <a:t>if</a:t>
            </a:r>
            <a:r>
              <a:rPr lang="en-US" sz="1200" dirty="0">
                <a:solidFill>
                  <a:srgbClr val="E8EDF5"/>
                </a:solidFill>
                <a:latin typeface="JetBrains Mono" pitchFamily="49" charset="0"/>
                <a:ea typeface="JetBrains Mono" pitchFamily="49" charset="-122"/>
                <a:cs typeface="JetBrains Mono" pitchFamily="49" charset="-120"/>
              </a:rPr>
              <a:t> p[k] &gt; 1e-12}</a:t>
            </a:r>
            <a:endParaRPr lang="en-US" sz="1200" dirty="0"/>
          </a:p>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medir(self, disparos=1000, semilla=None):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rng = np.random.default_rng(semilla)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 = np.abs(self._psi) ** 2</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resultados = rng.choice(p.size, size=disparos, p=p)</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conteo = np.bincount(resultados, minlength=p.size)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{self.etiqueta(k): int(c) </a:t>
            </a:r>
            <a:r>
              <a:rPr lang="en-US" sz="1200" dirty="0">
                <a:solidFill>
                  <a:srgbClr val="F0A35E"/>
                </a:solidFill>
                <a:latin typeface="JetBrains Mono" pitchFamily="49" charset="0"/>
                <a:ea typeface="JetBrains Mono" pitchFamily="49" charset="-122"/>
                <a:cs typeface="JetBrains Mono" pitchFamily="49" charset="-120"/>
              </a:rPr>
              <a:t>for</a:t>
            </a:r>
            <a:r>
              <a:rPr lang="en-US" sz="1200" dirty="0">
                <a:solidFill>
                  <a:srgbClr val="E8EDF5"/>
                </a:solidFill>
                <a:latin typeface="JetBrains Mono" pitchFamily="49" charset="0"/>
                <a:ea typeface="JetBrains Mono" pitchFamily="49" charset="-122"/>
                <a:cs typeface="JetBrains Mono" pitchFamily="49" charset="-120"/>
              </a:rPr>
              <a:t> k, c </a:t>
            </a:r>
            <a:r>
              <a:rPr lang="en-US" sz="1200" dirty="0">
                <a:solidFill>
                  <a:srgbClr val="F0A35E"/>
                </a:solidFill>
                <a:latin typeface="JetBrains Mono" pitchFamily="49" charset="0"/>
                <a:ea typeface="JetBrains Mono" pitchFamily="49" charset="-122"/>
                <a:cs typeface="JetBrains Mono" pitchFamily="49" charset="-120"/>
              </a:rPr>
              <a:t>in</a:t>
            </a:r>
            <a:r>
              <a:rPr lang="en-US" sz="1200" dirty="0">
                <a:solidFill>
                  <a:srgbClr val="E8EDF5"/>
                </a:solidFill>
                <a:latin typeface="JetBrains Mono" pitchFamily="49" charset="0"/>
                <a:ea typeface="JetBrains Mono" pitchFamily="49" charset="-122"/>
                <a:cs typeface="JetBrains Mono" pitchFamily="49" charset="-120"/>
              </a:rPr>
              <a:t> enumerate(conteo) </a:t>
            </a:r>
            <a:r>
              <a:rPr lang="en-US" sz="1200" dirty="0">
                <a:solidFill>
                  <a:srgbClr val="F0A35E"/>
                </a:solidFill>
                <a:latin typeface="JetBrains Mono" pitchFamily="49" charset="0"/>
                <a:ea typeface="JetBrains Mono" pitchFamily="49" charset="-122"/>
                <a:cs typeface="JetBrains Mono" pitchFamily="49" charset="-120"/>
              </a:rPr>
              <a:t>if</a:t>
            </a:r>
            <a:r>
              <a:rPr lang="en-US" sz="1200" dirty="0">
                <a:solidFill>
                  <a:srgbClr val="E8EDF5"/>
                </a:solidFill>
                <a:latin typeface="JetBrains Mono" pitchFamily="49" charset="0"/>
                <a:ea typeface="JetBrains Mono" pitchFamily="49" charset="-122"/>
                <a:cs typeface="JetBrains Mono" pitchFamily="49" charset="-120"/>
              </a:rPr>
              <a:t> c &gt; 0}</a:t>
            </a:r>
            <a:endParaRPr lang="en-US" sz="1200" dirty="0"/>
          </a:p>
        </p:txBody>
      </p:sp>
      <p:sp>
        <p:nvSpPr>
          <p:cNvPr id="5" name="Shape 3"/>
          <p:cNvSpPr/>
          <p:nvPr/>
        </p:nvSpPr>
        <p:spPr>
          <a:xfrm>
            <a:off x="815975" y="4403328"/>
            <a:ext cx="3380284" cy="1144191"/>
          </a:xfrm>
          <a:prstGeom prst="roundRect">
            <a:avLst>
              <a:gd name="adj" fmla="val 8602"/>
            </a:avLst>
          </a:prstGeom>
          <a:solidFill>
            <a:srgbClr val="FDFCF8"/>
          </a:solidFill>
          <a:ln w="6350">
            <a:solidFill>
              <a:srgbClr val="E2DED3"/>
            </a:solidFill>
            <a:prstDash val="solid"/>
          </a:ln>
        </p:spPr>
      </p:sp>
      <p:sp>
        <p:nvSpPr>
          <p:cNvPr id="6" name="Text 4"/>
          <p:cNvSpPr/>
          <p:nvPr/>
        </p:nvSpPr>
        <p:spPr>
          <a:xfrm>
            <a:off x="1022350" y="4609703"/>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rng.choice</a:t>
            </a:r>
            <a:endParaRPr lang="en-US" sz="1500" dirty="0"/>
          </a:p>
        </p:txBody>
      </p:sp>
      <p:sp>
        <p:nvSpPr>
          <p:cNvPr id="7" name="Text 5"/>
          <p:cNvSpPr/>
          <p:nvPr/>
        </p:nvSpPr>
        <p:spPr>
          <a:xfrm>
            <a:off x="1022350" y="4914503"/>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dado cargado: sale k con probabilidad p[k].</a:t>
            </a:r>
            <a:endParaRPr lang="en-US" sz="1200" dirty="0"/>
          </a:p>
        </p:txBody>
      </p:sp>
      <p:sp>
        <p:nvSpPr>
          <p:cNvPr id="8" name="Shape 6"/>
          <p:cNvSpPr/>
          <p:nvPr/>
        </p:nvSpPr>
        <p:spPr>
          <a:xfrm>
            <a:off x="4405809" y="4403328"/>
            <a:ext cx="3380383" cy="1144191"/>
          </a:xfrm>
          <a:prstGeom prst="roundRect">
            <a:avLst>
              <a:gd name="adj" fmla="val 8602"/>
            </a:avLst>
          </a:prstGeom>
          <a:solidFill>
            <a:srgbClr val="FDFCF8"/>
          </a:solidFill>
          <a:ln w="6350">
            <a:solidFill>
              <a:srgbClr val="E2DED3"/>
            </a:solidFill>
            <a:prstDash val="solid"/>
          </a:ln>
        </p:spPr>
      </p:sp>
      <p:sp>
        <p:nvSpPr>
          <p:cNvPr id="9" name="Text 7"/>
          <p:cNvSpPr/>
          <p:nvPr/>
        </p:nvSpPr>
        <p:spPr>
          <a:xfrm>
            <a:off x="4612184" y="4609703"/>
            <a:ext cx="30566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np.bincount</a:t>
            </a:r>
            <a:endParaRPr lang="en-US" sz="1500" dirty="0"/>
          </a:p>
        </p:txBody>
      </p:sp>
      <p:sp>
        <p:nvSpPr>
          <p:cNvPr id="10" name="Text 8"/>
          <p:cNvSpPr/>
          <p:nvPr/>
        </p:nvSpPr>
        <p:spPr>
          <a:xfrm>
            <a:off x="4612184" y="4914503"/>
            <a:ext cx="31708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Cuenta cuántas veces salió cada resultado.</a:t>
            </a:r>
            <a:endParaRPr lang="en-US" sz="1200" dirty="0"/>
          </a:p>
        </p:txBody>
      </p:sp>
      <p:sp>
        <p:nvSpPr>
          <p:cNvPr id="11" name="Shape 9"/>
          <p:cNvSpPr/>
          <p:nvPr/>
        </p:nvSpPr>
        <p:spPr>
          <a:xfrm>
            <a:off x="7995741" y="4403328"/>
            <a:ext cx="3380284" cy="1144191"/>
          </a:xfrm>
          <a:prstGeom prst="roundRect">
            <a:avLst>
              <a:gd name="adj" fmla="val 8602"/>
            </a:avLst>
          </a:prstGeom>
          <a:solidFill>
            <a:srgbClr val="FDFCF8"/>
          </a:solidFill>
          <a:ln w="6350">
            <a:solidFill>
              <a:srgbClr val="E2DED3"/>
            </a:solidFill>
            <a:prstDash val="solid"/>
          </a:ln>
        </p:spPr>
      </p:sp>
      <p:sp>
        <p:nvSpPr>
          <p:cNvPr id="12" name="Text 10"/>
          <p:cNvSpPr/>
          <p:nvPr/>
        </p:nvSpPr>
        <p:spPr>
          <a:xfrm>
            <a:off x="8202116" y="4609703"/>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semilla</a:t>
            </a:r>
            <a:endParaRPr lang="en-US" sz="1500" dirty="0"/>
          </a:p>
        </p:txBody>
      </p:sp>
      <p:sp>
        <p:nvSpPr>
          <p:cNvPr id="13" name="Text 11"/>
          <p:cNvSpPr/>
          <p:nvPr/>
        </p:nvSpPr>
        <p:spPr>
          <a:xfrm>
            <a:off x="8202116" y="4914503"/>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Fija el azar: misma semilla, mismos resultados.</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4 · PUERTAS Y CIRCUITO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Las puertas son comandos</a:t>
            </a:r>
            <a:endParaRPr lang="en-US" sz="3000" dirty="0"/>
          </a:p>
        </p:txBody>
      </p:sp>
      <p:sp>
        <p:nvSpPr>
          <p:cNvPr id="4" name="Text 2"/>
          <p:cNvSpPr/>
          <p:nvPr/>
        </p:nvSpPr>
        <p:spPr>
          <a:xfrm>
            <a:off x="812800" y="1870670"/>
            <a:ext cx="6731000" cy="3606205"/>
          </a:xfrm>
          <a:prstGeom prst="roundRect">
            <a:avLst>
              <a:gd name="adj" fmla="val 2817"/>
            </a:avLst>
          </a:prstGeom>
          <a:solidFill>
            <a:srgbClr val="14213D"/>
          </a:solidFill>
          <a:ln/>
        </p:spPr>
        <p:txBody>
          <a:bodyPr wrap="none" lIns="224242" tIns="173442" rIns="37552" bIns="148042" rtlCol="0" anchor="t">
            <a:normAutofit/>
          </a:bodyPr>
          <a:lstStyle/>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Puerta(ABC):                       </a:t>
            </a:r>
            <a:r>
              <a:rPr lang="en-US" sz="1200" dirty="0">
                <a:solidFill>
                  <a:srgbClr val="8DA2BF"/>
                </a:solidFill>
                <a:latin typeface="JetBrains Mono" pitchFamily="49" charset="0"/>
                <a:ea typeface="JetBrains Mono" pitchFamily="49" charset="-122"/>
                <a:cs typeface="JetBrains Mono" pitchFamily="49" charset="-120"/>
              </a:rPr>
              <a:t># el COMANDO abstracto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@abstractmethod</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aplicar(self, estado):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@abstractmethod</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deshacer(self, estado): ...</a:t>
            </a:r>
            <a:endParaRPr lang="en-US" sz="1200" dirty="0"/>
          </a:p>
          <a:p>
            <a:pPr marL="0" indent="0" algn="l">
              <a:lnSpc>
                <a:spcPts val="1680"/>
              </a:lnSpc>
              <a:buNone/>
            </a:pPr>
            <a:endParaRPr lang="en-US" sz="1200" dirty="0"/>
          </a:p>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PuertaMatricial(Puerta):           </a:t>
            </a:r>
            <a:r>
              <a:rPr lang="en-US" sz="1200" dirty="0">
                <a:solidFill>
                  <a:srgbClr val="8DA2BF"/>
                </a:solidFill>
                <a:latin typeface="JetBrains Mono" pitchFamily="49" charset="0"/>
                <a:ea typeface="JetBrains Mono" pitchFamily="49" charset="-122"/>
                <a:cs typeface="JetBrains Mono" pitchFamily="49" charset="-120"/>
              </a:rPr>
              <a:t># puertas unitarias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aplicar(self, estado):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estado.aplicar_matriz(self.matriz(), self.qubits)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deshacer(self, estado):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estado.aplicar_matriz(self.matriz().conj().T, self.qubits)</a:t>
            </a:r>
            <a:endParaRPr lang="en-US" sz="1200" dirty="0"/>
          </a:p>
          <a:p>
            <a:pPr marL="0" indent="0" algn="l">
              <a:lnSpc>
                <a:spcPts val="1680"/>
              </a:lnSpc>
              <a:buNone/>
            </a:pPr>
            <a:endParaRPr lang="en-US" sz="1200" dirty="0"/>
          </a:p>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H(PuertaMatricial):</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matriz(self):</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np.array([[1, 1], [1, -1]]) / np.sqrt(2)</a:t>
            </a:r>
            <a:endParaRPr lang="en-US" sz="1200" dirty="0"/>
          </a:p>
        </p:txBody>
      </p:sp>
      <p:sp>
        <p:nvSpPr>
          <p:cNvPr id="5" name="Shape 3"/>
          <p:cNvSpPr/>
          <p:nvPr/>
        </p:nvSpPr>
        <p:spPr>
          <a:xfrm>
            <a:off x="7750175" y="1873845"/>
            <a:ext cx="3625850" cy="1144191"/>
          </a:xfrm>
          <a:prstGeom prst="roundRect">
            <a:avLst>
              <a:gd name="adj" fmla="val 8602"/>
            </a:avLst>
          </a:prstGeom>
          <a:solidFill>
            <a:srgbClr val="FDFCF8"/>
          </a:solidFill>
          <a:ln w="6350">
            <a:solidFill>
              <a:srgbClr val="E2DED3"/>
            </a:solidFill>
            <a:prstDash val="solid"/>
          </a:ln>
        </p:spPr>
      </p:sp>
      <p:sp>
        <p:nvSpPr>
          <p:cNvPr id="6" name="Text 4"/>
          <p:cNvSpPr/>
          <p:nvPr/>
        </p:nvSpPr>
        <p:spPr>
          <a:xfrm>
            <a:off x="7956550" y="2080220"/>
            <a:ext cx="330949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U† = conj().T</a:t>
            </a:r>
            <a:endParaRPr lang="en-US" sz="1500" dirty="0"/>
          </a:p>
        </p:txBody>
      </p:sp>
      <p:sp>
        <p:nvSpPr>
          <p:cNvPr id="7" name="Text 5"/>
          <p:cNvSpPr/>
          <p:nvPr/>
        </p:nvSpPr>
        <p:spPr>
          <a:xfrm>
            <a:off x="7956550" y="2385020"/>
            <a:ext cx="33094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traspuesta conjugada. Para una matriz unitaria es su inversa.</a:t>
            </a:r>
            <a:endParaRPr lang="en-US" sz="1200" dirty="0"/>
          </a:p>
        </p:txBody>
      </p:sp>
      <p:sp>
        <p:nvSpPr>
          <p:cNvPr id="8" name="Shape 6"/>
          <p:cNvSpPr/>
          <p:nvPr/>
        </p:nvSpPr>
        <p:spPr>
          <a:xfrm>
            <a:off x="7747000" y="3173611"/>
            <a:ext cx="3632200" cy="1137841"/>
          </a:xfrm>
          <a:prstGeom prst="roundRect">
            <a:avLst>
              <a:gd name="adj" fmla="val 8929"/>
            </a:avLst>
          </a:prstGeom>
          <a:solidFill>
            <a:srgbClr val="14213D"/>
          </a:solidFill>
          <a:ln/>
        </p:spPr>
      </p:sp>
      <p:sp>
        <p:nvSpPr>
          <p:cNvPr id="9" name="Text 7"/>
          <p:cNvSpPr/>
          <p:nvPr/>
        </p:nvSpPr>
        <p:spPr>
          <a:xfrm>
            <a:off x="7950200" y="3376811"/>
            <a:ext cx="33225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Una clase por puerta</a:t>
            </a:r>
            <a:endParaRPr lang="en-US" sz="1500" dirty="0"/>
          </a:p>
        </p:txBody>
      </p:sp>
      <p:sp>
        <p:nvSpPr>
          <p:cNvPr id="10" name="Text 8"/>
          <p:cNvSpPr/>
          <p:nvPr/>
        </p:nvSpPr>
        <p:spPr>
          <a:xfrm>
            <a:off x="7950200" y="3681611"/>
            <a:ext cx="332257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H, X, CNOT… sólo dicen cuál es su matriz; aplicar y deshacer se heredan.</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4 · PUERTAS Y CIRCUITO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Las puertas, en palabras</a:t>
            </a:r>
            <a:endParaRPr lang="en-US" sz="3000" dirty="0"/>
          </a:p>
        </p:txBody>
      </p:sp>
      <p:sp>
        <p:nvSpPr>
          <p:cNvPr id="4" name="Text 2"/>
          <p:cNvSpPr/>
          <p:nvPr/>
        </p:nvSpPr>
        <p:spPr>
          <a:xfrm>
            <a:off x="812800" y="1870670"/>
            <a:ext cx="327025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191000" y="1870670"/>
            <a:ext cx="740384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175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class Puerta(ABC)</a:t>
            </a:r>
            <a:endParaRPr lang="en-US" sz="1200" dirty="0"/>
          </a:p>
        </p:txBody>
      </p:sp>
      <p:sp>
        <p:nvSpPr>
          <p:cNvPr id="7" name="Text 5"/>
          <p:cNvSpPr/>
          <p:nvPr/>
        </p:nvSpPr>
        <p:spPr>
          <a:xfrm>
            <a:off x="4191000" y="2172891"/>
            <a:ext cx="74038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contrato: toda orden debe saber aplicarse y deshacerse.</a:t>
            </a:r>
            <a:endParaRPr lang="en-US" sz="1200" dirty="0"/>
          </a:p>
        </p:txBody>
      </p:sp>
      <p:sp>
        <p:nvSpPr>
          <p:cNvPr id="8" name="Text 6"/>
          <p:cNvSpPr/>
          <p:nvPr/>
        </p:nvSpPr>
        <p:spPr>
          <a:xfrm>
            <a:off x="812800" y="2551311"/>
            <a:ext cx="3175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PuertaMatricial</a:t>
            </a:r>
            <a:endParaRPr lang="en-US" sz="1200" dirty="0"/>
          </a:p>
        </p:txBody>
      </p:sp>
      <p:sp>
        <p:nvSpPr>
          <p:cNvPr id="9" name="Text 7"/>
          <p:cNvSpPr/>
          <p:nvPr/>
        </p:nvSpPr>
        <p:spPr>
          <a:xfrm>
            <a:off x="4191000" y="2551311"/>
            <a:ext cx="74038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Reúne lo común a las puertas unitarias, descritas por una matriz U.</a:t>
            </a:r>
            <a:endParaRPr lang="en-US" sz="1200" dirty="0"/>
          </a:p>
        </p:txBody>
      </p:sp>
      <p:sp>
        <p:nvSpPr>
          <p:cNvPr id="10" name="Text 8"/>
          <p:cNvSpPr/>
          <p:nvPr/>
        </p:nvSpPr>
        <p:spPr>
          <a:xfrm>
            <a:off x="812800" y="2929731"/>
            <a:ext cx="3175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self.matriz().conj().T</a:t>
            </a:r>
            <a:endParaRPr lang="en-US" sz="1200" dirty="0"/>
          </a:p>
        </p:txBody>
      </p:sp>
      <p:sp>
        <p:nvSpPr>
          <p:cNvPr id="11" name="Text 9"/>
          <p:cNvSpPr/>
          <p:nvPr/>
        </p:nvSpPr>
        <p:spPr>
          <a:xfrm>
            <a:off x="4191000" y="2929731"/>
            <a:ext cx="74038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 (conjugar y trasponer). Como U†U = I, aplicar U y luego U† deja el estado como estaba.</a:t>
            </a:r>
            <a:endParaRPr lang="en-US" sz="1200" dirty="0"/>
          </a:p>
        </p:txBody>
      </p:sp>
      <p:sp>
        <p:nvSpPr>
          <p:cNvPr id="12" name="Text 10"/>
          <p:cNvSpPr/>
          <p:nvPr/>
        </p:nvSpPr>
        <p:spPr>
          <a:xfrm>
            <a:off x="812800" y="3308152"/>
            <a:ext cx="3175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CNOT(0, 1)</a:t>
            </a:r>
            <a:endParaRPr lang="en-US" sz="1200" dirty="0"/>
          </a:p>
        </p:txBody>
      </p:sp>
      <p:sp>
        <p:nvSpPr>
          <p:cNvPr id="13" name="Text 11"/>
          <p:cNvSpPr/>
          <p:nvPr/>
        </p:nvSpPr>
        <p:spPr>
          <a:xfrm>
            <a:off x="4191000" y="3308152"/>
            <a:ext cx="74038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Control = qubit 0, objetivo = qubit 1: niega el objetivo sólo si el control vale 1.</a:t>
            </a:r>
            <a:endParaRPr lang="en-US" sz="1200" dirty="0"/>
          </a:p>
        </p:txBody>
      </p:sp>
      <p:sp>
        <p:nvSpPr>
          <p:cNvPr id="14" name="Text 12"/>
          <p:cNvSpPr/>
          <p:nvPr/>
        </p:nvSpPr>
        <p:spPr>
          <a:xfrm>
            <a:off x="812800" y="3686572"/>
            <a:ext cx="3175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Oraculo(n, marcado)</a:t>
            </a:r>
            <a:endParaRPr lang="en-US" sz="1200" dirty="0"/>
          </a:p>
        </p:txBody>
      </p:sp>
      <p:sp>
        <p:nvSpPr>
          <p:cNvPr id="15" name="Text 13"/>
          <p:cNvSpPr/>
          <p:nvPr/>
        </p:nvSpPr>
        <p:spPr>
          <a:xfrm>
            <a:off x="4191000" y="3686572"/>
            <a:ext cx="74038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Cambia el signo de una sola amplitud: la del estado buscado en Grover.</a:t>
            </a:r>
            <a:endParaRPr lang="en-US" sz="1200" dirty="0"/>
          </a:p>
        </p:txBody>
      </p:sp>
      <p:sp>
        <p:nvSpPr>
          <p:cNvPr id="16" name="Text 14"/>
          <p:cNvSpPr/>
          <p:nvPr/>
        </p:nvSpPr>
        <p:spPr>
          <a:xfrm>
            <a:off x="812800" y="4064992"/>
            <a:ext cx="3175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Difusion(n)</a:t>
            </a:r>
            <a:endParaRPr lang="en-US" sz="1200" dirty="0"/>
          </a:p>
        </p:txBody>
      </p:sp>
      <p:sp>
        <p:nvSpPr>
          <p:cNvPr id="17" name="Text 15"/>
          <p:cNvSpPr/>
          <p:nvPr/>
        </p:nvSpPr>
        <p:spPr>
          <a:xfrm>
            <a:off x="4191000" y="4064992"/>
            <a:ext cx="74038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Refleja cada amplitud respecto al promedio: a_k → 2·media − a_k.</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4 · PUERTAS Y CIRCUITO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El circuito es el invocador</a:t>
            </a:r>
            <a:endParaRPr lang="en-US" sz="3000" dirty="0"/>
          </a:p>
        </p:txBody>
      </p:sp>
      <p:sp>
        <p:nvSpPr>
          <p:cNvPr id="4" name="Text 2"/>
          <p:cNvSpPr/>
          <p:nvPr/>
        </p:nvSpPr>
        <p:spPr>
          <a:xfrm>
            <a:off x="812800" y="1870670"/>
            <a:ext cx="7239000" cy="3392884"/>
          </a:xfrm>
          <a:prstGeom prst="roundRect">
            <a:avLst>
              <a:gd name="adj" fmla="val 2995"/>
            </a:avLst>
          </a:prstGeom>
          <a:solidFill>
            <a:srgbClr val="14213D"/>
          </a:solidFill>
          <a:ln/>
        </p:spPr>
        <p:txBody>
          <a:bodyPr wrap="none" lIns="224242" tIns="173442" rIns="22312" bIns="148042" rtlCol="0" anchor="t">
            <a:normAutofit/>
          </a:bodyPr>
          <a:lstStyle/>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Circuito:                                  </a:t>
            </a:r>
            <a:r>
              <a:rPr lang="en-US" sz="1200" dirty="0">
                <a:solidFill>
                  <a:srgbClr val="8DA2BF"/>
                </a:solidFill>
                <a:latin typeface="JetBrains Mono" pitchFamily="49" charset="0"/>
                <a:ea typeface="JetBrains Mono" pitchFamily="49" charset="-122"/>
                <a:cs typeface="JetBrains Mono" pitchFamily="49" charset="-120"/>
              </a:rPr>
              <a:t># el INVOCADOR</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__init__(self, n_qubits):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self.puertas = []                        </a:t>
            </a:r>
            <a:r>
              <a:rPr lang="en-US" sz="1200" dirty="0">
                <a:solidFill>
                  <a:srgbClr val="8DA2BF"/>
                </a:solidFill>
                <a:latin typeface="JetBrains Mono" pitchFamily="49" charset="0"/>
                <a:ea typeface="JetBrains Mono" pitchFamily="49" charset="-122"/>
                <a:cs typeface="JetBrains Mono" pitchFamily="49" charset="-120"/>
              </a:rPr>
              <a:t># lista de comandos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self.estado = EstadoCuantico(n_qubits)   </a:t>
            </a:r>
            <a:r>
              <a:rPr lang="en-US" sz="1200" dirty="0">
                <a:solidFill>
                  <a:srgbClr val="8DA2BF"/>
                </a:solidFill>
                <a:latin typeface="JetBrains Mono" pitchFamily="49" charset="0"/>
                <a:ea typeface="JetBrains Mono" pitchFamily="49" charset="-122"/>
                <a:cs typeface="JetBrains Mono" pitchFamily="49" charset="-120"/>
              </a:rPr>
              <a:t># el receptor</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self.posicion = 0                        </a:t>
            </a:r>
            <a:r>
              <a:rPr lang="en-US" sz="1200" dirty="0">
                <a:solidFill>
                  <a:srgbClr val="8DA2BF"/>
                </a:solidFill>
                <a:latin typeface="JetBrains Mono" pitchFamily="49" charset="0"/>
                <a:ea typeface="JetBrains Mono" pitchFamily="49" charset="-122"/>
                <a:cs typeface="JetBrains Mono" pitchFamily="49" charset="-120"/>
              </a:rPr>
              <a:t># cuántos se han aplicado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agregar(self, puerta):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self.puertas.append(puerta)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return</a:t>
            </a:r>
            <a:r>
              <a:rPr lang="en-US" sz="1200" dirty="0">
                <a:solidFill>
                  <a:srgbClr val="E8EDF5"/>
                </a:solidFill>
                <a:latin typeface="JetBrains Mono" pitchFamily="49" charset="0"/>
                <a:ea typeface="JetBrains Mono" pitchFamily="49" charset="-122"/>
                <a:cs typeface="JetBrains Mono" pitchFamily="49" charset="-120"/>
              </a:rPr>
              <a:t> self                              </a:t>
            </a:r>
            <a:r>
              <a:rPr lang="en-US" sz="1200" dirty="0">
                <a:solidFill>
                  <a:srgbClr val="8DA2BF"/>
                </a:solidFill>
                <a:latin typeface="JetBrains Mono" pitchFamily="49" charset="0"/>
                <a:ea typeface="JetBrains Mono" pitchFamily="49" charset="-122"/>
                <a:cs typeface="JetBrains Mono" pitchFamily="49" charset="-120"/>
              </a:rPr>
              <a:t># permite encadenar</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paso(self):</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self.puertas[self.posicion].aplicar(self.estado)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self.posicion += 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deshacer(self):</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self.posicion -= 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self.puertas[self.posicion].deshacer(self.estado)</a:t>
            </a:r>
            <a:endParaRPr lang="en-US" sz="1200" dirty="0"/>
          </a:p>
        </p:txBody>
      </p:sp>
      <p:sp>
        <p:nvSpPr>
          <p:cNvPr id="5" name="Shape 3"/>
          <p:cNvSpPr/>
          <p:nvPr/>
        </p:nvSpPr>
        <p:spPr>
          <a:xfrm>
            <a:off x="8258175" y="1873845"/>
            <a:ext cx="3117850" cy="1357511"/>
          </a:xfrm>
          <a:prstGeom prst="roundRect">
            <a:avLst>
              <a:gd name="adj" fmla="val 7250"/>
            </a:avLst>
          </a:prstGeom>
          <a:solidFill>
            <a:srgbClr val="FDFCF8"/>
          </a:solidFill>
          <a:ln w="6350">
            <a:solidFill>
              <a:srgbClr val="E2DED3"/>
            </a:solidFill>
            <a:prstDash val="solid"/>
          </a:ln>
        </p:spPr>
      </p:sp>
      <p:sp>
        <p:nvSpPr>
          <p:cNvPr id="6" name="Text 4"/>
          <p:cNvSpPr/>
          <p:nvPr/>
        </p:nvSpPr>
        <p:spPr>
          <a:xfrm>
            <a:off x="8464550" y="2080220"/>
            <a:ext cx="278625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Versión resumida</a:t>
            </a:r>
            <a:endParaRPr lang="en-US" sz="1500" dirty="0"/>
          </a:p>
        </p:txBody>
      </p:sp>
      <p:sp>
        <p:nvSpPr>
          <p:cNvPr id="7" name="Text 5"/>
          <p:cNvSpPr/>
          <p:nvPr/>
        </p:nvSpPr>
        <p:spPr>
          <a:xfrm>
            <a:off x="8464550" y="2385020"/>
            <a:ext cx="278625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El archivo real revisa los límites, devuelve True o False y avisa a los observadores.</a:t>
            </a:r>
            <a:endParaRPr lang="en-US" sz="1200" dirty="0"/>
          </a:p>
        </p:txBody>
      </p:sp>
      <p:sp>
        <p:nvSpPr>
          <p:cNvPr id="8" name="Shape 6"/>
          <p:cNvSpPr/>
          <p:nvPr/>
        </p:nvSpPr>
        <p:spPr>
          <a:xfrm>
            <a:off x="8255000" y="3386931"/>
            <a:ext cx="3124200" cy="1137841"/>
          </a:xfrm>
          <a:prstGeom prst="roundRect">
            <a:avLst>
              <a:gd name="adj" fmla="val 8929"/>
            </a:avLst>
          </a:prstGeom>
          <a:solidFill>
            <a:srgbClr val="14213D"/>
          </a:solidFill>
          <a:ln/>
        </p:spPr>
      </p:sp>
      <p:sp>
        <p:nvSpPr>
          <p:cNvPr id="9" name="Text 7"/>
          <p:cNvSpPr/>
          <p:nvPr/>
        </p:nvSpPr>
        <p:spPr>
          <a:xfrm>
            <a:off x="8458200" y="3590131"/>
            <a:ext cx="27993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ejecutar()</a:t>
            </a:r>
            <a:endParaRPr lang="en-US" sz="1500" dirty="0"/>
          </a:p>
        </p:txBody>
      </p:sp>
      <p:sp>
        <p:nvSpPr>
          <p:cNvPr id="10" name="Text 8"/>
          <p:cNvSpPr/>
          <p:nvPr/>
        </p:nvSpPr>
        <p:spPr>
          <a:xfrm>
            <a:off x="8458200" y="3894931"/>
            <a:ext cx="27993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Repite paso() hasta aplicar todas las puertas pendientes.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4 · PUERTAS Y CIRCUITO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El estado de Bell, paso a paso</a:t>
            </a:r>
            <a:endParaRPr lang="en-US" sz="3000" dirty="0"/>
          </a:p>
        </p:txBody>
      </p:sp>
      <p:sp>
        <p:nvSpPr>
          <p:cNvPr id="4" name="Shape 2"/>
          <p:cNvSpPr/>
          <p:nvPr/>
        </p:nvSpPr>
        <p:spPr>
          <a:xfrm>
            <a:off x="815975" y="1873845"/>
            <a:ext cx="3143250" cy="864791"/>
          </a:xfrm>
          <a:prstGeom prst="roundRect">
            <a:avLst>
              <a:gd name="adj" fmla="val 11381"/>
            </a:avLst>
          </a:prstGeom>
          <a:solidFill>
            <a:srgbClr val="FDFCF8"/>
          </a:solidFill>
          <a:ln w="6350">
            <a:solidFill>
              <a:srgbClr val="E2DED3"/>
            </a:solidFill>
            <a:prstDash val="solid"/>
          </a:ln>
        </p:spPr>
      </p:sp>
      <p:sp>
        <p:nvSpPr>
          <p:cNvPr id="5" name="Text 3"/>
          <p:cNvSpPr/>
          <p:nvPr/>
        </p:nvSpPr>
        <p:spPr>
          <a:xfrm>
            <a:off x="996950" y="2054820"/>
            <a:ext cx="286473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posición 0</a:t>
            </a:r>
            <a:endParaRPr lang="en-US" sz="1200" dirty="0"/>
          </a:p>
        </p:txBody>
      </p:sp>
      <p:sp>
        <p:nvSpPr>
          <p:cNvPr id="6" name="Text 4"/>
          <p:cNvSpPr/>
          <p:nvPr/>
        </p:nvSpPr>
        <p:spPr>
          <a:xfrm>
            <a:off x="996950" y="2344341"/>
            <a:ext cx="28647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|00⟩</a:t>
            </a:r>
            <a:endParaRPr lang="en-US" sz="1200" dirty="0"/>
          </a:p>
        </p:txBody>
      </p:sp>
      <p:pic>
        <p:nvPicPr>
          <p:cNvPr id="7" name="Image 0" descr="arrow-right"/>
          <p:cNvPicPr>
            <a:picLocks noChangeAspect="1"/>
          </p:cNvPicPr>
          <p:nvPr/>
        </p:nvPicPr>
        <p:blipFill>
          <a:blip r:embed="rId3"/>
          <a:srcRect/>
          <a:stretch/>
        </p:blipFill>
        <p:spPr>
          <a:xfrm>
            <a:off x="4064000" y="2191941"/>
            <a:ext cx="355600" cy="228600"/>
          </a:xfrm>
          <a:prstGeom prst="rect">
            <a:avLst/>
          </a:prstGeom>
        </p:spPr>
      </p:pic>
      <p:sp>
        <p:nvSpPr>
          <p:cNvPr id="8" name="Shape 5"/>
          <p:cNvSpPr/>
          <p:nvPr/>
        </p:nvSpPr>
        <p:spPr>
          <a:xfrm>
            <a:off x="4524375" y="1873845"/>
            <a:ext cx="3143250" cy="864791"/>
          </a:xfrm>
          <a:prstGeom prst="roundRect">
            <a:avLst>
              <a:gd name="adj" fmla="val 11381"/>
            </a:avLst>
          </a:prstGeom>
          <a:solidFill>
            <a:srgbClr val="FDFCF8"/>
          </a:solidFill>
          <a:ln w="6350">
            <a:solidFill>
              <a:srgbClr val="E2DED3"/>
            </a:solidFill>
            <a:prstDash val="solid"/>
          </a:ln>
        </p:spPr>
      </p:sp>
      <p:sp>
        <p:nvSpPr>
          <p:cNvPr id="9" name="Text 6"/>
          <p:cNvSpPr/>
          <p:nvPr/>
        </p:nvSpPr>
        <p:spPr>
          <a:xfrm>
            <a:off x="4705350" y="2054820"/>
            <a:ext cx="286473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paso(): H(0) · posición 1</a:t>
            </a:r>
            <a:endParaRPr lang="en-US" sz="1200" dirty="0"/>
          </a:p>
        </p:txBody>
      </p:sp>
      <p:sp>
        <p:nvSpPr>
          <p:cNvPr id="10" name="Text 7"/>
          <p:cNvSpPr/>
          <p:nvPr/>
        </p:nvSpPr>
        <p:spPr>
          <a:xfrm>
            <a:off x="4705350" y="2344341"/>
            <a:ext cx="28647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0.707|00⟩ + 0.707|10⟩</a:t>
            </a:r>
            <a:endParaRPr lang="en-US" sz="1200" dirty="0"/>
          </a:p>
        </p:txBody>
      </p:sp>
      <p:pic>
        <p:nvPicPr>
          <p:cNvPr id="11" name="Image 1" descr="arrow-right"/>
          <p:cNvPicPr>
            <a:picLocks noChangeAspect="1"/>
          </p:cNvPicPr>
          <p:nvPr/>
        </p:nvPicPr>
        <p:blipFill>
          <a:blip r:embed="rId3"/>
          <a:srcRect/>
          <a:stretch/>
        </p:blipFill>
        <p:spPr>
          <a:xfrm>
            <a:off x="7772400" y="2191941"/>
            <a:ext cx="355600" cy="228600"/>
          </a:xfrm>
          <a:prstGeom prst="rect">
            <a:avLst/>
          </a:prstGeom>
        </p:spPr>
      </p:pic>
      <p:sp>
        <p:nvSpPr>
          <p:cNvPr id="12" name="Shape 8"/>
          <p:cNvSpPr/>
          <p:nvPr/>
        </p:nvSpPr>
        <p:spPr>
          <a:xfrm>
            <a:off x="8232775" y="1873845"/>
            <a:ext cx="3143250" cy="864791"/>
          </a:xfrm>
          <a:prstGeom prst="roundRect">
            <a:avLst>
              <a:gd name="adj" fmla="val 11381"/>
            </a:avLst>
          </a:prstGeom>
          <a:solidFill>
            <a:srgbClr val="FDFCF8"/>
          </a:solidFill>
          <a:ln w="6350">
            <a:solidFill>
              <a:srgbClr val="E2DED3"/>
            </a:solidFill>
            <a:prstDash val="solid"/>
          </a:ln>
        </p:spPr>
      </p:sp>
      <p:sp>
        <p:nvSpPr>
          <p:cNvPr id="13" name="Text 9"/>
          <p:cNvSpPr/>
          <p:nvPr/>
        </p:nvSpPr>
        <p:spPr>
          <a:xfrm>
            <a:off x="8413750" y="2054820"/>
            <a:ext cx="286473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paso(): CNOT · posición 2</a:t>
            </a:r>
            <a:endParaRPr lang="en-US" sz="1200" dirty="0"/>
          </a:p>
        </p:txBody>
      </p:sp>
      <p:sp>
        <p:nvSpPr>
          <p:cNvPr id="14" name="Text 10"/>
          <p:cNvSpPr/>
          <p:nvPr/>
        </p:nvSpPr>
        <p:spPr>
          <a:xfrm>
            <a:off x="8413750" y="2344341"/>
            <a:ext cx="28647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0.707|00⟩ + 0.707|11⟩</a:t>
            </a:r>
            <a:endParaRPr lang="en-US" sz="1200" dirty="0"/>
          </a:p>
        </p:txBody>
      </p:sp>
      <p:sp>
        <p:nvSpPr>
          <p:cNvPr id="15" name="Text 11"/>
          <p:cNvSpPr/>
          <p:nvPr/>
        </p:nvSpPr>
        <p:spPr>
          <a:xfrm>
            <a:off x="812800" y="2945011"/>
            <a:ext cx="20929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16" name="Text 12"/>
          <p:cNvSpPr/>
          <p:nvPr/>
        </p:nvSpPr>
        <p:spPr>
          <a:xfrm>
            <a:off x="3048000" y="2945011"/>
            <a:ext cx="85811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17" name="Text 13"/>
          <p:cNvSpPr/>
          <p:nvPr/>
        </p:nvSpPr>
        <p:spPr>
          <a:xfrm>
            <a:off x="812800" y="3247231"/>
            <a:ext cx="2032000" cy="289520"/>
          </a:xfrm>
          <a:prstGeom prst="roundRect">
            <a:avLst>
              <a:gd name="adj" fmla="val 17546"/>
            </a:avLst>
          </a:prstGeom>
          <a:solidFill>
            <a:srgbClr val="EFEBE1"/>
          </a:solidFill>
          <a:ln/>
        </p:spPr>
        <p:txBody>
          <a:bodyPr wrap="square" lIns="61321" tIns="23221" rIns="4933"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self.posicion</a:t>
            </a:r>
            <a:endParaRPr lang="en-US" sz="1200" dirty="0"/>
          </a:p>
        </p:txBody>
      </p:sp>
      <p:sp>
        <p:nvSpPr>
          <p:cNvPr id="18" name="Text 14"/>
          <p:cNvSpPr/>
          <p:nvPr/>
        </p:nvSpPr>
        <p:spPr>
          <a:xfrm>
            <a:off x="3048000" y="3247231"/>
            <a:ext cx="85811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marcador: cuántas puertas ya se aplicaron. En la GUI es la línea naranja.</a:t>
            </a:r>
            <a:endParaRPr lang="en-US" sz="1200" dirty="0"/>
          </a:p>
        </p:txBody>
      </p:sp>
      <p:sp>
        <p:nvSpPr>
          <p:cNvPr id="19" name="Text 15"/>
          <p:cNvSpPr/>
          <p:nvPr/>
        </p:nvSpPr>
        <p:spPr>
          <a:xfrm>
            <a:off x="812800" y="3625652"/>
            <a:ext cx="2032000" cy="289520"/>
          </a:xfrm>
          <a:prstGeom prst="roundRect">
            <a:avLst>
              <a:gd name="adj" fmla="val 17546"/>
            </a:avLst>
          </a:prstGeom>
          <a:solidFill>
            <a:srgbClr val="EFEBE1"/>
          </a:solidFill>
          <a:ln/>
        </p:spPr>
        <p:txBody>
          <a:bodyPr wrap="square" lIns="61321" tIns="23221" rIns="4933"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return self</a:t>
            </a:r>
            <a:endParaRPr lang="en-US" sz="1200" dirty="0"/>
          </a:p>
        </p:txBody>
      </p:sp>
      <p:sp>
        <p:nvSpPr>
          <p:cNvPr id="20" name="Text 16"/>
          <p:cNvSpPr/>
          <p:nvPr/>
        </p:nvSpPr>
        <p:spPr>
          <a:xfrm>
            <a:off x="3048000" y="3625652"/>
            <a:ext cx="85811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Devuelve el mismo circuito para poder escribir c.agregar(H(0)).agregar(CNOT(0, 1)).</a:t>
            </a:r>
            <a:endParaRPr lang="en-US" sz="1200" dirty="0"/>
          </a:p>
        </p:txBody>
      </p:sp>
      <p:sp>
        <p:nvSpPr>
          <p:cNvPr id="21" name="Text 17"/>
          <p:cNvSpPr/>
          <p:nvPr/>
        </p:nvSpPr>
        <p:spPr>
          <a:xfrm>
            <a:off x="812800" y="4004072"/>
            <a:ext cx="2032000" cy="289520"/>
          </a:xfrm>
          <a:prstGeom prst="roundRect">
            <a:avLst>
              <a:gd name="adj" fmla="val 17546"/>
            </a:avLst>
          </a:prstGeom>
          <a:solidFill>
            <a:srgbClr val="EFEBE1"/>
          </a:solidFill>
          <a:ln/>
        </p:spPr>
        <p:txBody>
          <a:bodyPr wrap="square" lIns="61321" tIns="23221" rIns="4933"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deshacer()</a:t>
            </a:r>
            <a:endParaRPr lang="en-US" sz="1200" dirty="0"/>
          </a:p>
        </p:txBody>
      </p:sp>
      <p:sp>
        <p:nvSpPr>
          <p:cNvPr id="22" name="Text 18"/>
          <p:cNvSpPr/>
          <p:nvPr/>
        </p:nvSpPr>
        <p:spPr>
          <a:xfrm>
            <a:off x="3048000" y="4004072"/>
            <a:ext cx="85811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Retrocede el marcador y le pide a esa puerta que se revierta: el circuito no sabe cómo, la puerta sí.</a:t>
            </a:r>
            <a:endParaRPr lang="en-US" sz="1200" dirty="0"/>
          </a:p>
        </p:txBody>
      </p:sp>
      <p:sp>
        <p:nvSpPr>
          <p:cNvPr id="23"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4 · PUERTAS Y CIRCUITO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Medir: la única orden irreversible</a:t>
            </a:r>
            <a:endParaRPr lang="en-US" sz="3000" dirty="0"/>
          </a:p>
        </p:txBody>
      </p:sp>
      <p:sp>
        <p:nvSpPr>
          <p:cNvPr id="4" name="Text 2"/>
          <p:cNvSpPr/>
          <p:nvPr/>
        </p:nvSpPr>
        <p:spPr>
          <a:xfrm>
            <a:off x="812800" y="1870670"/>
            <a:ext cx="6731000" cy="2112963"/>
          </a:xfrm>
          <a:prstGeom prst="roundRect">
            <a:avLst>
              <a:gd name="adj" fmla="val 4808"/>
            </a:avLst>
          </a:prstGeom>
          <a:solidFill>
            <a:srgbClr val="14213D"/>
          </a:solidFill>
          <a:ln/>
        </p:spPr>
        <p:txBody>
          <a:bodyPr wrap="none" lIns="224242" tIns="173442" rIns="37552" bIns="148042" rtlCol="0" anchor="t">
            <a:normAutofit/>
          </a:bodyPr>
          <a:lstStyle/>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class</a:t>
            </a:r>
            <a:r>
              <a:rPr lang="en-US" sz="1200" dirty="0">
                <a:solidFill>
                  <a:srgbClr val="E8EDF5"/>
                </a:solidFill>
                <a:latin typeface="JetBrains Mono" pitchFamily="49" charset="0"/>
                <a:ea typeface="JetBrains Mono" pitchFamily="49" charset="-122"/>
                <a:cs typeface="JetBrains Mono" pitchFamily="49" charset="-120"/>
              </a:rPr>
              <a:t> Medir(Puerta):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aplicar(self, estado):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self._antes = estado.amplitudes      </a:t>
            </a:r>
            <a:r>
              <a:rPr lang="en-US" sz="1200" dirty="0">
                <a:solidFill>
                  <a:srgbClr val="8DA2BF"/>
                </a:solidFill>
                <a:latin typeface="JetBrains Mono" pitchFamily="49" charset="0"/>
                <a:ea typeface="JetBrains Mono" pitchFamily="49" charset="-122"/>
                <a:cs typeface="JetBrains Mono" pitchFamily="49" charset="-120"/>
              </a:rPr>
              <a:t># la foto (Memento)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p1 = estado.probabilidad_uno(self.qubits[0])</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self.resultado = int(self._rng.random() &lt; p1)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a:t>
            </a:r>
            <a:r>
              <a:rPr lang="en-US" sz="1200" dirty="0">
                <a:solidFill>
                  <a:srgbClr val="8DA2BF"/>
                </a:solidFill>
                <a:latin typeface="JetBrains Mono" pitchFamily="49" charset="0"/>
                <a:ea typeface="JetBrains Mono" pitchFamily="49" charset="-122"/>
                <a:cs typeface="JetBrains Mono" pitchFamily="49" charset="-120"/>
              </a:rPr>
              <a:t># anula la otra rama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deshacer(self, estado):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estado._reemplazar(self._antes)      </a:t>
            </a:r>
            <a:r>
              <a:rPr lang="en-US" sz="1200" dirty="0">
                <a:solidFill>
                  <a:srgbClr val="8DA2BF"/>
                </a:solidFill>
                <a:latin typeface="JetBrains Mono" pitchFamily="49" charset="0"/>
                <a:ea typeface="JetBrains Mono" pitchFamily="49" charset="-122"/>
                <a:cs typeface="JetBrains Mono" pitchFamily="49" charset="-120"/>
              </a:rPr>
              <a:t># vuelve a la foto</a:t>
            </a:r>
            <a:endParaRPr lang="en-US" sz="1200" dirty="0"/>
          </a:p>
        </p:txBody>
      </p:sp>
      <p:sp>
        <p:nvSpPr>
          <p:cNvPr id="5" name="Shape 3"/>
          <p:cNvSpPr/>
          <p:nvPr/>
        </p:nvSpPr>
        <p:spPr>
          <a:xfrm>
            <a:off x="7750175" y="1873845"/>
            <a:ext cx="3625850" cy="1144191"/>
          </a:xfrm>
          <a:prstGeom prst="roundRect">
            <a:avLst>
              <a:gd name="adj" fmla="val 8602"/>
            </a:avLst>
          </a:prstGeom>
          <a:solidFill>
            <a:srgbClr val="FDFCF8"/>
          </a:solidFill>
          <a:ln w="6350">
            <a:solidFill>
              <a:srgbClr val="E2DED3"/>
            </a:solidFill>
            <a:prstDash val="solid"/>
          </a:ln>
        </p:spPr>
      </p:sp>
      <p:sp>
        <p:nvSpPr>
          <p:cNvPr id="6" name="Text 4"/>
          <p:cNvSpPr/>
          <p:nvPr/>
        </p:nvSpPr>
        <p:spPr>
          <a:xfrm>
            <a:off x="7956550" y="2080220"/>
            <a:ext cx="330949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En la física</a:t>
            </a:r>
            <a:endParaRPr lang="en-US" sz="1500" dirty="0"/>
          </a:p>
        </p:txBody>
      </p:sp>
      <p:sp>
        <p:nvSpPr>
          <p:cNvPr id="7" name="Text 5"/>
          <p:cNvSpPr/>
          <p:nvPr/>
        </p:nvSpPr>
        <p:spPr>
          <a:xfrm>
            <a:off x="7956550" y="2385020"/>
            <a:ext cx="33094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Medir colapsa el estado; no existe U† que lo revierta.</a:t>
            </a:r>
            <a:endParaRPr lang="en-US" sz="1200" dirty="0"/>
          </a:p>
        </p:txBody>
      </p:sp>
      <p:sp>
        <p:nvSpPr>
          <p:cNvPr id="8" name="Shape 6"/>
          <p:cNvSpPr/>
          <p:nvPr/>
        </p:nvSpPr>
        <p:spPr>
          <a:xfrm>
            <a:off x="7750175" y="3176786"/>
            <a:ext cx="3625850" cy="1144191"/>
          </a:xfrm>
          <a:prstGeom prst="roundRect">
            <a:avLst>
              <a:gd name="adj" fmla="val 8602"/>
            </a:avLst>
          </a:prstGeom>
          <a:solidFill>
            <a:srgbClr val="FDFCF8"/>
          </a:solidFill>
          <a:ln w="6350">
            <a:solidFill>
              <a:srgbClr val="E2DED3"/>
            </a:solidFill>
            <a:prstDash val="solid"/>
          </a:ln>
        </p:spPr>
      </p:sp>
      <p:sp>
        <p:nvSpPr>
          <p:cNvPr id="9" name="Text 7"/>
          <p:cNvSpPr/>
          <p:nvPr/>
        </p:nvSpPr>
        <p:spPr>
          <a:xfrm>
            <a:off x="7956550" y="3383161"/>
            <a:ext cx="330949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En el código</a:t>
            </a:r>
            <a:endParaRPr lang="en-US" sz="1500" dirty="0"/>
          </a:p>
        </p:txBody>
      </p:sp>
      <p:sp>
        <p:nvSpPr>
          <p:cNvPr id="10" name="Text 8"/>
          <p:cNvSpPr/>
          <p:nvPr/>
        </p:nvSpPr>
        <p:spPr>
          <a:xfrm>
            <a:off x="7956550" y="3687961"/>
            <a:ext cx="33094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Por eso el comando guarda una copia antes de medir: patrón Memento.</a:t>
            </a:r>
            <a:endParaRPr lang="en-US" sz="1200" dirty="0"/>
          </a:p>
        </p:txBody>
      </p:sp>
      <p:sp>
        <p:nvSpPr>
          <p:cNvPr id="11" name="Shape 9"/>
          <p:cNvSpPr/>
          <p:nvPr/>
        </p:nvSpPr>
        <p:spPr>
          <a:xfrm>
            <a:off x="7747000" y="4476552"/>
            <a:ext cx="3632200" cy="1137841"/>
          </a:xfrm>
          <a:prstGeom prst="roundRect">
            <a:avLst>
              <a:gd name="adj" fmla="val 8929"/>
            </a:avLst>
          </a:prstGeom>
          <a:solidFill>
            <a:srgbClr val="14213D"/>
          </a:solidFill>
          <a:ln/>
        </p:spPr>
      </p:sp>
      <p:sp>
        <p:nvSpPr>
          <p:cNvPr id="12" name="Text 10"/>
          <p:cNvSpPr/>
          <p:nvPr/>
        </p:nvSpPr>
        <p:spPr>
          <a:xfrm>
            <a:off x="7950200" y="4679752"/>
            <a:ext cx="33225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En el laboratorio</a:t>
            </a:r>
            <a:endParaRPr lang="en-US" sz="1500" dirty="0"/>
          </a:p>
        </p:txBody>
      </p:sp>
      <p:sp>
        <p:nvSpPr>
          <p:cNvPr id="13" name="Text 11"/>
          <p:cNvSpPr/>
          <p:nvPr/>
        </p:nvSpPr>
        <p:spPr>
          <a:xfrm>
            <a:off x="7950200" y="4984552"/>
            <a:ext cx="332257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Una medición real no se deshace. El simulador sí, porque guardó la foto.</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5 · ALGORITMOS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Estado de Bell: dos qubits, un solo destino</a:t>
            </a:r>
            <a:endParaRPr lang="en-US" sz="3000" dirty="0"/>
          </a:p>
        </p:txBody>
      </p:sp>
      <p:sp>
        <p:nvSpPr>
          <p:cNvPr id="4" name="Shape 2"/>
          <p:cNvSpPr/>
          <p:nvPr/>
        </p:nvSpPr>
        <p:spPr>
          <a:xfrm>
            <a:off x="815975" y="3728045"/>
            <a:ext cx="3380284" cy="1357511"/>
          </a:xfrm>
          <a:prstGeom prst="roundRect">
            <a:avLst>
              <a:gd name="adj" fmla="val 7250"/>
            </a:avLst>
          </a:prstGeom>
          <a:solidFill>
            <a:srgbClr val="FDFCF8"/>
          </a:solidFill>
          <a:ln w="6350">
            <a:solidFill>
              <a:srgbClr val="E2DED3"/>
            </a:solidFill>
            <a:prstDash val="solid"/>
          </a:ln>
        </p:spPr>
      </p:sp>
      <p:sp>
        <p:nvSpPr>
          <p:cNvPr id="5" name="Text 3"/>
          <p:cNvSpPr/>
          <p:nvPr/>
        </p:nvSpPr>
        <p:spPr>
          <a:xfrm>
            <a:off x="1022350" y="3934420"/>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Siempre iguales</a:t>
            </a:r>
            <a:endParaRPr lang="en-US" sz="1500" dirty="0"/>
          </a:p>
        </p:txBody>
      </p:sp>
      <p:sp>
        <p:nvSpPr>
          <p:cNvPr id="6" name="Text 4"/>
          <p:cNvSpPr/>
          <p:nvPr/>
        </p:nvSpPr>
        <p:spPr>
          <a:xfrm>
            <a:off x="1022350" y="4239220"/>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Medir un qubit determina el otro: los resultados están correlacionados.</a:t>
            </a:r>
            <a:endParaRPr lang="en-US" sz="1200" dirty="0"/>
          </a:p>
        </p:txBody>
      </p:sp>
      <p:sp>
        <p:nvSpPr>
          <p:cNvPr id="7" name="Shape 5"/>
          <p:cNvSpPr/>
          <p:nvPr/>
        </p:nvSpPr>
        <p:spPr>
          <a:xfrm>
            <a:off x="4405809" y="3728045"/>
            <a:ext cx="3380383" cy="1357511"/>
          </a:xfrm>
          <a:prstGeom prst="roundRect">
            <a:avLst>
              <a:gd name="adj" fmla="val 7250"/>
            </a:avLst>
          </a:prstGeom>
          <a:solidFill>
            <a:srgbClr val="FDFCF8"/>
          </a:solidFill>
          <a:ln w="6350">
            <a:solidFill>
              <a:srgbClr val="E2DED3"/>
            </a:solidFill>
            <a:prstDash val="solid"/>
          </a:ln>
        </p:spPr>
      </p:sp>
      <p:sp>
        <p:nvSpPr>
          <p:cNvPr id="8" name="Text 6"/>
          <p:cNvSpPr/>
          <p:nvPr/>
        </p:nvSpPr>
        <p:spPr>
          <a:xfrm>
            <a:off x="4612184" y="3934420"/>
            <a:ext cx="30566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Sin estado propio</a:t>
            </a:r>
            <a:endParaRPr lang="en-US" sz="1500" dirty="0"/>
          </a:p>
        </p:txBody>
      </p:sp>
      <p:sp>
        <p:nvSpPr>
          <p:cNvPr id="9" name="Text 7"/>
          <p:cNvSpPr/>
          <p:nvPr/>
        </p:nvSpPr>
        <p:spPr>
          <a:xfrm>
            <a:off x="4612184" y="4239220"/>
            <a:ext cx="305666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El vector de Bloch de cada qubit mide 0: el estado pertenece al par.</a:t>
            </a:r>
            <a:endParaRPr lang="en-US" sz="1200" dirty="0"/>
          </a:p>
        </p:txBody>
      </p:sp>
      <p:sp>
        <p:nvSpPr>
          <p:cNvPr id="10" name="Shape 8"/>
          <p:cNvSpPr/>
          <p:nvPr/>
        </p:nvSpPr>
        <p:spPr>
          <a:xfrm>
            <a:off x="7995741" y="3728045"/>
            <a:ext cx="3380284" cy="1357511"/>
          </a:xfrm>
          <a:prstGeom prst="roundRect">
            <a:avLst>
              <a:gd name="adj" fmla="val 7250"/>
            </a:avLst>
          </a:prstGeom>
          <a:solidFill>
            <a:srgbClr val="FDFCF8"/>
          </a:solidFill>
          <a:ln w="6350">
            <a:solidFill>
              <a:srgbClr val="E2DED3"/>
            </a:solidFill>
            <a:prstDash val="solid"/>
          </a:ln>
        </p:spPr>
      </p:sp>
      <p:sp>
        <p:nvSpPr>
          <p:cNvPr id="11" name="Text 9"/>
          <p:cNvSpPr/>
          <p:nvPr/>
        </p:nvSpPr>
        <p:spPr>
          <a:xfrm>
            <a:off x="8202116" y="3934420"/>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En código</a:t>
            </a:r>
            <a:endParaRPr lang="en-US" sz="1500" dirty="0"/>
          </a:p>
        </p:txBody>
      </p:sp>
      <p:sp>
        <p:nvSpPr>
          <p:cNvPr id="12" name="Text 10"/>
          <p:cNvSpPr/>
          <p:nvPr/>
        </p:nvSpPr>
        <p:spPr>
          <a:xfrm>
            <a:off x="8202116" y="4239220"/>
            <a:ext cx="30565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Circuito(2)</a:t>
            </a:r>
            <a:endParaRPr lang="en-US" sz="1200" dirty="0"/>
          </a:p>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.agregar(H(0))</a:t>
            </a:r>
            <a:endParaRPr lang="en-US" sz="1200" dirty="0"/>
          </a:p>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.agregar(CNOT(0, 1))</a:t>
            </a:r>
            <a:endParaRPr lang="en-US" sz="1200" dirty="0"/>
          </a:p>
        </p:txBody>
      </p:sp>
      <p:pic>
        <p:nvPicPr>
          <p:cNvPr id="13" name="Image 0" descr="diagrama del circuito"/>
          <p:cNvPicPr>
            <a:picLocks noChangeAspect="1"/>
          </p:cNvPicPr>
          <p:nvPr/>
        </p:nvPicPr>
        <p:blipFill>
          <a:blip r:embed="rId3"/>
          <a:srcRect/>
          <a:stretch/>
        </p:blipFill>
        <p:spPr>
          <a:xfrm>
            <a:off x="812800" y="2095500"/>
            <a:ext cx="2540000" cy="1206500"/>
          </a:xfrm>
          <a:prstGeom prst="rect">
            <a:avLst/>
          </a:prstGeom>
        </p:spPr>
      </p:pic>
      <p:sp>
        <p:nvSpPr>
          <p:cNvPr id="14" name="Text 11"/>
          <p:cNvSpPr/>
          <p:nvPr/>
        </p:nvSpPr>
        <p:spPr>
          <a:xfrm>
            <a:off x="812800" y="23050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q0</a:t>
            </a:r>
            <a:endParaRPr lang="en-US" sz="1200" dirty="0"/>
          </a:p>
        </p:txBody>
      </p:sp>
      <p:sp>
        <p:nvSpPr>
          <p:cNvPr id="15" name="Text 12"/>
          <p:cNvSpPr/>
          <p:nvPr/>
        </p:nvSpPr>
        <p:spPr>
          <a:xfrm>
            <a:off x="812800" y="28765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q1</a:t>
            </a:r>
            <a:endParaRPr lang="en-US" sz="1200" dirty="0"/>
          </a:p>
        </p:txBody>
      </p:sp>
      <p:sp>
        <p:nvSpPr>
          <p:cNvPr id="16" name="Text 13"/>
          <p:cNvSpPr/>
          <p:nvPr/>
        </p:nvSpPr>
        <p:spPr>
          <a:xfrm>
            <a:off x="1390650" y="22987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H</a:t>
            </a:r>
            <a:endParaRPr lang="en-US" sz="1300" dirty="0"/>
          </a:p>
        </p:txBody>
      </p:sp>
      <p:sp>
        <p:nvSpPr>
          <p:cNvPr id="17" name="Shape 14"/>
          <p:cNvSpPr/>
          <p:nvPr/>
        </p:nvSpPr>
        <p:spPr>
          <a:xfrm>
            <a:off x="3810000" y="2095500"/>
            <a:ext cx="7569200" cy="1206500"/>
          </a:xfrm>
          <a:prstGeom prst="roundRect">
            <a:avLst>
              <a:gd name="adj" fmla="val 8421"/>
            </a:avLst>
          </a:prstGeom>
          <a:solidFill>
            <a:srgbClr val="14213D"/>
          </a:solidFill>
          <a:ln/>
        </p:spPr>
      </p:sp>
      <p:sp>
        <p:nvSpPr>
          <p:cNvPr id="18" name="Text 15"/>
          <p:cNvSpPr/>
          <p:nvPr/>
        </p:nvSpPr>
        <p:spPr>
          <a:xfrm>
            <a:off x="4013200" y="2298700"/>
            <a:ext cx="7377684" cy="542528"/>
          </a:xfrm>
          <a:prstGeom prst="rect">
            <a:avLst/>
          </a:prstGeom>
          <a:noFill/>
          <a:ln/>
        </p:spPr>
        <p:txBody>
          <a:bodyPr wrap="square" lIns="0" tIns="0" rIns="0" bIns="0" rtlCol="0" anchor="t">
            <a:normAutofit/>
          </a:bodyPr>
          <a:lstStyle/>
          <a:p>
            <a:pPr marL="0" indent="0" algn="l">
              <a:lnSpc>
                <a:spcPts val="4069"/>
              </a:lnSpc>
              <a:buNone/>
            </a:pPr>
            <a:r>
              <a:rPr lang="en-US" sz="2906" dirty="0">
                <a:solidFill>
                  <a:srgbClr val="F7F5EF"/>
                </a:solidFill>
                <a:latin typeface="Rubik" pitchFamily="34" charset="0"/>
                <a:ea typeface="Rubik" pitchFamily="34" charset="-122"/>
                <a:cs typeface="Rubik" pitchFamily="34" charset="-120"/>
              </a:rPr>
              <a:t>(|00⟩ + |11⟩) / √2</a:t>
            </a:r>
            <a:endParaRPr lang="en-US" sz="2906" dirty="0"/>
          </a:p>
        </p:txBody>
      </p:sp>
      <p:sp>
        <p:nvSpPr>
          <p:cNvPr id="19" name="Text 16"/>
          <p:cNvSpPr/>
          <p:nvPr/>
        </p:nvSpPr>
        <p:spPr>
          <a:xfrm>
            <a:off x="4013200" y="2892028"/>
            <a:ext cx="7377684" cy="232172"/>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C9D3E3"/>
                </a:solidFill>
                <a:latin typeface="IBM Plex Sans" pitchFamily="34" charset="0"/>
                <a:ea typeface="IBM Plex Sans" pitchFamily="34" charset="-122"/>
                <a:cs typeface="IBM Plex Sans" pitchFamily="34" charset="-120"/>
              </a:rPr>
              <a:t>1000 mediciones simuladas: 00 → 502 veces · 11 → 498 veces · 01 y 10 → nunca</a:t>
            </a:r>
            <a:endParaRPr lang="en-US" sz="1196"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5 · ALGORITMOS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Teleportación: mover un estado sin moverlo</a:t>
            </a:r>
            <a:endParaRPr lang="en-US" sz="3000" dirty="0"/>
          </a:p>
        </p:txBody>
      </p:sp>
      <p:sp>
        <p:nvSpPr>
          <p:cNvPr id="4" name="Shape 2"/>
          <p:cNvSpPr/>
          <p:nvPr/>
        </p:nvSpPr>
        <p:spPr>
          <a:xfrm>
            <a:off x="815975" y="3982045"/>
            <a:ext cx="3380284" cy="1144191"/>
          </a:xfrm>
          <a:prstGeom prst="roundRect">
            <a:avLst>
              <a:gd name="adj" fmla="val 8602"/>
            </a:avLst>
          </a:prstGeom>
          <a:solidFill>
            <a:srgbClr val="FDFCF8"/>
          </a:solidFill>
          <a:ln w="6350">
            <a:solidFill>
              <a:srgbClr val="E2DED3"/>
            </a:solidFill>
            <a:prstDash val="solid"/>
          </a:ln>
        </p:spPr>
      </p:sp>
      <p:sp>
        <p:nvSpPr>
          <p:cNvPr id="5" name="Text 3"/>
          <p:cNvSpPr/>
          <p:nvPr/>
        </p:nvSpPr>
        <p:spPr>
          <a:xfrm>
            <a:off x="1022350" y="4188420"/>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1 · Preparar</a:t>
            </a:r>
            <a:endParaRPr lang="en-US" sz="1500" dirty="0"/>
          </a:p>
        </p:txBody>
      </p:sp>
      <p:sp>
        <p:nvSpPr>
          <p:cNvPr id="6" name="Text 4"/>
          <p:cNvSpPr/>
          <p:nvPr/>
        </p:nvSpPr>
        <p:spPr>
          <a:xfrm>
            <a:off x="1022350" y="4493220"/>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RY(θ) y RZ(φ) dejan en q0 el estado que se quiere enviar.</a:t>
            </a:r>
            <a:endParaRPr lang="en-US" sz="1200" dirty="0"/>
          </a:p>
        </p:txBody>
      </p:sp>
      <p:sp>
        <p:nvSpPr>
          <p:cNvPr id="7" name="Shape 5"/>
          <p:cNvSpPr/>
          <p:nvPr/>
        </p:nvSpPr>
        <p:spPr>
          <a:xfrm>
            <a:off x="4405809" y="3982045"/>
            <a:ext cx="3380383" cy="1144191"/>
          </a:xfrm>
          <a:prstGeom prst="roundRect">
            <a:avLst>
              <a:gd name="adj" fmla="val 8602"/>
            </a:avLst>
          </a:prstGeom>
          <a:solidFill>
            <a:srgbClr val="FDFCF8"/>
          </a:solidFill>
          <a:ln w="6350">
            <a:solidFill>
              <a:srgbClr val="E2DED3"/>
            </a:solidFill>
            <a:prstDash val="solid"/>
          </a:ln>
        </p:spPr>
      </p:sp>
      <p:sp>
        <p:nvSpPr>
          <p:cNvPr id="8" name="Text 6"/>
          <p:cNvSpPr/>
          <p:nvPr/>
        </p:nvSpPr>
        <p:spPr>
          <a:xfrm>
            <a:off x="4612184" y="4188420"/>
            <a:ext cx="30566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2 · Medición de Bell</a:t>
            </a:r>
            <a:endParaRPr lang="en-US" sz="1500" dirty="0"/>
          </a:p>
        </p:txBody>
      </p:sp>
      <p:sp>
        <p:nvSpPr>
          <p:cNvPr id="9" name="Text 7"/>
          <p:cNvSpPr/>
          <p:nvPr/>
        </p:nvSpPr>
        <p:spPr>
          <a:xfrm>
            <a:off x="4612184" y="4493220"/>
            <a:ext cx="305666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CNOT y H mezclan ese estado con el par entrelazado q1–q2.</a:t>
            </a:r>
            <a:endParaRPr lang="en-US" sz="1200" dirty="0"/>
          </a:p>
        </p:txBody>
      </p:sp>
      <p:sp>
        <p:nvSpPr>
          <p:cNvPr id="10" name="Shape 8"/>
          <p:cNvSpPr/>
          <p:nvPr/>
        </p:nvSpPr>
        <p:spPr>
          <a:xfrm>
            <a:off x="7995741" y="3982045"/>
            <a:ext cx="3380284" cy="1144191"/>
          </a:xfrm>
          <a:prstGeom prst="roundRect">
            <a:avLst>
              <a:gd name="adj" fmla="val 8602"/>
            </a:avLst>
          </a:prstGeom>
          <a:solidFill>
            <a:srgbClr val="FDFCF8"/>
          </a:solidFill>
          <a:ln w="6350">
            <a:solidFill>
              <a:srgbClr val="E2DED3"/>
            </a:solidFill>
            <a:prstDash val="solid"/>
          </a:ln>
        </p:spPr>
      </p:sp>
      <p:sp>
        <p:nvSpPr>
          <p:cNvPr id="11" name="Text 9"/>
          <p:cNvSpPr/>
          <p:nvPr/>
        </p:nvSpPr>
        <p:spPr>
          <a:xfrm>
            <a:off x="8202116" y="4188420"/>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3 · Corregir</a:t>
            </a:r>
            <a:endParaRPr lang="en-US" sz="1500" dirty="0"/>
          </a:p>
        </p:txBody>
      </p:sp>
      <p:sp>
        <p:nvSpPr>
          <p:cNvPr id="12" name="Text 10"/>
          <p:cNvSpPr/>
          <p:nvPr/>
        </p:nvSpPr>
        <p:spPr>
          <a:xfrm>
            <a:off x="8202116" y="4493220"/>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CNOT y CZ controladas reconstruyen el estado en q2.</a:t>
            </a:r>
            <a:endParaRPr lang="en-US" sz="1200" dirty="0"/>
          </a:p>
        </p:txBody>
      </p:sp>
      <p:pic>
        <p:nvPicPr>
          <p:cNvPr id="13" name="Image 0" descr="diagrama del circuito"/>
          <p:cNvPicPr>
            <a:picLocks noChangeAspect="1"/>
          </p:cNvPicPr>
          <p:nvPr/>
        </p:nvPicPr>
        <p:blipFill>
          <a:blip r:embed="rId3"/>
          <a:srcRect l="-16" r="-16"/>
          <a:stretch/>
        </p:blipFill>
        <p:spPr>
          <a:xfrm>
            <a:off x="812800" y="2032000"/>
            <a:ext cx="6527800" cy="1778000"/>
          </a:xfrm>
          <a:prstGeom prst="rect">
            <a:avLst/>
          </a:prstGeom>
        </p:spPr>
      </p:pic>
      <p:sp>
        <p:nvSpPr>
          <p:cNvPr id="14" name="Text 11"/>
          <p:cNvSpPr/>
          <p:nvPr/>
        </p:nvSpPr>
        <p:spPr>
          <a:xfrm>
            <a:off x="812800" y="22415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q0</a:t>
            </a:r>
            <a:endParaRPr lang="en-US" sz="1200" dirty="0"/>
          </a:p>
        </p:txBody>
      </p:sp>
      <p:sp>
        <p:nvSpPr>
          <p:cNvPr id="15" name="Text 12"/>
          <p:cNvSpPr/>
          <p:nvPr/>
        </p:nvSpPr>
        <p:spPr>
          <a:xfrm>
            <a:off x="812800" y="28130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q1</a:t>
            </a:r>
            <a:endParaRPr lang="en-US" sz="1200" dirty="0"/>
          </a:p>
        </p:txBody>
      </p:sp>
      <p:sp>
        <p:nvSpPr>
          <p:cNvPr id="16" name="Text 13"/>
          <p:cNvSpPr/>
          <p:nvPr/>
        </p:nvSpPr>
        <p:spPr>
          <a:xfrm>
            <a:off x="812800" y="33845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q2</a:t>
            </a:r>
            <a:endParaRPr lang="en-US" sz="1200" dirty="0"/>
          </a:p>
        </p:txBody>
      </p:sp>
      <p:sp>
        <p:nvSpPr>
          <p:cNvPr id="17" name="Text 14"/>
          <p:cNvSpPr/>
          <p:nvPr/>
        </p:nvSpPr>
        <p:spPr>
          <a:xfrm>
            <a:off x="1282700" y="22352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Ry</a:t>
            </a:r>
            <a:endParaRPr lang="en-US" sz="1300" dirty="0"/>
          </a:p>
        </p:txBody>
      </p:sp>
      <p:sp>
        <p:nvSpPr>
          <p:cNvPr id="18" name="Text 15"/>
          <p:cNvSpPr/>
          <p:nvPr/>
        </p:nvSpPr>
        <p:spPr>
          <a:xfrm>
            <a:off x="2019300" y="22352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Rz</a:t>
            </a:r>
            <a:endParaRPr lang="en-US" sz="1300" dirty="0"/>
          </a:p>
        </p:txBody>
      </p:sp>
      <p:sp>
        <p:nvSpPr>
          <p:cNvPr id="19" name="Text 16"/>
          <p:cNvSpPr/>
          <p:nvPr/>
        </p:nvSpPr>
        <p:spPr>
          <a:xfrm>
            <a:off x="2755900" y="28067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H</a:t>
            </a:r>
            <a:endParaRPr lang="en-US" sz="1300" dirty="0"/>
          </a:p>
        </p:txBody>
      </p:sp>
      <p:sp>
        <p:nvSpPr>
          <p:cNvPr id="20" name="Text 17"/>
          <p:cNvSpPr/>
          <p:nvPr/>
        </p:nvSpPr>
        <p:spPr>
          <a:xfrm>
            <a:off x="4965700" y="22352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H</a:t>
            </a:r>
            <a:endParaRPr lang="en-US" sz="1300" dirty="0"/>
          </a:p>
        </p:txBody>
      </p:sp>
      <p:sp>
        <p:nvSpPr>
          <p:cNvPr id="21" name="Shape 18"/>
          <p:cNvSpPr/>
          <p:nvPr/>
        </p:nvSpPr>
        <p:spPr>
          <a:xfrm>
            <a:off x="7620000" y="2032000"/>
            <a:ext cx="3759200" cy="1778000"/>
          </a:xfrm>
          <a:prstGeom prst="roundRect">
            <a:avLst>
              <a:gd name="adj" fmla="val 5714"/>
            </a:avLst>
          </a:prstGeom>
          <a:solidFill>
            <a:srgbClr val="14213D"/>
          </a:solidFill>
          <a:ln/>
        </p:spPr>
      </p:sp>
      <p:sp>
        <p:nvSpPr>
          <p:cNvPr id="22" name="Text 19"/>
          <p:cNvSpPr/>
          <p:nvPr/>
        </p:nvSpPr>
        <p:spPr>
          <a:xfrm>
            <a:off x="7823200" y="2253059"/>
            <a:ext cx="34533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Comprobación (θ = 1, φ = 0.5)</a:t>
            </a:r>
            <a:endParaRPr lang="en-US" sz="1500" dirty="0"/>
          </a:p>
        </p:txBody>
      </p:sp>
      <p:sp>
        <p:nvSpPr>
          <p:cNvPr id="23" name="Text 20"/>
          <p:cNvSpPr/>
          <p:nvPr/>
        </p:nvSpPr>
        <p:spPr>
          <a:xfrm>
            <a:off x="7823200" y="2545159"/>
            <a:ext cx="3453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Bloch de q0 al inicio</a:t>
            </a:r>
            <a:endParaRPr lang="en-US" sz="1200" dirty="0"/>
          </a:p>
        </p:txBody>
      </p:sp>
      <p:sp>
        <p:nvSpPr>
          <p:cNvPr id="24" name="Text 21"/>
          <p:cNvSpPr/>
          <p:nvPr/>
        </p:nvSpPr>
        <p:spPr>
          <a:xfrm>
            <a:off x="7823200" y="2821980"/>
            <a:ext cx="3453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5EF"/>
                </a:solidFill>
                <a:latin typeface="JetBrains Mono" pitchFamily="49" charset="0"/>
                <a:ea typeface="JetBrains Mono" pitchFamily="49" charset="-122"/>
                <a:cs typeface="JetBrains Mono" pitchFamily="49" charset="-120"/>
              </a:rPr>
              <a:t>(0.738, 0.403, 0.540)</a:t>
            </a:r>
            <a:endParaRPr lang="en-US" sz="1200" dirty="0"/>
          </a:p>
        </p:txBody>
      </p:sp>
      <p:sp>
        <p:nvSpPr>
          <p:cNvPr id="25" name="Text 22"/>
          <p:cNvSpPr/>
          <p:nvPr/>
        </p:nvSpPr>
        <p:spPr>
          <a:xfrm>
            <a:off x="7823200" y="3098800"/>
            <a:ext cx="3453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Bloch de q2 al final</a:t>
            </a:r>
            <a:endParaRPr lang="en-US" sz="1200" dirty="0"/>
          </a:p>
        </p:txBody>
      </p:sp>
      <p:sp>
        <p:nvSpPr>
          <p:cNvPr id="26" name="Text 23"/>
          <p:cNvSpPr/>
          <p:nvPr/>
        </p:nvSpPr>
        <p:spPr>
          <a:xfrm>
            <a:off x="7823200" y="3375620"/>
            <a:ext cx="3453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5EF"/>
                </a:solidFill>
                <a:latin typeface="JetBrains Mono" pitchFamily="49" charset="0"/>
                <a:ea typeface="JetBrains Mono" pitchFamily="49" charset="-122"/>
                <a:cs typeface="JetBrains Mono" pitchFamily="49" charset="-120"/>
              </a:rPr>
              <a:t>(0.738, 0.403, 0.540)</a:t>
            </a:r>
            <a:endParaRPr lang="en-US" sz="1200" dirty="0"/>
          </a:p>
        </p:txBody>
      </p:sp>
      <p:sp>
        <p:nvSpPr>
          <p:cNvPr id="27"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5 · ALGORITMOS · 15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Grover: buscar en √N pasos</a:t>
            </a:r>
            <a:endParaRPr lang="en-US" sz="3000" dirty="0"/>
          </a:p>
        </p:txBody>
      </p:sp>
      <p:sp>
        <p:nvSpPr>
          <p:cNvPr id="4" name="Text 2"/>
          <p:cNvSpPr/>
          <p:nvPr/>
        </p:nvSpPr>
        <p:spPr>
          <a:xfrm>
            <a:off x="5588000" y="1870670"/>
            <a:ext cx="59649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3"/>
                </a:solidFill>
                <a:latin typeface="IBM Plex Sans" pitchFamily="34" charset="0"/>
                <a:ea typeface="IBM Plex Sans" pitchFamily="34" charset="-122"/>
                <a:cs typeface="IBM Plex Sans" pitchFamily="34" charset="-120"/>
              </a:rPr>
              <a:t>P(101) TRAS K ITERACIONES (N = 8)</a:t>
            </a:r>
            <a:endParaRPr lang="en-US" sz="1200" dirty="0"/>
          </a:p>
        </p:txBody>
      </p:sp>
      <p:sp>
        <p:nvSpPr>
          <p:cNvPr id="5" name="Text 3"/>
          <p:cNvSpPr/>
          <p:nvPr/>
        </p:nvSpPr>
        <p:spPr>
          <a:xfrm>
            <a:off x="5792033" y="3346450"/>
            <a:ext cx="4936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0.125</a:t>
            </a:r>
            <a:endParaRPr lang="en-US" sz="1200" dirty="0"/>
          </a:p>
        </p:txBody>
      </p:sp>
      <p:sp>
        <p:nvSpPr>
          <p:cNvPr id="6" name="Shape 4"/>
          <p:cNvSpPr/>
          <p:nvPr/>
        </p:nvSpPr>
        <p:spPr>
          <a:xfrm>
            <a:off x="5810250" y="3610570"/>
            <a:ext cx="457200" cy="190500"/>
          </a:xfrm>
          <a:prstGeom prst="roundRect">
            <a:avLst>
              <a:gd name="adj" fmla="val 20000"/>
            </a:avLst>
          </a:prstGeom>
          <a:solidFill>
            <a:srgbClr val="2F6FB3"/>
          </a:solidFill>
          <a:ln/>
        </p:spPr>
      </p:sp>
      <p:sp>
        <p:nvSpPr>
          <p:cNvPr id="7" name="Text 5"/>
          <p:cNvSpPr/>
          <p:nvPr/>
        </p:nvSpPr>
        <p:spPr>
          <a:xfrm>
            <a:off x="5837753" y="3851870"/>
            <a:ext cx="40219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577"/>
                </a:solidFill>
                <a:latin typeface="IBM Plex Sans" pitchFamily="34" charset="0"/>
                <a:ea typeface="IBM Plex Sans" pitchFamily="34" charset="-122"/>
                <a:cs typeface="IBM Plex Sans" pitchFamily="34" charset="-120"/>
              </a:rPr>
              <a:t>k = 0</a:t>
            </a:r>
            <a:endParaRPr lang="en-US" sz="1200" dirty="0"/>
          </a:p>
        </p:txBody>
      </p:sp>
      <p:sp>
        <p:nvSpPr>
          <p:cNvPr id="8" name="Text 6"/>
          <p:cNvSpPr/>
          <p:nvPr/>
        </p:nvSpPr>
        <p:spPr>
          <a:xfrm>
            <a:off x="6769933" y="2470150"/>
            <a:ext cx="4936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0.781</a:t>
            </a:r>
            <a:endParaRPr lang="en-US" sz="1200" dirty="0"/>
          </a:p>
        </p:txBody>
      </p:sp>
      <p:sp>
        <p:nvSpPr>
          <p:cNvPr id="9" name="Shape 7"/>
          <p:cNvSpPr/>
          <p:nvPr/>
        </p:nvSpPr>
        <p:spPr>
          <a:xfrm>
            <a:off x="6788150" y="2734270"/>
            <a:ext cx="457200" cy="1066800"/>
          </a:xfrm>
          <a:prstGeom prst="roundRect">
            <a:avLst>
              <a:gd name="adj" fmla="val 8333"/>
            </a:avLst>
          </a:prstGeom>
          <a:solidFill>
            <a:srgbClr val="2F6FB3"/>
          </a:solidFill>
          <a:ln/>
        </p:spPr>
      </p:sp>
      <p:sp>
        <p:nvSpPr>
          <p:cNvPr id="10" name="Text 8"/>
          <p:cNvSpPr/>
          <p:nvPr/>
        </p:nvSpPr>
        <p:spPr>
          <a:xfrm>
            <a:off x="6815653" y="3851870"/>
            <a:ext cx="40219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577"/>
                </a:solidFill>
                <a:latin typeface="IBM Plex Sans" pitchFamily="34" charset="0"/>
                <a:ea typeface="IBM Plex Sans" pitchFamily="34" charset="-122"/>
                <a:cs typeface="IBM Plex Sans" pitchFamily="34" charset="-120"/>
              </a:rPr>
              <a:t>k = 1</a:t>
            </a:r>
            <a:endParaRPr lang="en-US" sz="1200" dirty="0"/>
          </a:p>
        </p:txBody>
      </p:sp>
      <p:sp>
        <p:nvSpPr>
          <p:cNvPr id="11" name="Text 9"/>
          <p:cNvSpPr/>
          <p:nvPr/>
        </p:nvSpPr>
        <p:spPr>
          <a:xfrm>
            <a:off x="7747833" y="2254250"/>
            <a:ext cx="4936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4531A"/>
                </a:solidFill>
                <a:latin typeface="IBM Plex Sans" pitchFamily="34" charset="0"/>
                <a:ea typeface="IBM Plex Sans" pitchFamily="34" charset="-122"/>
                <a:cs typeface="IBM Plex Sans" pitchFamily="34" charset="-120"/>
              </a:rPr>
              <a:t>0.945</a:t>
            </a:r>
            <a:endParaRPr lang="en-US" sz="1200" dirty="0"/>
          </a:p>
        </p:txBody>
      </p:sp>
      <p:sp>
        <p:nvSpPr>
          <p:cNvPr id="12" name="Shape 10"/>
          <p:cNvSpPr/>
          <p:nvPr/>
        </p:nvSpPr>
        <p:spPr>
          <a:xfrm>
            <a:off x="7766050" y="2518370"/>
            <a:ext cx="457200" cy="1282700"/>
          </a:xfrm>
          <a:prstGeom prst="roundRect">
            <a:avLst>
              <a:gd name="adj" fmla="val 8333"/>
            </a:avLst>
          </a:prstGeom>
          <a:solidFill>
            <a:srgbClr val="B4531A"/>
          </a:solidFill>
          <a:ln/>
        </p:spPr>
      </p:sp>
      <p:sp>
        <p:nvSpPr>
          <p:cNvPr id="13" name="Text 11"/>
          <p:cNvSpPr/>
          <p:nvPr/>
        </p:nvSpPr>
        <p:spPr>
          <a:xfrm>
            <a:off x="7793553" y="3851870"/>
            <a:ext cx="40219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577"/>
                </a:solidFill>
                <a:latin typeface="IBM Plex Sans" pitchFamily="34" charset="0"/>
                <a:ea typeface="IBM Plex Sans" pitchFamily="34" charset="-122"/>
                <a:cs typeface="IBM Plex Sans" pitchFamily="34" charset="-120"/>
              </a:rPr>
              <a:t>k = 2</a:t>
            </a:r>
            <a:endParaRPr lang="en-US" sz="1200" dirty="0"/>
          </a:p>
        </p:txBody>
      </p:sp>
      <p:sp>
        <p:nvSpPr>
          <p:cNvPr id="14" name="Text 12"/>
          <p:cNvSpPr/>
          <p:nvPr/>
        </p:nvSpPr>
        <p:spPr>
          <a:xfrm>
            <a:off x="8725733" y="3073400"/>
            <a:ext cx="4936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0.330</a:t>
            </a:r>
            <a:endParaRPr lang="en-US" sz="1200" dirty="0"/>
          </a:p>
        </p:txBody>
      </p:sp>
      <p:sp>
        <p:nvSpPr>
          <p:cNvPr id="15" name="Shape 13"/>
          <p:cNvSpPr/>
          <p:nvPr/>
        </p:nvSpPr>
        <p:spPr>
          <a:xfrm>
            <a:off x="8743950" y="3337520"/>
            <a:ext cx="457200" cy="463550"/>
          </a:xfrm>
          <a:prstGeom prst="roundRect">
            <a:avLst>
              <a:gd name="adj" fmla="val 8333"/>
            </a:avLst>
          </a:prstGeom>
          <a:solidFill>
            <a:srgbClr val="2F6FB3"/>
          </a:solidFill>
          <a:ln/>
        </p:spPr>
      </p:sp>
      <p:sp>
        <p:nvSpPr>
          <p:cNvPr id="16" name="Text 14"/>
          <p:cNvSpPr/>
          <p:nvPr/>
        </p:nvSpPr>
        <p:spPr>
          <a:xfrm>
            <a:off x="8771453" y="3851870"/>
            <a:ext cx="40219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577"/>
                </a:solidFill>
                <a:latin typeface="IBM Plex Sans" pitchFamily="34" charset="0"/>
                <a:ea typeface="IBM Plex Sans" pitchFamily="34" charset="-122"/>
                <a:cs typeface="IBM Plex Sans" pitchFamily="34" charset="-120"/>
              </a:rPr>
              <a:t>k = 3</a:t>
            </a:r>
            <a:endParaRPr lang="en-US" sz="1200" dirty="0"/>
          </a:p>
        </p:txBody>
      </p:sp>
      <p:sp>
        <p:nvSpPr>
          <p:cNvPr id="17" name="Text 15"/>
          <p:cNvSpPr/>
          <p:nvPr/>
        </p:nvSpPr>
        <p:spPr>
          <a:xfrm>
            <a:off x="9703633" y="3498850"/>
            <a:ext cx="4936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0.012</a:t>
            </a:r>
            <a:endParaRPr lang="en-US" sz="1200" dirty="0"/>
          </a:p>
        </p:txBody>
      </p:sp>
      <p:sp>
        <p:nvSpPr>
          <p:cNvPr id="18" name="Shape 16"/>
          <p:cNvSpPr/>
          <p:nvPr/>
        </p:nvSpPr>
        <p:spPr>
          <a:xfrm>
            <a:off x="9721850" y="3762970"/>
            <a:ext cx="457200" cy="38100"/>
          </a:xfrm>
          <a:prstGeom prst="roundRect">
            <a:avLst>
              <a:gd name="adj" fmla="val 50000"/>
            </a:avLst>
          </a:prstGeom>
          <a:solidFill>
            <a:srgbClr val="2F6FB3"/>
          </a:solidFill>
          <a:ln/>
        </p:spPr>
      </p:sp>
      <p:sp>
        <p:nvSpPr>
          <p:cNvPr id="19" name="Text 17"/>
          <p:cNvSpPr/>
          <p:nvPr/>
        </p:nvSpPr>
        <p:spPr>
          <a:xfrm>
            <a:off x="9749353" y="3851870"/>
            <a:ext cx="40219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577"/>
                </a:solidFill>
                <a:latin typeface="IBM Plex Sans" pitchFamily="34" charset="0"/>
                <a:ea typeface="IBM Plex Sans" pitchFamily="34" charset="-122"/>
                <a:cs typeface="IBM Plex Sans" pitchFamily="34" charset="-120"/>
              </a:rPr>
              <a:t>k = 4</a:t>
            </a:r>
            <a:endParaRPr lang="en-US" sz="1200" dirty="0"/>
          </a:p>
        </p:txBody>
      </p:sp>
      <p:sp>
        <p:nvSpPr>
          <p:cNvPr id="20" name="Text 18"/>
          <p:cNvSpPr/>
          <p:nvPr/>
        </p:nvSpPr>
        <p:spPr>
          <a:xfrm>
            <a:off x="10681533" y="2781300"/>
            <a:ext cx="4936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0.548</a:t>
            </a:r>
            <a:endParaRPr lang="en-US" sz="1200" dirty="0"/>
          </a:p>
        </p:txBody>
      </p:sp>
      <p:sp>
        <p:nvSpPr>
          <p:cNvPr id="21" name="Shape 19"/>
          <p:cNvSpPr/>
          <p:nvPr/>
        </p:nvSpPr>
        <p:spPr>
          <a:xfrm>
            <a:off x="10699750" y="3045420"/>
            <a:ext cx="457200" cy="755650"/>
          </a:xfrm>
          <a:prstGeom prst="roundRect">
            <a:avLst>
              <a:gd name="adj" fmla="val 8333"/>
            </a:avLst>
          </a:prstGeom>
          <a:solidFill>
            <a:srgbClr val="2F6FB3"/>
          </a:solidFill>
          <a:ln/>
        </p:spPr>
      </p:sp>
      <p:sp>
        <p:nvSpPr>
          <p:cNvPr id="22" name="Text 20"/>
          <p:cNvSpPr/>
          <p:nvPr/>
        </p:nvSpPr>
        <p:spPr>
          <a:xfrm>
            <a:off x="10727253" y="3851870"/>
            <a:ext cx="40219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577"/>
                </a:solidFill>
                <a:latin typeface="IBM Plex Sans" pitchFamily="34" charset="0"/>
                <a:ea typeface="IBM Plex Sans" pitchFamily="34" charset="-122"/>
                <a:cs typeface="IBM Plex Sans" pitchFamily="34" charset="-120"/>
              </a:rPr>
              <a:t>k = 5</a:t>
            </a:r>
            <a:endParaRPr lang="en-US" sz="1200" dirty="0"/>
          </a:p>
        </p:txBody>
      </p:sp>
      <p:sp>
        <p:nvSpPr>
          <p:cNvPr id="23" name="Shape 21"/>
          <p:cNvSpPr/>
          <p:nvPr/>
        </p:nvSpPr>
        <p:spPr>
          <a:xfrm>
            <a:off x="815975" y="4271566"/>
            <a:ext cx="3384550" cy="1144191"/>
          </a:xfrm>
          <a:prstGeom prst="roundRect">
            <a:avLst>
              <a:gd name="adj" fmla="val 8602"/>
            </a:avLst>
          </a:prstGeom>
          <a:solidFill>
            <a:srgbClr val="FDFCF8"/>
          </a:solidFill>
          <a:ln w="6350">
            <a:solidFill>
              <a:srgbClr val="E2DED3"/>
            </a:solidFill>
            <a:prstDash val="solid"/>
          </a:ln>
        </p:spPr>
      </p:sp>
      <p:sp>
        <p:nvSpPr>
          <p:cNvPr id="24" name="Text 22"/>
          <p:cNvSpPr/>
          <p:nvPr/>
        </p:nvSpPr>
        <p:spPr>
          <a:xfrm>
            <a:off x="1022350" y="4477941"/>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La idea</a:t>
            </a:r>
            <a:endParaRPr lang="en-US" sz="1500" dirty="0"/>
          </a:p>
        </p:txBody>
      </p:sp>
      <p:sp>
        <p:nvSpPr>
          <p:cNvPr id="25" name="Text 23"/>
          <p:cNvSpPr/>
          <p:nvPr/>
        </p:nvSpPr>
        <p:spPr>
          <a:xfrm>
            <a:off x="1022350" y="4782741"/>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El oráculo marca con un signo menos; la difusión amplifica esa amplitud.</a:t>
            </a:r>
            <a:endParaRPr lang="en-US" sz="1200" dirty="0"/>
          </a:p>
        </p:txBody>
      </p:sp>
      <p:sp>
        <p:nvSpPr>
          <p:cNvPr id="26" name="Shape 24"/>
          <p:cNvSpPr/>
          <p:nvPr/>
        </p:nvSpPr>
        <p:spPr>
          <a:xfrm>
            <a:off x="4410075" y="4271566"/>
            <a:ext cx="3384550" cy="1144191"/>
          </a:xfrm>
          <a:prstGeom prst="roundRect">
            <a:avLst>
              <a:gd name="adj" fmla="val 8602"/>
            </a:avLst>
          </a:prstGeom>
          <a:solidFill>
            <a:srgbClr val="FDFCF8"/>
          </a:solidFill>
          <a:ln w="6350">
            <a:solidFill>
              <a:srgbClr val="E2DED3"/>
            </a:solidFill>
            <a:prstDash val="solid"/>
          </a:ln>
        </p:spPr>
      </p:sp>
      <p:sp>
        <p:nvSpPr>
          <p:cNvPr id="27" name="Text 25"/>
          <p:cNvSpPr/>
          <p:nvPr/>
        </p:nvSpPr>
        <p:spPr>
          <a:xfrm>
            <a:off x="4616450" y="4477941"/>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Cuántas veces</a:t>
            </a:r>
            <a:endParaRPr lang="en-US" sz="1500" dirty="0"/>
          </a:p>
        </p:txBody>
      </p:sp>
      <p:sp>
        <p:nvSpPr>
          <p:cNvPr id="28" name="Text 26"/>
          <p:cNvSpPr/>
          <p:nvPr/>
        </p:nvSpPr>
        <p:spPr>
          <a:xfrm>
            <a:off x="4616450" y="4782741"/>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 (π/4)√N iteraciones: 2 para N = 8 y 25 para N = 1024.</a:t>
            </a:r>
            <a:endParaRPr lang="en-US" sz="1200" dirty="0"/>
          </a:p>
        </p:txBody>
      </p:sp>
      <p:sp>
        <p:nvSpPr>
          <p:cNvPr id="29" name="Shape 27"/>
          <p:cNvSpPr/>
          <p:nvPr/>
        </p:nvSpPr>
        <p:spPr>
          <a:xfrm>
            <a:off x="8001000" y="4268391"/>
            <a:ext cx="3378200" cy="1150541"/>
          </a:xfrm>
          <a:prstGeom prst="roundRect">
            <a:avLst>
              <a:gd name="adj" fmla="val 8831"/>
            </a:avLst>
          </a:prstGeom>
          <a:solidFill>
            <a:srgbClr val="14213D"/>
          </a:solidFill>
          <a:ln/>
        </p:spPr>
      </p:sp>
      <p:sp>
        <p:nvSpPr>
          <p:cNvPr id="30" name="Text 28"/>
          <p:cNvSpPr/>
          <p:nvPr/>
        </p:nvSpPr>
        <p:spPr>
          <a:xfrm>
            <a:off x="8204200" y="4471591"/>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Cuidado</a:t>
            </a:r>
            <a:endParaRPr lang="en-US" sz="1500" dirty="0"/>
          </a:p>
        </p:txBody>
      </p:sp>
      <p:sp>
        <p:nvSpPr>
          <p:cNvPr id="31" name="Text 29"/>
          <p:cNvSpPr/>
          <p:nvPr/>
        </p:nvSpPr>
        <p:spPr>
          <a:xfrm>
            <a:off x="8204200" y="4776391"/>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Pasarse empeora: con 3 iteraciones la probabilidad cae a 0.330.</a:t>
            </a:r>
            <a:endParaRPr lang="en-US" sz="1200" dirty="0"/>
          </a:p>
        </p:txBody>
      </p:sp>
      <p:pic>
        <p:nvPicPr>
          <p:cNvPr id="32" name="Image 0" descr="diagrama del circuito"/>
          <p:cNvPicPr>
            <a:picLocks noChangeAspect="1"/>
          </p:cNvPicPr>
          <p:nvPr/>
        </p:nvPicPr>
        <p:blipFill>
          <a:blip r:embed="rId3"/>
          <a:srcRect/>
          <a:stretch/>
        </p:blipFill>
        <p:spPr>
          <a:xfrm>
            <a:off x="812800" y="2032000"/>
            <a:ext cx="4445000" cy="1778000"/>
          </a:xfrm>
          <a:prstGeom prst="rect">
            <a:avLst/>
          </a:prstGeom>
        </p:spPr>
      </p:pic>
      <p:sp>
        <p:nvSpPr>
          <p:cNvPr id="33" name="Text 30"/>
          <p:cNvSpPr/>
          <p:nvPr/>
        </p:nvSpPr>
        <p:spPr>
          <a:xfrm>
            <a:off x="812800" y="22415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q0</a:t>
            </a:r>
            <a:endParaRPr lang="en-US" sz="1200" dirty="0"/>
          </a:p>
        </p:txBody>
      </p:sp>
      <p:sp>
        <p:nvSpPr>
          <p:cNvPr id="34" name="Text 31"/>
          <p:cNvSpPr/>
          <p:nvPr/>
        </p:nvSpPr>
        <p:spPr>
          <a:xfrm>
            <a:off x="812800" y="28130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q1</a:t>
            </a:r>
            <a:endParaRPr lang="en-US" sz="1200" dirty="0"/>
          </a:p>
        </p:txBody>
      </p:sp>
      <p:sp>
        <p:nvSpPr>
          <p:cNvPr id="35" name="Text 32"/>
          <p:cNvSpPr/>
          <p:nvPr/>
        </p:nvSpPr>
        <p:spPr>
          <a:xfrm>
            <a:off x="812800" y="3384550"/>
            <a:ext cx="36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q2</a:t>
            </a:r>
            <a:endParaRPr lang="en-US" sz="1200" dirty="0"/>
          </a:p>
        </p:txBody>
      </p:sp>
      <p:sp>
        <p:nvSpPr>
          <p:cNvPr id="36" name="Text 33"/>
          <p:cNvSpPr/>
          <p:nvPr/>
        </p:nvSpPr>
        <p:spPr>
          <a:xfrm>
            <a:off x="1295400" y="22352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H</a:t>
            </a:r>
            <a:endParaRPr lang="en-US" sz="1300" dirty="0"/>
          </a:p>
        </p:txBody>
      </p:sp>
      <p:sp>
        <p:nvSpPr>
          <p:cNvPr id="37" name="Text 34"/>
          <p:cNvSpPr/>
          <p:nvPr/>
        </p:nvSpPr>
        <p:spPr>
          <a:xfrm>
            <a:off x="1295400" y="28067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H</a:t>
            </a:r>
            <a:endParaRPr lang="en-US" sz="1300" dirty="0"/>
          </a:p>
        </p:txBody>
      </p:sp>
      <p:sp>
        <p:nvSpPr>
          <p:cNvPr id="38" name="Text 35"/>
          <p:cNvSpPr/>
          <p:nvPr/>
        </p:nvSpPr>
        <p:spPr>
          <a:xfrm>
            <a:off x="1295400" y="33782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H</a:t>
            </a:r>
            <a:endParaRPr lang="en-US" sz="1300" dirty="0"/>
          </a:p>
        </p:txBody>
      </p:sp>
      <p:sp>
        <p:nvSpPr>
          <p:cNvPr id="39" name="Text 36"/>
          <p:cNvSpPr/>
          <p:nvPr/>
        </p:nvSpPr>
        <p:spPr>
          <a:xfrm>
            <a:off x="2057400" y="28067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O</a:t>
            </a:r>
            <a:endParaRPr lang="en-US" sz="1300" dirty="0"/>
          </a:p>
        </p:txBody>
      </p:sp>
      <p:sp>
        <p:nvSpPr>
          <p:cNvPr id="40" name="Text 37"/>
          <p:cNvSpPr/>
          <p:nvPr/>
        </p:nvSpPr>
        <p:spPr>
          <a:xfrm>
            <a:off x="2819400" y="28067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D</a:t>
            </a:r>
            <a:endParaRPr lang="en-US" sz="1300" dirty="0"/>
          </a:p>
        </p:txBody>
      </p:sp>
      <p:sp>
        <p:nvSpPr>
          <p:cNvPr id="41" name="Text 38"/>
          <p:cNvSpPr/>
          <p:nvPr/>
        </p:nvSpPr>
        <p:spPr>
          <a:xfrm>
            <a:off x="3581400" y="28067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O</a:t>
            </a:r>
            <a:endParaRPr lang="en-US" sz="1300" dirty="0"/>
          </a:p>
        </p:txBody>
      </p:sp>
      <p:sp>
        <p:nvSpPr>
          <p:cNvPr id="42" name="Text 39"/>
          <p:cNvSpPr/>
          <p:nvPr/>
        </p:nvSpPr>
        <p:spPr>
          <a:xfrm>
            <a:off x="4343400" y="2806700"/>
            <a:ext cx="685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D</a:t>
            </a:r>
            <a:endParaRPr lang="en-US" sz="1300" dirty="0"/>
          </a:p>
        </p:txBody>
      </p:sp>
      <p:sp>
        <p:nvSpPr>
          <p:cNvPr id="43" name="Text 4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6 · INTERFAZ GRÁFICA · 10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 ventana: construir, avanzar y medir</a:t>
            </a:r>
            <a:endParaRPr lang="en-US" sz="3000" dirty="0"/>
          </a:p>
        </p:txBody>
      </p:sp>
      <p:sp>
        <p:nvSpPr>
          <p:cNvPr id="4" name="Shape 2"/>
          <p:cNvSpPr/>
          <p:nvPr/>
        </p:nvSpPr>
        <p:spPr>
          <a:xfrm>
            <a:off x="819150" y="1877020"/>
            <a:ext cx="6845300" cy="3258741"/>
          </a:xfrm>
          <a:prstGeom prst="roundRect">
            <a:avLst>
              <a:gd name="adj" fmla="val 2923"/>
            </a:avLst>
          </a:prstGeom>
          <a:solidFill>
            <a:srgbClr val="F7F5EF"/>
          </a:solidFill>
          <a:ln w="12700">
            <a:solidFill>
              <a:srgbClr val="14213D"/>
            </a:solidFill>
            <a:prstDash val="solid"/>
          </a:ln>
        </p:spPr>
      </p:sp>
      <p:sp>
        <p:nvSpPr>
          <p:cNvPr id="5" name="Text 3"/>
          <p:cNvSpPr/>
          <p:nvPr/>
        </p:nvSpPr>
        <p:spPr>
          <a:xfrm>
            <a:off x="825500" y="1883370"/>
            <a:ext cx="6832600" cy="340320"/>
          </a:xfrm>
          <a:custGeom>
            <a:avLst/>
            <a:gdLst/>
            <a:ahLst/>
            <a:cxnLst/>
            <a:rect l="l" t="t" r="r" b="b"/>
            <a:pathLst>
              <a:path w="6832600" h="340320">
                <a:moveTo>
                  <a:pt x="0" y="88900"/>
                </a:moveTo>
                <a:arcTo wR="88900" hR="88900" stAng="10800000" swAng="5400000"/>
                <a:lnTo>
                  <a:pt x="6743700" y="0"/>
                </a:lnTo>
                <a:arcTo wR="88900" hR="88900" stAng="16200000" swAng="5400000"/>
                <a:lnTo>
                  <a:pt x="6832600" y="340320"/>
                </a:lnTo>
                <a:lnTo>
                  <a:pt x="0" y="340320"/>
                </a:lnTo>
                <a:close/>
              </a:path>
            </a:pathLst>
          </a:custGeom>
          <a:solidFill>
            <a:srgbClr val="14213D"/>
          </a:solidFill>
          <a:ln/>
        </p:spPr>
        <p:txBody>
          <a:bodyPr wrap="square" lIns="152400" tIns="63500" rIns="152400" bIns="38100" rtlCol="0" anchor="t">
            <a:normAutofit/>
          </a:bodyPr>
          <a:lstStyle/>
          <a:p>
            <a:pPr marL="0" indent="0" algn="l">
              <a:lnSpc>
                <a:spcPts val="1680"/>
              </a:lnSpc>
              <a:buNone/>
            </a:pPr>
            <a:r>
              <a:rPr lang="en-US" sz="1200" dirty="0">
                <a:solidFill>
                  <a:srgbClr val="F7F5EF"/>
                </a:solidFill>
                <a:latin typeface="IBM Plex Sans" pitchFamily="34" charset="0"/>
                <a:ea typeface="IBM Plex Sans" pitchFamily="34" charset="-122"/>
                <a:cs typeface="IBM Plex Sans" pitchFamily="34" charset="-120"/>
              </a:rPr>
              <a:t>Simulador de circuitos cuánticos</a:t>
            </a:r>
            <a:endParaRPr lang="en-US" sz="1200" dirty="0"/>
          </a:p>
        </p:txBody>
      </p:sp>
      <p:sp>
        <p:nvSpPr>
          <p:cNvPr id="6" name="Text 4"/>
          <p:cNvSpPr/>
          <p:nvPr/>
        </p:nvSpPr>
        <p:spPr>
          <a:xfrm>
            <a:off x="977900" y="2376091"/>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1. Ejemplo</a:t>
            </a:r>
            <a:endParaRPr lang="en-US" sz="1200" dirty="0"/>
          </a:p>
        </p:txBody>
      </p:sp>
      <p:sp>
        <p:nvSpPr>
          <p:cNvPr id="7" name="Text 5"/>
          <p:cNvSpPr/>
          <p:nvPr/>
        </p:nvSpPr>
        <p:spPr>
          <a:xfrm>
            <a:off x="981075" y="2630686"/>
            <a:ext cx="2152650" cy="245070"/>
          </a:xfrm>
          <a:prstGeom prst="roundRect">
            <a:avLst>
              <a:gd name="adj" fmla="val 14251"/>
            </a:avLst>
          </a:prstGeom>
          <a:solidFill>
            <a:srgbClr val="FDFCF8"/>
          </a:solidFill>
          <a:ln w="6350">
            <a:solidFill>
              <a:srgbClr val="C9C3B5"/>
            </a:solidFill>
            <a:prstDash val="solid"/>
          </a:ln>
        </p:spPr>
        <p:txBody>
          <a:bodyPr wrap="square" lIns="56446" tIns="5646"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Grover ▾</a:t>
            </a:r>
            <a:endParaRPr lang="en-US" sz="1200" dirty="0"/>
          </a:p>
        </p:txBody>
      </p:sp>
      <p:sp>
        <p:nvSpPr>
          <p:cNvPr id="8" name="Text 6"/>
          <p:cNvSpPr/>
          <p:nvPr/>
        </p:nvSpPr>
        <p:spPr>
          <a:xfrm>
            <a:off x="977900" y="2917031"/>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2. Agregar puerta</a:t>
            </a:r>
            <a:endParaRPr lang="en-US" sz="1200" dirty="0"/>
          </a:p>
        </p:txBody>
      </p:sp>
      <p:sp>
        <p:nvSpPr>
          <p:cNvPr id="9" name="Text 7"/>
          <p:cNvSpPr/>
          <p:nvPr/>
        </p:nvSpPr>
        <p:spPr>
          <a:xfrm>
            <a:off x="981075" y="3171627"/>
            <a:ext cx="2152650" cy="245070"/>
          </a:xfrm>
          <a:prstGeom prst="roundRect">
            <a:avLst>
              <a:gd name="adj" fmla="val 14251"/>
            </a:avLst>
          </a:prstGeom>
          <a:solidFill>
            <a:srgbClr val="FDFCF8"/>
          </a:solidFill>
          <a:ln w="6350">
            <a:solidFill>
              <a:srgbClr val="C9C3B5"/>
            </a:solidFill>
            <a:prstDash val="solid"/>
          </a:ln>
        </p:spPr>
        <p:txBody>
          <a:bodyPr wrap="square" lIns="56446" tIns="5646"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CNOT · 0, 1</a:t>
            </a:r>
            <a:endParaRPr lang="en-US" sz="1200" dirty="0"/>
          </a:p>
        </p:txBody>
      </p:sp>
      <p:sp>
        <p:nvSpPr>
          <p:cNvPr id="10" name="Text 8"/>
          <p:cNvSpPr/>
          <p:nvPr/>
        </p:nvSpPr>
        <p:spPr>
          <a:xfrm>
            <a:off x="977900" y="3457972"/>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3. Ejecutar</a:t>
            </a:r>
            <a:endParaRPr lang="en-US" sz="1200" dirty="0"/>
          </a:p>
        </p:txBody>
      </p:sp>
      <p:sp>
        <p:nvSpPr>
          <p:cNvPr id="11" name="Text 9"/>
          <p:cNvSpPr/>
          <p:nvPr/>
        </p:nvSpPr>
        <p:spPr>
          <a:xfrm>
            <a:off x="977900" y="3709392"/>
            <a:ext cx="511175" cy="264120"/>
          </a:xfrm>
          <a:custGeom>
            <a:avLst/>
            <a:gdLst/>
            <a:ahLst/>
            <a:cxnLst/>
            <a:rect l="l" t="t" r="r" b="b"/>
            <a:pathLst>
              <a:path w="511175" h="264120">
                <a:moveTo>
                  <a:pt x="38100" y="0"/>
                </a:moveTo>
                <a:lnTo>
                  <a:pt x="473075" y="0"/>
                </a:lnTo>
                <a:arcTo wR="38100" hR="38100" stAng="16200000" swAng="5400000"/>
                <a:lnTo>
                  <a:pt x="511175" y="226020"/>
                </a:lnTo>
                <a:arcTo wR="38100" hR="38100" stAng="0" swAng="5400000"/>
                <a:lnTo>
                  <a:pt x="38100" y="264120"/>
                </a:lnTo>
                <a:arcTo wR="38100" hR="38100" stAng="5400000" swAng="5400000"/>
                <a:lnTo>
                  <a:pt x="0" y="38100"/>
                </a:lnTo>
                <a:arcTo wR="38100" hR="38100" stAng="10800000" swAng="5400000"/>
                <a:close/>
              </a:path>
            </a:pathLst>
          </a:custGeom>
          <a:solidFill>
            <a:srgbClr val="2F6FB3"/>
          </a:solidFill>
          <a:ln/>
        </p:spPr>
        <p:txBody>
          <a:bodyPr wrap="square" lIns="0" tIns="25400" rIns="0" bIns="0" rtlCol="0" anchor="t">
            <a:normAutofit/>
          </a:bodyPr>
          <a:lstStyle/>
          <a:p>
            <a:pPr marL="0" indent="0" algn="ctr">
              <a:lnSpc>
                <a:spcPts val="1680"/>
              </a:lnSpc>
              <a:buNone/>
            </a:pPr>
            <a:r>
              <a:rPr lang="en-US" sz="1200" dirty="0">
                <a:solidFill>
                  <a:srgbClr val="F7F5EF"/>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1527175" y="3709392"/>
            <a:ext cx="511175" cy="264120"/>
          </a:xfrm>
          <a:custGeom>
            <a:avLst/>
            <a:gdLst/>
            <a:ahLst/>
            <a:cxnLst/>
            <a:rect l="l" t="t" r="r" b="b"/>
            <a:pathLst>
              <a:path w="511175" h="264120">
                <a:moveTo>
                  <a:pt x="38100" y="0"/>
                </a:moveTo>
                <a:lnTo>
                  <a:pt x="473075" y="0"/>
                </a:lnTo>
                <a:arcTo wR="38100" hR="38100" stAng="16200000" swAng="5400000"/>
                <a:lnTo>
                  <a:pt x="511175" y="226020"/>
                </a:lnTo>
                <a:arcTo wR="38100" hR="38100" stAng="0" swAng="5400000"/>
                <a:lnTo>
                  <a:pt x="38100" y="264120"/>
                </a:lnTo>
                <a:arcTo wR="38100" hR="38100" stAng="5400000" swAng="5400000"/>
                <a:lnTo>
                  <a:pt x="0" y="38100"/>
                </a:lnTo>
                <a:arcTo wR="38100" hR="38100" stAng="10800000" swAng="5400000"/>
                <a:close/>
              </a:path>
            </a:pathLst>
          </a:custGeom>
          <a:solidFill>
            <a:srgbClr val="2F6FB3"/>
          </a:solidFill>
          <a:ln/>
        </p:spPr>
        <p:txBody>
          <a:bodyPr wrap="square" lIns="0" tIns="25400" rIns="0" bIns="0" rtlCol="0" anchor="t">
            <a:normAutofit/>
          </a:bodyPr>
          <a:lstStyle/>
          <a:p>
            <a:pPr marL="0" indent="0" algn="ctr">
              <a:lnSpc>
                <a:spcPts val="1680"/>
              </a:lnSpc>
              <a:buNone/>
            </a:pPr>
            <a:r>
              <a:rPr lang="en-US" sz="1200" dirty="0">
                <a:solidFill>
                  <a:srgbClr val="F7F5EF"/>
                </a:solidFill>
                <a:latin typeface="IBM Plex Sans" pitchFamily="34" charset="0"/>
                <a:ea typeface="IBM Plex Sans" pitchFamily="34" charset="-122"/>
                <a:cs typeface="IBM Plex Sans" pitchFamily="34" charset="-120"/>
              </a:rPr>
              <a:t>◀</a:t>
            </a:r>
            <a:endParaRPr lang="en-US" sz="1200" dirty="0"/>
          </a:p>
        </p:txBody>
      </p:sp>
      <p:sp>
        <p:nvSpPr>
          <p:cNvPr id="13" name="Text 11"/>
          <p:cNvSpPr/>
          <p:nvPr/>
        </p:nvSpPr>
        <p:spPr>
          <a:xfrm>
            <a:off x="2076450" y="3709392"/>
            <a:ext cx="511175" cy="264120"/>
          </a:xfrm>
          <a:custGeom>
            <a:avLst/>
            <a:gdLst/>
            <a:ahLst/>
            <a:cxnLst/>
            <a:rect l="l" t="t" r="r" b="b"/>
            <a:pathLst>
              <a:path w="511175" h="264120">
                <a:moveTo>
                  <a:pt x="38100" y="0"/>
                </a:moveTo>
                <a:lnTo>
                  <a:pt x="473075" y="0"/>
                </a:lnTo>
                <a:arcTo wR="38100" hR="38100" stAng="16200000" swAng="5400000"/>
                <a:lnTo>
                  <a:pt x="511175" y="226020"/>
                </a:lnTo>
                <a:arcTo wR="38100" hR="38100" stAng="0" swAng="5400000"/>
                <a:lnTo>
                  <a:pt x="38100" y="264120"/>
                </a:lnTo>
                <a:arcTo wR="38100" hR="38100" stAng="5400000" swAng="5400000"/>
                <a:lnTo>
                  <a:pt x="0" y="38100"/>
                </a:lnTo>
                <a:arcTo wR="38100" hR="38100" stAng="10800000" swAng="5400000"/>
                <a:close/>
              </a:path>
            </a:pathLst>
          </a:custGeom>
          <a:solidFill>
            <a:srgbClr val="2F6FB3"/>
          </a:solidFill>
          <a:ln/>
        </p:spPr>
        <p:txBody>
          <a:bodyPr wrap="square" lIns="0" tIns="25400" rIns="0" bIns="0" rtlCol="0" anchor="t">
            <a:normAutofit/>
          </a:bodyPr>
          <a:lstStyle/>
          <a:p>
            <a:pPr marL="0" indent="0" algn="ctr">
              <a:lnSpc>
                <a:spcPts val="1680"/>
              </a:lnSpc>
              <a:buNone/>
            </a:pPr>
            <a:r>
              <a:rPr lang="en-US" sz="1200" dirty="0">
                <a:solidFill>
                  <a:srgbClr val="F7F5EF"/>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2625725" y="3709392"/>
            <a:ext cx="511175" cy="264120"/>
          </a:xfrm>
          <a:custGeom>
            <a:avLst/>
            <a:gdLst/>
            <a:ahLst/>
            <a:cxnLst/>
            <a:rect l="l" t="t" r="r" b="b"/>
            <a:pathLst>
              <a:path w="511175" h="264120">
                <a:moveTo>
                  <a:pt x="38100" y="0"/>
                </a:moveTo>
                <a:lnTo>
                  <a:pt x="473075" y="0"/>
                </a:lnTo>
                <a:arcTo wR="38100" hR="38100" stAng="16200000" swAng="5400000"/>
                <a:lnTo>
                  <a:pt x="511175" y="226020"/>
                </a:lnTo>
                <a:arcTo wR="38100" hR="38100" stAng="0" swAng="5400000"/>
                <a:lnTo>
                  <a:pt x="38100" y="264120"/>
                </a:lnTo>
                <a:arcTo wR="38100" hR="38100" stAng="5400000" swAng="5400000"/>
                <a:lnTo>
                  <a:pt x="0" y="38100"/>
                </a:lnTo>
                <a:arcTo wR="38100" hR="38100" stAng="10800000" swAng="5400000"/>
                <a:close/>
              </a:path>
            </a:pathLst>
          </a:custGeom>
          <a:solidFill>
            <a:srgbClr val="2F6FB3"/>
          </a:solidFill>
          <a:ln/>
        </p:spPr>
        <p:txBody>
          <a:bodyPr wrap="square" lIns="0" tIns="25400" rIns="0" bIns="0" rtlCol="0" anchor="t">
            <a:normAutofit/>
          </a:bodyPr>
          <a:lstStyle/>
          <a:p>
            <a:pPr marL="0" indent="0" algn="ctr">
              <a:lnSpc>
                <a:spcPts val="1680"/>
              </a:lnSpc>
              <a:buNone/>
            </a:pPr>
            <a:r>
              <a:rPr lang="en-US" sz="1200" dirty="0">
                <a:solidFill>
                  <a:srgbClr val="F7F5EF"/>
                </a:solidFill>
                <a:latin typeface="IBM Plex Sans" pitchFamily="34" charset="0"/>
                <a:ea typeface="IBM Plex Sans" pitchFamily="34" charset="-122"/>
                <a:cs typeface="IBM Plex Sans" pitchFamily="34" charset="-120"/>
              </a:rPr>
              <a:t>▶▶</a:t>
            </a:r>
            <a:endParaRPr lang="en-US" sz="1200" dirty="0"/>
          </a:p>
        </p:txBody>
      </p:sp>
      <p:sp>
        <p:nvSpPr>
          <p:cNvPr id="15" name="Text 13"/>
          <p:cNvSpPr/>
          <p:nvPr/>
        </p:nvSpPr>
        <p:spPr>
          <a:xfrm>
            <a:off x="977900" y="4011613"/>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4. Medir</a:t>
            </a:r>
            <a:endParaRPr lang="en-US" sz="1200" dirty="0"/>
          </a:p>
        </p:txBody>
      </p:sp>
      <p:sp>
        <p:nvSpPr>
          <p:cNvPr id="16" name="Text 14"/>
          <p:cNvSpPr/>
          <p:nvPr/>
        </p:nvSpPr>
        <p:spPr>
          <a:xfrm>
            <a:off x="977900" y="4263033"/>
            <a:ext cx="2159000" cy="264120"/>
          </a:xfrm>
          <a:custGeom>
            <a:avLst/>
            <a:gdLst/>
            <a:ahLst/>
            <a:cxnLst/>
            <a:rect l="l" t="t" r="r" b="b"/>
            <a:pathLst>
              <a:path w="2159000" h="264120">
                <a:moveTo>
                  <a:pt x="38100" y="0"/>
                </a:moveTo>
                <a:lnTo>
                  <a:pt x="2120900" y="0"/>
                </a:lnTo>
                <a:arcTo wR="38100" hR="38100" stAng="16200000" swAng="5400000"/>
                <a:lnTo>
                  <a:pt x="2159000" y="226020"/>
                </a:lnTo>
                <a:arcTo wR="38100" hR="38100" stAng="0" swAng="5400000"/>
                <a:lnTo>
                  <a:pt x="38100" y="264120"/>
                </a:lnTo>
                <a:arcTo wR="38100" hR="38100" stAng="5400000" swAng="5400000"/>
                <a:lnTo>
                  <a:pt x="0" y="38100"/>
                </a:lnTo>
                <a:arcTo wR="38100" hR="38100" stAng="10800000" swAng="5400000"/>
                <a:close/>
              </a:path>
            </a:pathLst>
          </a:custGeom>
          <a:solidFill>
            <a:srgbClr val="D85A30"/>
          </a:solidFill>
          <a:ln/>
        </p:spPr>
        <p:txBody>
          <a:bodyPr wrap="square" lIns="0" tIns="25400" rIns="0" bIns="0" rtlCol="0" anchor="t">
            <a:normAutofit/>
          </a:bodyPr>
          <a:lstStyle/>
          <a:p>
            <a:pPr marL="0" indent="0" algn="ctr">
              <a:lnSpc>
                <a:spcPts val="1680"/>
              </a:lnSpc>
              <a:buNone/>
            </a:pPr>
            <a:r>
              <a:rPr lang="en-US" sz="1200" dirty="0">
                <a:solidFill>
                  <a:srgbClr val="F7F5EF"/>
                </a:solidFill>
                <a:latin typeface="IBM Plex Sans" pitchFamily="34" charset="0"/>
                <a:ea typeface="IBM Plex Sans" pitchFamily="34" charset="-122"/>
                <a:cs typeface="IBM Plex Sans" pitchFamily="34" charset="-120"/>
              </a:rPr>
              <a:t>Medir N veces</a:t>
            </a:r>
            <a:endParaRPr lang="en-US" sz="1200" dirty="0"/>
          </a:p>
        </p:txBody>
      </p:sp>
      <p:pic>
        <p:nvPicPr>
          <p:cNvPr id="17" name="Image 0" descr="circuito de Grover con el marcador de posición"/>
          <p:cNvPicPr>
            <a:picLocks noChangeAspect="1"/>
          </p:cNvPicPr>
          <p:nvPr/>
        </p:nvPicPr>
        <p:blipFill>
          <a:blip r:embed="rId3"/>
          <a:srcRect/>
          <a:stretch/>
        </p:blipFill>
        <p:spPr>
          <a:xfrm>
            <a:off x="3289300" y="2376091"/>
            <a:ext cx="4064000" cy="952500"/>
          </a:xfrm>
          <a:prstGeom prst="rect">
            <a:avLst/>
          </a:prstGeom>
        </p:spPr>
      </p:pic>
      <p:sp>
        <p:nvSpPr>
          <p:cNvPr id="18" name="Text 15"/>
          <p:cNvSpPr/>
          <p:nvPr/>
        </p:nvSpPr>
        <p:spPr>
          <a:xfrm>
            <a:off x="3289300" y="3404791"/>
            <a:ext cx="1201043" cy="289520"/>
          </a:xfrm>
          <a:prstGeom prst="roundRect">
            <a:avLst>
              <a:gd name="adj" fmla="val 17546"/>
            </a:avLst>
          </a:prstGeom>
          <a:solidFill>
            <a:srgbClr val="14213D"/>
          </a:solidFill>
          <a:ln/>
        </p:spPr>
        <p:txBody>
          <a:bodyPr wrap="none" lIns="0" tIns="0" rIns="0" bIns="0" rtlCol="0" anchor="ctr">
            <a:normAutofit/>
          </a:bodyPr>
          <a:lstStyle/>
          <a:p>
            <a:pPr marL="0" indent="0" algn="ctr">
              <a:lnSpc>
                <a:spcPts val="1680"/>
              </a:lnSpc>
              <a:buNone/>
            </a:pPr>
            <a:r>
              <a:rPr lang="en-US" sz="1200" dirty="0">
                <a:solidFill>
                  <a:srgbClr val="F7F5EF"/>
                </a:solidFill>
                <a:latin typeface="IBM Plex Sans" pitchFamily="34" charset="0"/>
                <a:ea typeface="IBM Plex Sans" pitchFamily="34" charset="-122"/>
                <a:cs typeface="IBM Plex Sans" pitchFamily="34" charset="-120"/>
              </a:rPr>
              <a:t>Probabilidades</a:t>
            </a:r>
            <a:endParaRPr lang="en-US" sz="1200" dirty="0"/>
          </a:p>
        </p:txBody>
      </p:sp>
      <p:sp>
        <p:nvSpPr>
          <p:cNvPr id="19" name="Text 16"/>
          <p:cNvSpPr/>
          <p:nvPr/>
        </p:nvSpPr>
        <p:spPr>
          <a:xfrm>
            <a:off x="4541143" y="3404791"/>
            <a:ext cx="956270" cy="289520"/>
          </a:xfrm>
          <a:prstGeom prst="roundRect">
            <a:avLst>
              <a:gd name="adj" fmla="val 17546"/>
            </a:avLst>
          </a:prstGeom>
          <a:solidFill>
            <a:srgbClr val="EFEBE1"/>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Mediciones</a:t>
            </a:r>
            <a:endParaRPr lang="en-US" sz="1200" dirty="0"/>
          </a:p>
        </p:txBody>
      </p:sp>
      <p:sp>
        <p:nvSpPr>
          <p:cNvPr id="20" name="Text 17"/>
          <p:cNvSpPr/>
          <p:nvPr/>
        </p:nvSpPr>
        <p:spPr>
          <a:xfrm>
            <a:off x="5548213" y="3404791"/>
            <a:ext cx="648494" cy="289520"/>
          </a:xfrm>
          <a:prstGeom prst="roundRect">
            <a:avLst>
              <a:gd name="adj" fmla="val 17546"/>
            </a:avLst>
          </a:prstGeom>
          <a:solidFill>
            <a:srgbClr val="EFEBE1"/>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Estado</a:t>
            </a:r>
            <a:endParaRPr lang="en-US" sz="1200" dirty="0"/>
          </a:p>
        </p:txBody>
      </p:sp>
      <p:pic>
        <p:nvPicPr>
          <p:cNvPr id="21" name="Image 1" descr="probabilidades tras una iteración de Grover"/>
          <p:cNvPicPr>
            <a:picLocks noChangeAspect="1"/>
          </p:cNvPicPr>
          <p:nvPr/>
        </p:nvPicPr>
        <p:blipFill>
          <a:blip r:embed="rId4"/>
          <a:srcRect/>
          <a:stretch/>
        </p:blipFill>
        <p:spPr>
          <a:xfrm>
            <a:off x="3289300" y="3770511"/>
            <a:ext cx="4064000" cy="1206500"/>
          </a:xfrm>
          <a:prstGeom prst="rect">
            <a:avLst/>
          </a:prstGeom>
        </p:spPr>
      </p:pic>
      <p:sp>
        <p:nvSpPr>
          <p:cNvPr id="22" name="Shape 18"/>
          <p:cNvSpPr/>
          <p:nvPr/>
        </p:nvSpPr>
        <p:spPr>
          <a:xfrm>
            <a:off x="7877175" y="1873845"/>
            <a:ext cx="3498850" cy="1144191"/>
          </a:xfrm>
          <a:prstGeom prst="roundRect">
            <a:avLst>
              <a:gd name="adj" fmla="val 8602"/>
            </a:avLst>
          </a:prstGeom>
          <a:solidFill>
            <a:srgbClr val="FDFCF8"/>
          </a:solidFill>
          <a:ln w="6350">
            <a:solidFill>
              <a:srgbClr val="E2DED3"/>
            </a:solidFill>
            <a:prstDash val="solid"/>
          </a:ln>
        </p:spPr>
      </p:sp>
      <p:sp>
        <p:nvSpPr>
          <p:cNvPr id="23" name="Text 19"/>
          <p:cNvSpPr/>
          <p:nvPr/>
        </p:nvSpPr>
        <p:spPr>
          <a:xfrm>
            <a:off x="8083550" y="2080220"/>
            <a:ext cx="317868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Paso y deshacer</a:t>
            </a:r>
            <a:endParaRPr lang="en-US" sz="1500" dirty="0"/>
          </a:p>
        </p:txBody>
      </p:sp>
      <p:sp>
        <p:nvSpPr>
          <p:cNvPr id="24" name="Text 20"/>
          <p:cNvSpPr/>
          <p:nvPr/>
        </p:nvSpPr>
        <p:spPr>
          <a:xfrm>
            <a:off x="8083550" y="2385020"/>
            <a:ext cx="31786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 y ▶ llaman a deshacer() y paso() del circuito.</a:t>
            </a:r>
            <a:endParaRPr lang="en-US" sz="1200" dirty="0"/>
          </a:p>
        </p:txBody>
      </p:sp>
      <p:sp>
        <p:nvSpPr>
          <p:cNvPr id="25" name="Shape 21"/>
          <p:cNvSpPr/>
          <p:nvPr/>
        </p:nvSpPr>
        <p:spPr>
          <a:xfrm>
            <a:off x="7877175" y="3176786"/>
            <a:ext cx="3498850" cy="1144191"/>
          </a:xfrm>
          <a:prstGeom prst="roundRect">
            <a:avLst>
              <a:gd name="adj" fmla="val 8602"/>
            </a:avLst>
          </a:prstGeom>
          <a:solidFill>
            <a:srgbClr val="FDFCF8"/>
          </a:solidFill>
          <a:ln w="6350">
            <a:solidFill>
              <a:srgbClr val="E2DED3"/>
            </a:solidFill>
            <a:prstDash val="solid"/>
          </a:ln>
        </p:spPr>
      </p:sp>
      <p:sp>
        <p:nvSpPr>
          <p:cNvPr id="26" name="Text 22"/>
          <p:cNvSpPr/>
          <p:nvPr/>
        </p:nvSpPr>
        <p:spPr>
          <a:xfrm>
            <a:off x="8083550" y="3383161"/>
            <a:ext cx="317868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Tres pestañas</a:t>
            </a:r>
            <a:endParaRPr lang="en-US" sz="1500" dirty="0"/>
          </a:p>
        </p:txBody>
      </p:sp>
      <p:sp>
        <p:nvSpPr>
          <p:cNvPr id="27" name="Text 23"/>
          <p:cNvSpPr/>
          <p:nvPr/>
        </p:nvSpPr>
        <p:spPr>
          <a:xfrm>
            <a:off x="8083550" y="3687961"/>
            <a:ext cx="31786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Probabilidades exactas, mediciones simuladas y el ket con Bloch.</a:t>
            </a:r>
            <a:endParaRPr lang="en-US" sz="1200" dirty="0"/>
          </a:p>
        </p:txBody>
      </p:sp>
      <p:sp>
        <p:nvSpPr>
          <p:cNvPr id="28" name="Shape 24"/>
          <p:cNvSpPr/>
          <p:nvPr/>
        </p:nvSpPr>
        <p:spPr>
          <a:xfrm>
            <a:off x="7874000" y="4476552"/>
            <a:ext cx="3505200" cy="1137841"/>
          </a:xfrm>
          <a:prstGeom prst="roundRect">
            <a:avLst>
              <a:gd name="adj" fmla="val 8929"/>
            </a:avLst>
          </a:prstGeom>
          <a:solidFill>
            <a:srgbClr val="14213D"/>
          </a:solidFill>
          <a:ln/>
        </p:spPr>
      </p:sp>
      <p:sp>
        <p:nvSpPr>
          <p:cNvPr id="29" name="Text 25"/>
          <p:cNvSpPr/>
          <p:nvPr/>
        </p:nvSpPr>
        <p:spPr>
          <a:xfrm>
            <a:off x="8077200" y="4679752"/>
            <a:ext cx="31917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Circuito libre</a:t>
            </a:r>
            <a:endParaRPr lang="en-US" sz="1500" dirty="0"/>
          </a:p>
        </p:txBody>
      </p:sp>
      <p:sp>
        <p:nvSpPr>
          <p:cNvPr id="30" name="Text 26"/>
          <p:cNvSpPr/>
          <p:nvPr/>
        </p:nvSpPr>
        <p:spPr>
          <a:xfrm>
            <a:off x="8077200" y="4984552"/>
            <a:ext cx="319176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Con «Circuito vacío» cada estudiante arma el suyo.</a:t>
            </a:r>
            <a:endParaRPr lang="en-US" sz="1200" dirty="0"/>
          </a:p>
        </p:txBody>
      </p:sp>
      <p:sp>
        <p:nvSpPr>
          <p:cNvPr id="31"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6 · INTERFAZ GRÁFICA · 10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 GUI, en lenguaje cotidiano</a:t>
            </a:r>
            <a:endParaRPr lang="en-US" sz="3000" dirty="0"/>
          </a:p>
        </p:txBody>
      </p:sp>
      <p:sp>
        <p:nvSpPr>
          <p:cNvPr id="4" name="Text 2"/>
          <p:cNvSpPr/>
          <p:nvPr/>
        </p:nvSpPr>
        <p:spPr>
          <a:xfrm>
            <a:off x="812800" y="1870670"/>
            <a:ext cx="3924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5" name="Text 3"/>
          <p:cNvSpPr/>
          <p:nvPr/>
        </p:nvSpPr>
        <p:spPr>
          <a:xfrm>
            <a:off x="4826000" y="1870670"/>
            <a:ext cx="674979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6" name="Text 4"/>
          <p:cNvSpPr/>
          <p:nvPr/>
        </p:nvSpPr>
        <p:spPr>
          <a:xfrm>
            <a:off x="812800" y="2172891"/>
            <a:ext cx="3810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circuito.suscribir(self._al_cambiar)</a:t>
            </a:r>
            <a:endParaRPr lang="en-US" sz="1200" dirty="0"/>
          </a:p>
        </p:txBody>
      </p:sp>
      <p:sp>
        <p:nvSpPr>
          <p:cNvPr id="7" name="Text 5"/>
          <p:cNvSpPr/>
          <p:nvPr/>
        </p:nvSpPr>
        <p:spPr>
          <a:xfrm>
            <a:off x="4826000" y="2172891"/>
            <a:ext cx="674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Deja «el teléfono» de la GUI: tras cada paso o deshacer, la lógica llama a _al_cambiar y la ventana se redibuja.</a:t>
            </a:r>
            <a:endParaRPr lang="en-US" sz="1200" dirty="0"/>
          </a:p>
        </p:txBody>
      </p:sp>
      <p:sp>
        <p:nvSpPr>
          <p:cNvPr id="8" name="Text 6"/>
          <p:cNvSpPr/>
          <p:nvPr/>
        </p:nvSpPr>
        <p:spPr>
          <a:xfrm>
            <a:off x="812800" y="2688431"/>
            <a:ext cx="3810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FabricaPuertas.crear(nombre, *qubits)</a:t>
            </a:r>
            <a:endParaRPr lang="en-US" sz="1200" dirty="0"/>
          </a:p>
        </p:txBody>
      </p:sp>
      <p:sp>
        <p:nvSpPr>
          <p:cNvPr id="9" name="Text 7"/>
          <p:cNvSpPr/>
          <p:nvPr/>
        </p:nvSpPr>
        <p:spPr>
          <a:xfrm>
            <a:off x="4826000" y="2688431"/>
            <a:ext cx="674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Crea la puerta elegida en el menú. El asterisco reparte [0, 1] como dos argumentos: crear("CNOT", 0, 1).</a:t>
            </a:r>
            <a:endParaRPr lang="en-US" sz="1200" dirty="0"/>
          </a:p>
        </p:txBody>
      </p:sp>
      <p:sp>
        <p:nvSpPr>
          <p:cNvPr id="10" name="Text 8"/>
          <p:cNvSpPr/>
          <p:nvPr/>
        </p:nvSpPr>
        <p:spPr>
          <a:xfrm>
            <a:off x="812800" y="3203972"/>
            <a:ext cx="3810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try: … except ValueError</a:t>
            </a:r>
            <a:endParaRPr lang="en-US" sz="1200" dirty="0"/>
          </a:p>
        </p:txBody>
      </p:sp>
      <p:sp>
        <p:nvSpPr>
          <p:cNvPr id="11" name="Text 9"/>
          <p:cNvSpPr/>
          <p:nvPr/>
        </p:nvSpPr>
        <p:spPr>
          <a:xfrm>
            <a:off x="4826000" y="3203972"/>
            <a:ext cx="6749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Si la puerta no tiene sentido (una CNOT con un solo qubit), muestra el mensaje en vez de cerrarse.</a:t>
            </a:r>
            <a:endParaRPr lang="en-US" sz="1200" dirty="0"/>
          </a:p>
        </p:txBody>
      </p:sp>
      <p:sp>
        <p:nvSpPr>
          <p:cNvPr id="12" name="Text 10"/>
          <p:cNvSpPr/>
          <p:nvPr/>
        </p:nvSpPr>
        <p:spPr>
          <a:xfrm>
            <a:off x="812800" y="3719512"/>
            <a:ext cx="3810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isinstance(p, CNOT)</a:t>
            </a:r>
            <a:endParaRPr lang="en-US" sz="1200" dirty="0"/>
          </a:p>
        </p:txBody>
      </p:sp>
      <p:sp>
        <p:nvSpPr>
          <p:cNvPr id="13" name="Text 11"/>
          <p:cNvSpPr/>
          <p:nvPr/>
        </p:nvSpPr>
        <p:spPr>
          <a:xfrm>
            <a:off x="4826000" y="3719512"/>
            <a:ext cx="67497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Pregunta qué tipo de puerta es para dibujarla con su símbolo: punto de control y ⊕.</a:t>
            </a:r>
            <a:endParaRPr lang="en-US" sz="1200" dirty="0"/>
          </a:p>
        </p:txBody>
      </p:sp>
      <p:sp>
        <p:nvSpPr>
          <p:cNvPr id="14" name="Text 12"/>
          <p:cNvSpPr/>
          <p:nvPr/>
        </p:nvSpPr>
        <p:spPr>
          <a:xfrm>
            <a:off x="812800" y="4097933"/>
            <a:ext cx="3810000" cy="289520"/>
          </a:xfrm>
          <a:prstGeom prst="roundRect">
            <a:avLst>
              <a:gd name="adj" fmla="val 17546"/>
            </a:avLst>
          </a:prstGeom>
          <a:solidFill>
            <a:srgbClr val="EFEBE1"/>
          </a:solidFill>
          <a:ln/>
        </p:spPr>
        <p:txBody>
          <a:bodyPr wrap="square" lIns="61321" tIns="23221"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i &lt; c.posicion</a:t>
            </a:r>
            <a:endParaRPr lang="en-US" sz="1200" dirty="0"/>
          </a:p>
        </p:txBody>
      </p:sp>
      <p:sp>
        <p:nvSpPr>
          <p:cNvPr id="15" name="Text 13"/>
          <p:cNvSpPr/>
          <p:nvPr/>
        </p:nvSpPr>
        <p:spPr>
          <a:xfrm>
            <a:off x="4826000" y="4097933"/>
            <a:ext cx="67497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Las puertas ya aplicadas se pintan en azul y las pendientes en gris.</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7 · PRUEBAS · 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Las pruebas comprueban la física</a:t>
            </a:r>
            <a:endParaRPr lang="en-US" sz="3000" dirty="0"/>
          </a:p>
        </p:txBody>
      </p:sp>
      <p:sp>
        <p:nvSpPr>
          <p:cNvPr id="4" name="Text 2"/>
          <p:cNvSpPr/>
          <p:nvPr/>
        </p:nvSpPr>
        <p:spPr>
          <a:xfrm>
            <a:off x="812800" y="1870670"/>
            <a:ext cx="7302500" cy="2966244"/>
          </a:xfrm>
          <a:prstGeom prst="roundRect">
            <a:avLst>
              <a:gd name="adj" fmla="val 3425"/>
            </a:avLst>
          </a:prstGeom>
          <a:solidFill>
            <a:srgbClr val="14213D"/>
          </a:solidFill>
          <a:ln/>
        </p:spPr>
        <p:txBody>
          <a:bodyPr wrap="none" lIns="224242" tIns="173442" rIns="20407" bIns="148042" rtlCol="0" anchor="t">
            <a:normAutofit/>
          </a:bodyPr>
          <a:lstStyle/>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test_bell_solo_00_y_11():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 = CatalogoCircuitos.bell().ejecutar().probabilidades()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assert</a:t>
            </a:r>
            <a:r>
              <a:rPr lang="en-US" sz="1200" dirty="0">
                <a:solidFill>
                  <a:srgbClr val="E8EDF5"/>
                </a:solidFill>
                <a:latin typeface="JetBrains Mono" pitchFamily="49" charset="0"/>
                <a:ea typeface="JetBrains Mono" pitchFamily="49" charset="-122"/>
                <a:cs typeface="JetBrains Mono" pitchFamily="49" charset="-120"/>
              </a:rPr>
              <a:t> p == pytest.approx({"00": 0.5, "11": 0.5})</a:t>
            </a:r>
            <a:endParaRPr lang="en-US" sz="1200" dirty="0"/>
          </a:p>
          <a:p>
            <a:pPr marL="0" indent="0" algn="l">
              <a:lnSpc>
                <a:spcPts val="1680"/>
              </a:lnSpc>
              <a:buNone/>
            </a:pPr>
            <a:endParaRPr lang="en-US" sz="1200" dirty="0"/>
          </a:p>
          <a:p>
            <a:pPr marL="0" indent="0" algn="l">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def</a:t>
            </a:r>
            <a:r>
              <a:rPr lang="en-US" sz="1200" dirty="0">
                <a:solidFill>
                  <a:srgbClr val="E8EDF5"/>
                </a:solidFill>
                <a:latin typeface="JetBrains Mono" pitchFamily="49" charset="0"/>
                <a:ea typeface="JetBrains Mono" pitchFamily="49" charset="-122"/>
                <a:cs typeface="JetBrains Mono" pitchFamily="49" charset="-120"/>
              </a:rPr>
              <a:t> test_deshacer_vuelve_al_estado_inicial():</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while c.deshacer():</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pass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assert</a:t>
            </a:r>
            <a:r>
              <a:rPr lang="en-US" sz="1200" dirty="0">
                <a:solidFill>
                  <a:srgbClr val="E8EDF5"/>
                </a:solidFill>
                <a:latin typeface="JetBrains Mono" pitchFamily="49" charset="0"/>
                <a:ea typeface="JetBrains Mono" pitchFamily="49" charset="-122"/>
                <a:cs typeface="JetBrains Mono" pitchFamily="49" charset="-120"/>
              </a:rPr>
              <a:t> np.allclose(c.estado.amplitudes, EstadoCuantico(3).amplitudes)</a:t>
            </a:r>
            <a:endParaRPr lang="en-US" sz="1200" dirty="0"/>
          </a:p>
          <a:p>
            <a:pPr marL="0" indent="0" algn="l">
              <a:lnSpc>
                <a:spcPts val="1680"/>
              </a:lnSpc>
              <a:buNone/>
            </a:pP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pytest -v</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26 passed ================</a:t>
            </a:r>
            <a:endParaRPr lang="en-US" sz="1200" dirty="0"/>
          </a:p>
        </p:txBody>
      </p:sp>
      <p:sp>
        <p:nvSpPr>
          <p:cNvPr id="5" name="Shape 3"/>
          <p:cNvSpPr/>
          <p:nvPr/>
        </p:nvSpPr>
        <p:spPr>
          <a:xfrm>
            <a:off x="8321675" y="1873845"/>
            <a:ext cx="3054350" cy="2114550"/>
          </a:xfrm>
          <a:prstGeom prst="roundRect">
            <a:avLst>
              <a:gd name="adj" fmla="val 4655"/>
            </a:avLst>
          </a:prstGeom>
          <a:solidFill>
            <a:srgbClr val="FDFCF8"/>
          </a:solidFill>
          <a:ln w="6350">
            <a:solidFill>
              <a:srgbClr val="E2DED3"/>
            </a:solidFill>
            <a:prstDash val="solid"/>
          </a:ln>
        </p:spPr>
      </p:sp>
      <p:sp>
        <p:nvSpPr>
          <p:cNvPr id="6" name="Text 4"/>
          <p:cNvSpPr/>
          <p:nvPr/>
        </p:nvSpPr>
        <p:spPr>
          <a:xfrm>
            <a:off x="8528050" y="2080220"/>
            <a:ext cx="27208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Qué se prueba</a:t>
            </a:r>
            <a:endParaRPr lang="en-US" sz="1500" dirty="0"/>
          </a:p>
        </p:txBody>
      </p:sp>
      <p:sp>
        <p:nvSpPr>
          <p:cNvPr id="7" name="Text 5"/>
          <p:cNvSpPr/>
          <p:nvPr/>
        </p:nvSpPr>
        <p:spPr>
          <a:xfrm>
            <a:off x="8626856" y="2410420"/>
            <a:ext cx="2614422" cy="13970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Bell y GHZ</a:t>
            </a:r>
            <a:endParaRPr lang="en-US" sz="1200" dirty="0"/>
          </a:p>
          <a:p>
            <a:pPr marL="155194" indent="-155194" algn="l">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Teleportación con 4 estados</a:t>
            </a:r>
            <a:endParaRPr lang="en-US" sz="1200" dirty="0"/>
          </a:p>
          <a:p>
            <a:pPr marL="155194" indent="-155194" algn="l">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Grover de 2 a 12 qubits</a:t>
            </a:r>
            <a:endParaRPr lang="en-US" sz="1200" dirty="0"/>
          </a:p>
          <a:p>
            <a:pPr marL="155194" indent="-155194" algn="l">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U†U = I en cada puerta</a:t>
            </a:r>
            <a:endParaRPr lang="en-US" sz="1200" dirty="0"/>
          </a:p>
          <a:p>
            <a:pPr marL="155194" indent="-155194" algn="l">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Deshacer y medir</a:t>
            </a:r>
            <a:endParaRPr lang="en-US" sz="1200" dirty="0"/>
          </a:p>
          <a:p>
            <a:pPr marL="155194" indent="-155194" algn="l">
              <a:lnSpc>
                <a:spcPts val="180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Born con 10 000 disparos</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La estructura que espera PyPI</a:t>
            </a:r>
            <a:endParaRPr lang="en-US" sz="3000" dirty="0"/>
          </a:p>
        </p:txBody>
      </p:sp>
      <p:sp>
        <p:nvSpPr>
          <p:cNvPr id="4" name="Text 2"/>
          <p:cNvSpPr/>
          <p:nvPr/>
        </p:nvSpPr>
        <p:spPr>
          <a:xfrm>
            <a:off x="812800" y="1870670"/>
            <a:ext cx="5181600" cy="2752923"/>
          </a:xfrm>
          <a:prstGeom prst="roundRect">
            <a:avLst>
              <a:gd name="adj" fmla="val 3691"/>
            </a:avLst>
          </a:prstGeom>
          <a:solidFill>
            <a:srgbClr val="14213D"/>
          </a:solidFill>
          <a:ln/>
        </p:spPr>
        <p:txBody>
          <a:bodyPr wrap="none" lIns="224242" tIns="173442" rIns="84034"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circuitos-cuanticos/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pyproject.toml</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README.md</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LICENSE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src/</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circuitos_cuanticos/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__init__.py</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 core.py</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tests/test_core.py</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GUI.py           ← no se publica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ejemplo_consola.py</a:t>
            </a:r>
            <a:endParaRPr lang="en-US" sz="1200" dirty="0"/>
          </a:p>
        </p:txBody>
      </p:sp>
      <p:sp>
        <p:nvSpPr>
          <p:cNvPr id="5" name="Text 3"/>
          <p:cNvSpPr/>
          <p:nvPr/>
        </p:nvSpPr>
        <p:spPr>
          <a:xfrm>
            <a:off x="6197600" y="1870670"/>
            <a:ext cx="5181600" cy="2752923"/>
          </a:xfrm>
          <a:prstGeom prst="roundRect">
            <a:avLst>
              <a:gd name="adj" fmla="val 3691"/>
            </a:avLst>
          </a:prstGeom>
          <a:solidFill>
            <a:srgbClr val="14213D"/>
          </a:solidFill>
          <a:ln/>
        </p:spPr>
        <p:txBody>
          <a:bodyPr wrap="none" lIns="224242" tIns="173442" rIns="84034"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name = "circuitos-cuanticos"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version = "0.1.0"</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requires-python = "&gt;=3.9"</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dependencies = ["numpy&gt;=1.22"]</a:t>
            </a:r>
            <a:endParaRPr lang="en-US" sz="1200" dirty="0"/>
          </a:p>
          <a:p>
            <a:pPr marL="0" indent="0" algn="l">
              <a:lnSpc>
                <a:spcPts val="1680"/>
              </a:lnSpc>
              <a:buNone/>
            </a:pP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[project.optional-dependencies]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gui = ["matplotlib&gt;=3.5"]</a:t>
            </a:r>
            <a:endParaRPr lang="en-US" sz="1200" dirty="0"/>
          </a:p>
          <a:p>
            <a:pPr marL="0" indent="0" algn="l">
              <a:lnSpc>
                <a:spcPts val="1680"/>
              </a:lnSpc>
              <a:buNone/>
            </a:pP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[tool.setuptools.packages.find]</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where = ["src"]</a:t>
            </a:r>
            <a:endParaRPr lang="en-US" sz="1200" dirty="0"/>
          </a:p>
        </p:txBody>
      </p:sp>
      <p:sp>
        <p:nvSpPr>
          <p:cNvPr id="6" name="Text 4"/>
          <p:cNvSpPr/>
          <p:nvPr/>
        </p:nvSpPr>
        <p:spPr>
          <a:xfrm>
            <a:off x="812800" y="482679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Se instala como </a:t>
            </a:r>
            <a:r>
              <a:rPr lang="en-US" sz="1500" b="1" dirty="0">
                <a:solidFill>
                  <a:srgbClr val="3E4A5C"/>
                </a:solidFill>
                <a:latin typeface="IBM Plex Sans" pitchFamily="34" charset="0"/>
                <a:ea typeface="IBM Plex Sans" pitchFamily="34" charset="-122"/>
                <a:cs typeface="IBM Plex Sans" pitchFamily="34" charset="-120"/>
              </a:rPr>
              <a:t>circuitos-cuanticos</a:t>
            </a:r>
            <a:r>
              <a:rPr lang="en-US" sz="1500" dirty="0">
                <a:solidFill>
                  <a:srgbClr val="3E4A5C"/>
                </a:solidFill>
                <a:latin typeface="IBM Plex Sans" pitchFamily="34" charset="0"/>
                <a:ea typeface="IBM Plex Sans" pitchFamily="34" charset="-122"/>
                <a:cs typeface="IBM Plex Sans" pitchFamily="34" charset="-120"/>
              </a:rPr>
              <a:t> y se importa como </a:t>
            </a:r>
            <a:r>
              <a:rPr lang="en-US" sz="1500" b="1" dirty="0">
                <a:solidFill>
                  <a:srgbClr val="3E4A5C"/>
                </a:solidFill>
                <a:latin typeface="IBM Plex Sans" pitchFamily="34" charset="0"/>
                <a:ea typeface="IBM Plex Sans" pitchFamily="34" charset="-122"/>
                <a:cs typeface="IBM Plex Sans" pitchFamily="34" charset="-120"/>
              </a:rPr>
              <a:t>circuitos_cuanticos</a:t>
            </a:r>
            <a:r>
              <a:rPr lang="en-US" sz="1500" dirty="0">
                <a:solidFill>
                  <a:srgbClr val="3E4A5C"/>
                </a:solidFill>
                <a:latin typeface="IBM Plex Sans" pitchFamily="34" charset="0"/>
                <a:ea typeface="IBM Plex Sans" pitchFamily="34" charset="-122"/>
                <a:cs typeface="IBM Plex Sans" pitchFamily="34" charset="-120"/>
              </a:rPr>
              <a:t>. Sólo lo que está en src/ entra al paquete.</a:t>
            </a:r>
            <a:endParaRPr lang="en-US" sz="15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Instalar el proyecto como un profesional</a:t>
            </a:r>
            <a:endParaRPr lang="en-US" sz="3000" dirty="0"/>
          </a:p>
        </p:txBody>
      </p:sp>
      <p:sp>
        <p:nvSpPr>
          <p:cNvPr id="4" name="Text 2"/>
          <p:cNvSpPr/>
          <p:nvPr/>
        </p:nvSpPr>
        <p:spPr>
          <a:xfrm>
            <a:off x="812800" y="1870670"/>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SI NO ESTÁ INSTALADA</a:t>
            </a:r>
            <a:endParaRPr lang="en-US" sz="1200" dirty="0"/>
          </a:p>
        </p:txBody>
      </p:sp>
      <p:sp>
        <p:nvSpPr>
          <p:cNvPr id="5" name="Text 3"/>
          <p:cNvSpPr/>
          <p:nvPr/>
        </p:nvSpPr>
        <p:spPr>
          <a:xfrm>
            <a:off x="812800" y="2185591"/>
            <a:ext cx="5181600" cy="1473002"/>
          </a:xfrm>
          <a:prstGeom prst="roundRect">
            <a:avLst>
              <a:gd name="adj" fmla="val 6897"/>
            </a:avLst>
          </a:prstGeom>
          <a:solidFill>
            <a:srgbClr val="14213D"/>
          </a:solidFill>
          <a:ln/>
        </p:spPr>
        <p:txBody>
          <a:bodyPr wrap="none" lIns="224242" tIns="173442" rIns="84034"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PS&gt; python .\GUI.py</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No se encontró la librería 'circuitos_cuanticos'.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Desde la carpeta del proyecto, con el entorno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virtual activo, ejecute: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python -m pip install -e ".[gui]"</a:t>
            </a:r>
            <a:endParaRPr lang="en-US" sz="1200" dirty="0"/>
          </a:p>
        </p:txBody>
      </p:sp>
      <p:sp>
        <p:nvSpPr>
          <p:cNvPr id="6" name="Text 4"/>
          <p:cNvSpPr/>
          <p:nvPr/>
        </p:nvSpPr>
        <p:spPr>
          <a:xfrm>
            <a:off x="812800" y="3760192"/>
            <a:ext cx="533704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GUI.py no busca la librería por su cuenta: avisa con un mensaje claro y se detiene. Así se trabaja profesionalmente.</a:t>
            </a:r>
            <a:endParaRPr lang="en-US" sz="1200" dirty="0"/>
          </a:p>
        </p:txBody>
      </p:sp>
      <p:sp>
        <p:nvSpPr>
          <p:cNvPr id="7" name="Text 5"/>
          <p:cNvSpPr/>
          <p:nvPr/>
        </p:nvSpPr>
        <p:spPr>
          <a:xfrm>
            <a:off x="6197600" y="1870670"/>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3"/>
                </a:solidFill>
                <a:latin typeface="IBM Plex Sans" pitchFamily="34" charset="0"/>
                <a:ea typeface="IBM Plex Sans" pitchFamily="34" charset="-122"/>
                <a:cs typeface="IBM Plex Sans" pitchFamily="34" charset="-120"/>
              </a:rPr>
              <a:t>LA SOLUCIÓN, UNA VEZ POR PROYECTO</a:t>
            </a:r>
            <a:endParaRPr lang="en-US" sz="1200" dirty="0"/>
          </a:p>
        </p:txBody>
      </p:sp>
      <p:sp>
        <p:nvSpPr>
          <p:cNvPr id="8" name="Text 6"/>
          <p:cNvSpPr/>
          <p:nvPr/>
        </p:nvSpPr>
        <p:spPr>
          <a:xfrm>
            <a:off x="6197600" y="2185591"/>
            <a:ext cx="5181600" cy="1259681"/>
          </a:xfrm>
          <a:prstGeom prst="roundRect">
            <a:avLst>
              <a:gd name="adj" fmla="val 8066"/>
            </a:avLst>
          </a:prstGeom>
          <a:solidFill>
            <a:srgbClr val="14213D"/>
          </a:solidFill>
          <a:ln/>
        </p:spPr>
        <p:txBody>
          <a:bodyPr wrap="none" lIns="224242" tIns="173442" rIns="84034"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venv .venv</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.\.venv\Scripts\Activate.ps1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pip install -e ".[gui,dev]"</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GUI.py</a:t>
            </a:r>
            <a:endParaRPr lang="en-US" sz="1200" dirty="0"/>
          </a:p>
        </p:txBody>
      </p:sp>
      <p:sp>
        <p:nvSpPr>
          <p:cNvPr id="9" name="Text 7"/>
          <p:cNvSpPr/>
          <p:nvPr/>
        </p:nvSpPr>
        <p:spPr>
          <a:xfrm>
            <a:off x="6197600" y="3546872"/>
            <a:ext cx="11938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10" name="Text 8"/>
          <p:cNvSpPr/>
          <p:nvPr/>
        </p:nvSpPr>
        <p:spPr>
          <a:xfrm>
            <a:off x="7543800" y="3546872"/>
            <a:ext cx="395046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11" name="Text 9"/>
          <p:cNvSpPr/>
          <p:nvPr/>
        </p:nvSpPr>
        <p:spPr>
          <a:xfrm>
            <a:off x="6197600" y="3849092"/>
            <a:ext cx="1143000" cy="289520"/>
          </a:xfrm>
          <a:prstGeom prst="roundRect">
            <a:avLst>
              <a:gd name="adj" fmla="val 17546"/>
            </a:avLst>
          </a:prstGeom>
          <a:solidFill>
            <a:srgbClr val="EFEBE1"/>
          </a:solidFill>
          <a:ln/>
        </p:spPr>
        <p:txBody>
          <a:bodyPr wrap="square" lIns="61321" tIns="23221" rIns="10521"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.venv</a:t>
            </a:r>
            <a:endParaRPr lang="en-US" sz="1200" dirty="0"/>
          </a:p>
        </p:txBody>
      </p:sp>
      <p:sp>
        <p:nvSpPr>
          <p:cNvPr id="12" name="Text 10"/>
          <p:cNvSpPr/>
          <p:nvPr/>
        </p:nvSpPr>
        <p:spPr>
          <a:xfrm>
            <a:off x="7543800" y="3849092"/>
            <a:ext cx="39504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Un Python propio del proyecto, aislado de los demás.</a:t>
            </a:r>
            <a:endParaRPr lang="en-US" sz="1200" dirty="0"/>
          </a:p>
        </p:txBody>
      </p:sp>
      <p:sp>
        <p:nvSpPr>
          <p:cNvPr id="13" name="Text 11"/>
          <p:cNvSpPr/>
          <p:nvPr/>
        </p:nvSpPr>
        <p:spPr>
          <a:xfrm>
            <a:off x="6197600" y="4227513"/>
            <a:ext cx="1143000" cy="289520"/>
          </a:xfrm>
          <a:prstGeom prst="roundRect">
            <a:avLst>
              <a:gd name="adj" fmla="val 17546"/>
            </a:avLst>
          </a:prstGeom>
          <a:solidFill>
            <a:srgbClr val="EFEBE1"/>
          </a:solidFill>
          <a:ln/>
        </p:spPr>
        <p:txBody>
          <a:bodyPr wrap="square" lIns="61321" tIns="23221" rIns="10521"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-e</a:t>
            </a:r>
            <a:endParaRPr lang="en-US" sz="1200" dirty="0"/>
          </a:p>
        </p:txBody>
      </p:sp>
      <p:sp>
        <p:nvSpPr>
          <p:cNvPr id="14" name="Text 12"/>
          <p:cNvSpPr/>
          <p:nvPr/>
        </p:nvSpPr>
        <p:spPr>
          <a:xfrm>
            <a:off x="7543800" y="4227513"/>
            <a:ext cx="46024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Enlace a src/: los cambios en core.py se ven al instante.</a:t>
            </a:r>
            <a:endParaRPr lang="en-US" sz="1200" dirty="0"/>
          </a:p>
        </p:txBody>
      </p:sp>
      <p:sp>
        <p:nvSpPr>
          <p:cNvPr id="15" name="Text 13"/>
          <p:cNvSpPr/>
          <p:nvPr/>
        </p:nvSpPr>
        <p:spPr>
          <a:xfrm>
            <a:off x="6197600" y="4605933"/>
            <a:ext cx="1143000" cy="289520"/>
          </a:xfrm>
          <a:prstGeom prst="roundRect">
            <a:avLst>
              <a:gd name="adj" fmla="val 17546"/>
            </a:avLst>
          </a:prstGeom>
          <a:solidFill>
            <a:srgbClr val="EFEBE1"/>
          </a:solidFill>
          <a:ln/>
        </p:spPr>
        <p:txBody>
          <a:bodyPr wrap="square" lIns="61321" tIns="23221" rIns="10521"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[gui,dev]</a:t>
            </a:r>
            <a:endParaRPr lang="en-US" sz="1200" dirty="0"/>
          </a:p>
        </p:txBody>
      </p:sp>
      <p:sp>
        <p:nvSpPr>
          <p:cNvPr id="16" name="Text 14"/>
          <p:cNvSpPr/>
          <p:nvPr/>
        </p:nvSpPr>
        <p:spPr>
          <a:xfrm>
            <a:off x="7543800" y="4605933"/>
            <a:ext cx="39504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Añade matplotlib, pytest, build y twine.</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En cada terminal nueva: activar el entorno · el prompt debe mostrar (.venv)</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Seis pasos para publicar</a:t>
            </a:r>
            <a:endParaRPr lang="en-US" sz="3000" dirty="0"/>
          </a:p>
        </p:txBody>
      </p:sp>
      <p:sp>
        <p:nvSpPr>
          <p:cNvPr id="4" name="Shape 2"/>
          <p:cNvSpPr/>
          <p:nvPr/>
        </p:nvSpPr>
        <p:spPr>
          <a:xfrm>
            <a:off x="815975" y="1873845"/>
            <a:ext cx="3380284" cy="1398191"/>
          </a:xfrm>
          <a:prstGeom prst="roundRect">
            <a:avLst>
              <a:gd name="adj" fmla="val 7039"/>
            </a:avLst>
          </a:prstGeom>
          <a:solidFill>
            <a:srgbClr val="FDFCF8"/>
          </a:solidFill>
          <a:ln w="6350">
            <a:solidFill>
              <a:srgbClr val="E2DED3"/>
            </a:solidFill>
            <a:prstDash val="solid"/>
          </a:ln>
        </p:spPr>
      </p:sp>
      <p:sp>
        <p:nvSpPr>
          <p:cNvPr id="5" name="Text 3"/>
          <p:cNvSpPr/>
          <p:nvPr/>
        </p:nvSpPr>
        <p:spPr>
          <a:xfrm>
            <a:off x="1022350" y="2080220"/>
            <a:ext cx="30565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1A"/>
                </a:solidFill>
                <a:latin typeface="Rubik" pitchFamily="34" charset="0"/>
                <a:ea typeface="Rubik" pitchFamily="34" charset="-122"/>
                <a:cs typeface="Rubik" pitchFamily="34" charset="-120"/>
              </a:rPr>
              <a:t>1</a:t>
            </a:r>
            <a:endParaRPr lang="en-US" sz="2200" dirty="0"/>
          </a:p>
        </p:txBody>
      </p:sp>
      <p:sp>
        <p:nvSpPr>
          <p:cNvPr id="6" name="Text 4"/>
          <p:cNvSpPr/>
          <p:nvPr/>
        </p:nvSpPr>
        <p:spPr>
          <a:xfrm>
            <a:off x="1022350" y="2547541"/>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Nombre y versión</a:t>
            </a:r>
            <a:endParaRPr lang="en-US" sz="1500" dirty="0"/>
          </a:p>
        </p:txBody>
      </p:sp>
      <p:sp>
        <p:nvSpPr>
          <p:cNvPr id="7" name="Text 5"/>
          <p:cNvSpPr/>
          <p:nvPr/>
        </p:nvSpPr>
        <p:spPr>
          <a:xfrm>
            <a:off x="1022350" y="2852341"/>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editar pyproject.toml</a:t>
            </a:r>
            <a:endParaRPr lang="en-US" sz="1200" dirty="0"/>
          </a:p>
        </p:txBody>
      </p:sp>
      <p:sp>
        <p:nvSpPr>
          <p:cNvPr id="8" name="Shape 6"/>
          <p:cNvSpPr/>
          <p:nvPr/>
        </p:nvSpPr>
        <p:spPr>
          <a:xfrm>
            <a:off x="4405809" y="1873845"/>
            <a:ext cx="3380284" cy="1398191"/>
          </a:xfrm>
          <a:prstGeom prst="roundRect">
            <a:avLst>
              <a:gd name="adj" fmla="val 7039"/>
            </a:avLst>
          </a:prstGeom>
          <a:solidFill>
            <a:srgbClr val="FDFCF8"/>
          </a:solidFill>
          <a:ln w="6350">
            <a:solidFill>
              <a:srgbClr val="E2DED3"/>
            </a:solidFill>
            <a:prstDash val="solid"/>
          </a:ln>
        </p:spPr>
      </p:sp>
      <p:sp>
        <p:nvSpPr>
          <p:cNvPr id="9" name="Text 7"/>
          <p:cNvSpPr/>
          <p:nvPr/>
        </p:nvSpPr>
        <p:spPr>
          <a:xfrm>
            <a:off x="4612184" y="2080220"/>
            <a:ext cx="30565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1A"/>
                </a:solidFill>
                <a:latin typeface="Rubik" pitchFamily="34" charset="0"/>
                <a:ea typeface="Rubik" pitchFamily="34" charset="-122"/>
                <a:cs typeface="Rubik" pitchFamily="34" charset="-120"/>
              </a:rPr>
              <a:t>2</a:t>
            </a:r>
            <a:endParaRPr lang="en-US" sz="2200" dirty="0"/>
          </a:p>
        </p:txBody>
      </p:sp>
      <p:sp>
        <p:nvSpPr>
          <p:cNvPr id="10" name="Text 8"/>
          <p:cNvSpPr/>
          <p:nvPr/>
        </p:nvSpPr>
        <p:spPr>
          <a:xfrm>
            <a:off x="4612184" y="2547541"/>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Construir</a:t>
            </a:r>
            <a:endParaRPr lang="en-US" sz="1500" dirty="0"/>
          </a:p>
        </p:txBody>
      </p:sp>
      <p:sp>
        <p:nvSpPr>
          <p:cNvPr id="11" name="Text 9"/>
          <p:cNvSpPr/>
          <p:nvPr/>
        </p:nvSpPr>
        <p:spPr>
          <a:xfrm>
            <a:off x="4612184" y="2852341"/>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python -m build</a:t>
            </a:r>
            <a:endParaRPr lang="en-US" sz="1200" dirty="0"/>
          </a:p>
        </p:txBody>
      </p:sp>
      <p:sp>
        <p:nvSpPr>
          <p:cNvPr id="12" name="Shape 10"/>
          <p:cNvSpPr/>
          <p:nvPr/>
        </p:nvSpPr>
        <p:spPr>
          <a:xfrm>
            <a:off x="7995642" y="1873845"/>
            <a:ext cx="3380284" cy="1398191"/>
          </a:xfrm>
          <a:prstGeom prst="roundRect">
            <a:avLst>
              <a:gd name="adj" fmla="val 7039"/>
            </a:avLst>
          </a:prstGeom>
          <a:solidFill>
            <a:srgbClr val="FDFCF8"/>
          </a:solidFill>
          <a:ln w="6350">
            <a:solidFill>
              <a:srgbClr val="E2DED3"/>
            </a:solidFill>
            <a:prstDash val="solid"/>
          </a:ln>
        </p:spPr>
      </p:sp>
      <p:sp>
        <p:nvSpPr>
          <p:cNvPr id="13" name="Text 11"/>
          <p:cNvSpPr/>
          <p:nvPr/>
        </p:nvSpPr>
        <p:spPr>
          <a:xfrm>
            <a:off x="8202017" y="2080220"/>
            <a:ext cx="30565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1A"/>
                </a:solidFill>
                <a:latin typeface="Rubik" pitchFamily="34" charset="0"/>
                <a:ea typeface="Rubik" pitchFamily="34" charset="-122"/>
                <a:cs typeface="Rubik" pitchFamily="34" charset="-120"/>
              </a:rPr>
              <a:t>3</a:t>
            </a:r>
            <a:endParaRPr lang="en-US" sz="2200" dirty="0"/>
          </a:p>
        </p:txBody>
      </p:sp>
      <p:sp>
        <p:nvSpPr>
          <p:cNvPr id="14" name="Text 12"/>
          <p:cNvSpPr/>
          <p:nvPr/>
        </p:nvSpPr>
        <p:spPr>
          <a:xfrm>
            <a:off x="8202017" y="2547541"/>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Revisar</a:t>
            </a:r>
            <a:endParaRPr lang="en-US" sz="1500" dirty="0"/>
          </a:p>
        </p:txBody>
      </p:sp>
      <p:sp>
        <p:nvSpPr>
          <p:cNvPr id="15" name="Text 13"/>
          <p:cNvSpPr/>
          <p:nvPr/>
        </p:nvSpPr>
        <p:spPr>
          <a:xfrm>
            <a:off x="8202017" y="2852341"/>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python -m twine check dist/*</a:t>
            </a:r>
            <a:endParaRPr lang="en-US" sz="1200" dirty="0"/>
          </a:p>
        </p:txBody>
      </p:sp>
      <p:sp>
        <p:nvSpPr>
          <p:cNvPr id="16" name="Shape 14"/>
          <p:cNvSpPr/>
          <p:nvPr/>
        </p:nvSpPr>
        <p:spPr>
          <a:xfrm>
            <a:off x="815975" y="3481586"/>
            <a:ext cx="3380284" cy="1611511"/>
          </a:xfrm>
          <a:prstGeom prst="roundRect">
            <a:avLst>
              <a:gd name="adj" fmla="val 6108"/>
            </a:avLst>
          </a:prstGeom>
          <a:solidFill>
            <a:srgbClr val="FDFCF8"/>
          </a:solidFill>
          <a:ln w="6350">
            <a:solidFill>
              <a:srgbClr val="E2DED3"/>
            </a:solidFill>
            <a:prstDash val="solid"/>
          </a:ln>
        </p:spPr>
      </p:sp>
      <p:sp>
        <p:nvSpPr>
          <p:cNvPr id="17" name="Text 15"/>
          <p:cNvSpPr/>
          <p:nvPr/>
        </p:nvSpPr>
        <p:spPr>
          <a:xfrm>
            <a:off x="1022350" y="3687961"/>
            <a:ext cx="30565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1A"/>
                </a:solidFill>
                <a:latin typeface="Rubik" pitchFamily="34" charset="0"/>
                <a:ea typeface="Rubik" pitchFamily="34" charset="-122"/>
                <a:cs typeface="Rubik" pitchFamily="34" charset="-120"/>
              </a:rPr>
              <a:t>4</a:t>
            </a:r>
            <a:endParaRPr lang="en-US" sz="2200" dirty="0"/>
          </a:p>
        </p:txBody>
      </p:sp>
      <p:sp>
        <p:nvSpPr>
          <p:cNvPr id="18" name="Text 16"/>
          <p:cNvSpPr/>
          <p:nvPr/>
        </p:nvSpPr>
        <p:spPr>
          <a:xfrm>
            <a:off x="1022350" y="4155281"/>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Ensayar en TestPyPI</a:t>
            </a:r>
            <a:endParaRPr lang="en-US" sz="1500" dirty="0"/>
          </a:p>
        </p:txBody>
      </p:sp>
      <p:sp>
        <p:nvSpPr>
          <p:cNvPr id="19" name="Text 17"/>
          <p:cNvSpPr/>
          <p:nvPr/>
        </p:nvSpPr>
        <p:spPr>
          <a:xfrm>
            <a:off x="1022350" y="4460081"/>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twine upload --repository testpypi dist/*</a:t>
            </a:r>
            <a:endParaRPr lang="en-US" sz="1200" dirty="0"/>
          </a:p>
        </p:txBody>
      </p:sp>
      <p:sp>
        <p:nvSpPr>
          <p:cNvPr id="20" name="Shape 18"/>
          <p:cNvSpPr/>
          <p:nvPr/>
        </p:nvSpPr>
        <p:spPr>
          <a:xfrm>
            <a:off x="4405809" y="3481586"/>
            <a:ext cx="3380284" cy="1611511"/>
          </a:xfrm>
          <a:prstGeom prst="roundRect">
            <a:avLst>
              <a:gd name="adj" fmla="val 6108"/>
            </a:avLst>
          </a:prstGeom>
          <a:solidFill>
            <a:srgbClr val="FDFCF8"/>
          </a:solidFill>
          <a:ln w="6350">
            <a:solidFill>
              <a:srgbClr val="E2DED3"/>
            </a:solidFill>
            <a:prstDash val="solid"/>
          </a:ln>
        </p:spPr>
      </p:sp>
      <p:sp>
        <p:nvSpPr>
          <p:cNvPr id="21" name="Text 19"/>
          <p:cNvSpPr/>
          <p:nvPr/>
        </p:nvSpPr>
        <p:spPr>
          <a:xfrm>
            <a:off x="4612184" y="3687961"/>
            <a:ext cx="30565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1A"/>
                </a:solidFill>
                <a:latin typeface="Rubik" pitchFamily="34" charset="0"/>
                <a:ea typeface="Rubik" pitchFamily="34" charset="-122"/>
                <a:cs typeface="Rubik" pitchFamily="34" charset="-120"/>
              </a:rPr>
              <a:t>5</a:t>
            </a:r>
            <a:endParaRPr lang="en-US" sz="2200" dirty="0"/>
          </a:p>
        </p:txBody>
      </p:sp>
      <p:sp>
        <p:nvSpPr>
          <p:cNvPr id="22" name="Text 20"/>
          <p:cNvSpPr/>
          <p:nvPr/>
        </p:nvSpPr>
        <p:spPr>
          <a:xfrm>
            <a:off x="4612184" y="4155281"/>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Probar la instalación</a:t>
            </a:r>
            <a:endParaRPr lang="en-US" sz="1500" dirty="0"/>
          </a:p>
        </p:txBody>
      </p:sp>
      <p:sp>
        <p:nvSpPr>
          <p:cNvPr id="23" name="Text 21"/>
          <p:cNvSpPr/>
          <p:nvPr/>
        </p:nvSpPr>
        <p:spPr>
          <a:xfrm>
            <a:off x="4612184" y="4460081"/>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pip install -i https://test.pypi.org/simple/ …</a:t>
            </a:r>
            <a:endParaRPr lang="en-US" sz="1200" dirty="0"/>
          </a:p>
        </p:txBody>
      </p:sp>
      <p:sp>
        <p:nvSpPr>
          <p:cNvPr id="24" name="Shape 22"/>
          <p:cNvSpPr/>
          <p:nvPr/>
        </p:nvSpPr>
        <p:spPr>
          <a:xfrm>
            <a:off x="7995642" y="3481586"/>
            <a:ext cx="3380284" cy="1611511"/>
          </a:xfrm>
          <a:prstGeom prst="roundRect">
            <a:avLst>
              <a:gd name="adj" fmla="val 6108"/>
            </a:avLst>
          </a:prstGeom>
          <a:solidFill>
            <a:srgbClr val="FDFCF8"/>
          </a:solidFill>
          <a:ln w="6350">
            <a:solidFill>
              <a:srgbClr val="E2DED3"/>
            </a:solidFill>
            <a:prstDash val="solid"/>
          </a:ln>
        </p:spPr>
      </p:sp>
      <p:sp>
        <p:nvSpPr>
          <p:cNvPr id="25" name="Text 23"/>
          <p:cNvSpPr/>
          <p:nvPr/>
        </p:nvSpPr>
        <p:spPr>
          <a:xfrm>
            <a:off x="8202017" y="3687961"/>
            <a:ext cx="30565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31A"/>
                </a:solidFill>
                <a:latin typeface="Rubik" pitchFamily="34" charset="0"/>
                <a:ea typeface="Rubik" pitchFamily="34" charset="-122"/>
                <a:cs typeface="Rubik" pitchFamily="34" charset="-120"/>
              </a:rPr>
              <a:t>6</a:t>
            </a:r>
            <a:endParaRPr lang="en-US" sz="2200" dirty="0"/>
          </a:p>
        </p:txBody>
      </p:sp>
      <p:sp>
        <p:nvSpPr>
          <p:cNvPr id="26" name="Text 24"/>
          <p:cNvSpPr/>
          <p:nvPr/>
        </p:nvSpPr>
        <p:spPr>
          <a:xfrm>
            <a:off x="8202017" y="4155281"/>
            <a:ext cx="30565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Publicar</a:t>
            </a:r>
            <a:endParaRPr lang="en-US" sz="1500" dirty="0"/>
          </a:p>
        </p:txBody>
      </p:sp>
      <p:sp>
        <p:nvSpPr>
          <p:cNvPr id="27" name="Text 25"/>
          <p:cNvSpPr/>
          <p:nvPr/>
        </p:nvSpPr>
        <p:spPr>
          <a:xfrm>
            <a:off x="8202017" y="4460081"/>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JetBrains Mono" pitchFamily="49" charset="0"/>
                <a:ea typeface="JetBrains Mono" pitchFamily="49" charset="-122"/>
                <a:cs typeface="JetBrains Mono" pitchFamily="49" charset="-120"/>
              </a:rPr>
              <a:t>python -m twine upload dist/*</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Usuario: __token__ · contraseña: el token de API · cada versión se sube una sola vez</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Paso 1: la información va en pyproject.toml</a:t>
            </a:r>
            <a:endParaRPr lang="en-US" sz="3000" dirty="0"/>
          </a:p>
        </p:txBody>
      </p:sp>
      <p:sp>
        <p:nvSpPr>
          <p:cNvPr id="4" name="Text 2"/>
          <p:cNvSpPr/>
          <p:nvPr/>
        </p:nvSpPr>
        <p:spPr>
          <a:xfrm>
            <a:off x="812800" y="1870670"/>
            <a:ext cx="6858000" cy="2752923"/>
          </a:xfrm>
          <a:prstGeom prst="roundRect">
            <a:avLst>
              <a:gd name="adj" fmla="val 3691"/>
            </a:avLst>
          </a:prstGeom>
          <a:solidFill>
            <a:srgbClr val="14213D"/>
          </a:solidFill>
          <a:ln/>
        </p:spPr>
        <p:txBody>
          <a:bodyPr wrap="none" lIns="224242" tIns="173442" rIns="33742"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name = "circuitos-cuanticos-sunombre"     </a:t>
            </a:r>
            <a:r>
              <a:rPr lang="en-US" sz="1200" dirty="0">
                <a:solidFill>
                  <a:srgbClr val="8DA2BF"/>
                </a:solidFill>
                <a:latin typeface="JetBrains Mono" pitchFamily="49" charset="0"/>
                <a:ea typeface="JetBrains Mono" pitchFamily="49" charset="-122"/>
                <a:cs typeface="JetBrains Mono" pitchFamily="49" charset="-120"/>
              </a:rPr>
              <a:t># URL y pip install</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version = "0.1.0"                         </a:t>
            </a:r>
            <a:r>
              <a:rPr lang="en-US" sz="1200" dirty="0">
                <a:solidFill>
                  <a:srgbClr val="8DA2BF"/>
                </a:solidFill>
                <a:latin typeface="JetBrains Mono" pitchFamily="49" charset="0"/>
                <a:ea typeface="JetBrains Mono" pitchFamily="49" charset="-122"/>
                <a:cs typeface="JetBrains Mono" pitchFamily="49" charset="-120"/>
              </a:rPr>
              <a:t># cambia en cada envío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description = "Simulador de circuitos"    </a:t>
            </a:r>
            <a:r>
              <a:rPr lang="en-US" sz="1200" dirty="0">
                <a:solidFill>
                  <a:srgbClr val="8DA2BF"/>
                </a:solidFill>
                <a:latin typeface="JetBrains Mono" pitchFamily="49" charset="0"/>
                <a:ea typeface="JetBrains Mono" pitchFamily="49" charset="-122"/>
                <a:cs typeface="JetBrains Mono" pitchFamily="49" charset="-120"/>
              </a:rPr>
              <a:t># subtítulo de la página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readme = "README.md"                      </a:t>
            </a:r>
            <a:r>
              <a:rPr lang="en-US" sz="1200" dirty="0">
                <a:solidFill>
                  <a:srgbClr val="8DA2BF"/>
                </a:solidFill>
                <a:latin typeface="JetBrains Mono" pitchFamily="49" charset="0"/>
                <a:ea typeface="JetBrains Mono" pitchFamily="49" charset="-122"/>
                <a:cs typeface="JetBrains Mono" pitchFamily="49" charset="-120"/>
              </a:rPr>
              <a:t># cuerpo de la página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authors = [{ name = "Su Nombre", email = "su@correo.com"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license = "MIT"</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dependencies = ["numpy&gt;=1.22"]            </a:t>
            </a:r>
            <a:r>
              <a:rPr lang="en-US" sz="1200" dirty="0">
                <a:solidFill>
                  <a:srgbClr val="8DA2BF"/>
                </a:solidFill>
                <a:latin typeface="JetBrains Mono" pitchFamily="49" charset="0"/>
                <a:ea typeface="JetBrains Mono" pitchFamily="49" charset="-122"/>
                <a:cs typeface="JetBrains Mono" pitchFamily="49" charset="-120"/>
              </a:rPr>
              <a:t># pip las instala solo</a:t>
            </a:r>
            <a:endParaRPr lang="en-US" sz="1200" dirty="0"/>
          </a:p>
          <a:p>
            <a:pPr marL="0" indent="0" algn="l">
              <a:lnSpc>
                <a:spcPts val="1680"/>
              </a:lnSpc>
              <a:buNone/>
            </a:pP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[project.urls]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Homepage = "https://github.com/su_usuario/circuitos-cuanticos"</a:t>
            </a:r>
            <a:endParaRPr lang="en-US" sz="1200" dirty="0"/>
          </a:p>
        </p:txBody>
      </p:sp>
      <p:sp>
        <p:nvSpPr>
          <p:cNvPr id="5" name="Shape 3"/>
          <p:cNvSpPr/>
          <p:nvPr/>
        </p:nvSpPr>
        <p:spPr>
          <a:xfrm>
            <a:off x="7877175" y="1873845"/>
            <a:ext cx="3498850" cy="1357511"/>
          </a:xfrm>
          <a:prstGeom prst="roundRect">
            <a:avLst>
              <a:gd name="adj" fmla="val 7250"/>
            </a:avLst>
          </a:prstGeom>
          <a:solidFill>
            <a:srgbClr val="FDFCF8"/>
          </a:solidFill>
          <a:ln w="6350">
            <a:solidFill>
              <a:srgbClr val="E2DED3"/>
            </a:solidFill>
            <a:prstDash val="solid"/>
          </a:ln>
        </p:spPr>
      </p:sp>
      <p:sp>
        <p:nvSpPr>
          <p:cNvPr id="6" name="Text 4"/>
          <p:cNvSpPr/>
          <p:nvPr/>
        </p:nvSpPr>
        <p:spPr>
          <a:xfrm>
            <a:off x="8083550" y="2080220"/>
            <a:ext cx="317868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Mismo archivo, dos destinos</a:t>
            </a:r>
            <a:endParaRPr lang="en-US" sz="1500" dirty="0"/>
          </a:p>
        </p:txBody>
      </p:sp>
      <p:sp>
        <p:nvSpPr>
          <p:cNvPr id="7" name="Text 5"/>
          <p:cNvSpPr/>
          <p:nvPr/>
        </p:nvSpPr>
        <p:spPr>
          <a:xfrm>
            <a:off x="8083550" y="2385020"/>
            <a:ext cx="317868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TestPyPI y PyPI leen el mismo pyproject.toml. Sólo cambia el comando twine.</a:t>
            </a:r>
            <a:endParaRPr lang="en-US" sz="1200" dirty="0"/>
          </a:p>
        </p:txBody>
      </p:sp>
      <p:sp>
        <p:nvSpPr>
          <p:cNvPr id="8" name="Shape 6"/>
          <p:cNvSpPr/>
          <p:nvPr/>
        </p:nvSpPr>
        <p:spPr>
          <a:xfrm>
            <a:off x="7874000" y="3386931"/>
            <a:ext cx="3505200" cy="1137841"/>
          </a:xfrm>
          <a:prstGeom prst="roundRect">
            <a:avLst>
              <a:gd name="adj" fmla="val 8929"/>
            </a:avLst>
          </a:prstGeom>
          <a:solidFill>
            <a:srgbClr val="14213D"/>
          </a:solidFill>
          <a:ln/>
        </p:spPr>
      </p:sp>
      <p:sp>
        <p:nvSpPr>
          <p:cNvPr id="9" name="Text 7"/>
          <p:cNvSpPr/>
          <p:nvPr/>
        </p:nvSpPr>
        <p:spPr>
          <a:xfrm>
            <a:off x="8077200" y="3590131"/>
            <a:ext cx="31917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Versión en dos lugares</a:t>
            </a:r>
            <a:endParaRPr lang="en-US" sz="1500" dirty="0"/>
          </a:p>
        </p:txBody>
      </p:sp>
      <p:sp>
        <p:nvSpPr>
          <p:cNvPr id="10" name="Text 8"/>
          <p:cNvSpPr/>
          <p:nvPr/>
        </p:nvSpPr>
        <p:spPr>
          <a:xfrm>
            <a:off x="8077200" y="3894931"/>
            <a:ext cx="319176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version en pyproject.toml y __version__ en __init__.py deben decir lo mismo.</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Archivo: circuitos-cuanticos/pyproject.toml · se edita con cualquier editor de texto</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Pasos 2 y 3: construir y revisar en consola</a:t>
            </a:r>
            <a:endParaRPr lang="en-US" sz="3000" dirty="0"/>
          </a:p>
        </p:txBody>
      </p:sp>
      <p:sp>
        <p:nvSpPr>
          <p:cNvPr id="4" name="Text 2"/>
          <p:cNvSpPr/>
          <p:nvPr/>
        </p:nvSpPr>
        <p:spPr>
          <a:xfrm>
            <a:off x="812800" y="1870670"/>
            <a:ext cx="6350000" cy="2966244"/>
          </a:xfrm>
          <a:prstGeom prst="roundRect">
            <a:avLst>
              <a:gd name="adj" fmla="val 3425"/>
            </a:avLst>
          </a:prstGeom>
          <a:solidFill>
            <a:srgbClr val="14213D"/>
          </a:solidFill>
          <a:ln/>
        </p:spPr>
        <p:txBody>
          <a:bodyPr wrap="none" lIns="224242" tIns="173442" rIns="48982" bIns="148042" rtlCol="0" anchor="t">
            <a:normAutofit/>
          </a:bodyPr>
          <a:lstStyle/>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0. Ubicarse en el proyecto y activar el entorno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cd C:\Users\Usuario\proyectos\circuitos-cuanticos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.\.venv\Scripts\Activate.ps1</a:t>
            </a:r>
            <a:endParaRPr lang="en-US" sz="1200" dirty="0"/>
          </a:p>
          <a:p>
            <a:pPr marL="0" indent="0" algn="l">
              <a:lnSpc>
                <a:spcPts val="1680"/>
              </a:lnSpc>
              <a:buNone/>
            </a:pP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1. Borrar construcciones anteriores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Remove-Item -Recurse -Force dist -ErrorAction SilentlyContinue</a:t>
            </a:r>
            <a:endParaRPr lang="en-US" sz="1200" dirty="0"/>
          </a:p>
          <a:p>
            <a:pPr marL="0" indent="0" algn="l">
              <a:lnSpc>
                <a:spcPts val="1680"/>
              </a:lnSpc>
              <a:buNone/>
            </a:pP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2. Construir el paquete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build</a:t>
            </a:r>
            <a:endParaRPr lang="en-US" sz="1200" dirty="0"/>
          </a:p>
          <a:p>
            <a:pPr marL="0" indent="0" algn="l">
              <a:lnSpc>
                <a:spcPts val="1680"/>
              </a:lnSpc>
              <a:buNone/>
            </a:pP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3. Revisar que PyPI lo aceptará</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twine check dist/*</a:t>
            </a:r>
            <a:endParaRPr lang="en-US" sz="1200" dirty="0"/>
          </a:p>
        </p:txBody>
      </p:sp>
      <p:sp>
        <p:nvSpPr>
          <p:cNvPr id="5" name="Text 3"/>
          <p:cNvSpPr/>
          <p:nvPr/>
        </p:nvSpPr>
        <p:spPr>
          <a:xfrm>
            <a:off x="7366000" y="1870670"/>
            <a:ext cx="413359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3"/>
                </a:solidFill>
                <a:latin typeface="IBM Plex Sans" pitchFamily="34" charset="0"/>
                <a:ea typeface="IBM Plex Sans" pitchFamily="34" charset="-122"/>
                <a:cs typeface="IBM Plex Sans" pitchFamily="34" charset="-120"/>
              </a:rPr>
              <a:t>RESULTADO EN LA CARPETA DIST/</a:t>
            </a:r>
            <a:endParaRPr lang="en-US" sz="1200" dirty="0"/>
          </a:p>
        </p:txBody>
      </p:sp>
      <p:sp>
        <p:nvSpPr>
          <p:cNvPr id="6" name="Text 4"/>
          <p:cNvSpPr/>
          <p:nvPr/>
        </p:nvSpPr>
        <p:spPr>
          <a:xfrm>
            <a:off x="7366000" y="2185591"/>
            <a:ext cx="1130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CÓDIGO</a:t>
            </a:r>
            <a:endParaRPr lang="en-US" sz="1200" dirty="0"/>
          </a:p>
        </p:txBody>
      </p:sp>
      <p:sp>
        <p:nvSpPr>
          <p:cNvPr id="7" name="Text 5"/>
          <p:cNvSpPr/>
          <p:nvPr/>
        </p:nvSpPr>
        <p:spPr>
          <a:xfrm>
            <a:off x="8648700" y="2185591"/>
            <a:ext cx="281241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QUÉ SIGNIFICA</a:t>
            </a:r>
            <a:endParaRPr lang="en-US" sz="1200" dirty="0"/>
          </a:p>
        </p:txBody>
      </p:sp>
      <p:sp>
        <p:nvSpPr>
          <p:cNvPr id="8" name="Text 6"/>
          <p:cNvSpPr/>
          <p:nvPr/>
        </p:nvSpPr>
        <p:spPr>
          <a:xfrm>
            <a:off x="7366000" y="2487811"/>
            <a:ext cx="1079500" cy="289520"/>
          </a:xfrm>
          <a:prstGeom prst="roundRect">
            <a:avLst>
              <a:gd name="adj" fmla="val 17546"/>
            </a:avLst>
          </a:prstGeom>
          <a:solidFill>
            <a:srgbClr val="EFEBE1"/>
          </a:solidFill>
          <a:ln/>
        </p:spPr>
        <p:txBody>
          <a:bodyPr wrap="square" lIns="61321" tIns="23221" rIns="10521"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….tar.gz</a:t>
            </a:r>
            <a:endParaRPr lang="en-US" sz="1200" dirty="0"/>
          </a:p>
        </p:txBody>
      </p:sp>
      <p:sp>
        <p:nvSpPr>
          <p:cNvPr id="9" name="Text 7"/>
          <p:cNvSpPr/>
          <p:nvPr/>
        </p:nvSpPr>
        <p:spPr>
          <a:xfrm>
            <a:off x="8648700" y="2487811"/>
            <a:ext cx="281241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Código fuente (sdist).</a:t>
            </a:r>
            <a:endParaRPr lang="en-US" sz="1200" dirty="0"/>
          </a:p>
        </p:txBody>
      </p:sp>
      <p:sp>
        <p:nvSpPr>
          <p:cNvPr id="10" name="Text 8"/>
          <p:cNvSpPr/>
          <p:nvPr/>
        </p:nvSpPr>
        <p:spPr>
          <a:xfrm>
            <a:off x="7366000" y="2866231"/>
            <a:ext cx="1079500" cy="289520"/>
          </a:xfrm>
          <a:prstGeom prst="roundRect">
            <a:avLst>
              <a:gd name="adj" fmla="val 17546"/>
            </a:avLst>
          </a:prstGeom>
          <a:solidFill>
            <a:srgbClr val="EFEBE1"/>
          </a:solidFill>
          <a:ln/>
        </p:spPr>
        <p:txBody>
          <a:bodyPr wrap="square" lIns="61321" tIns="23221" rIns="10521"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….whl</a:t>
            </a:r>
            <a:endParaRPr lang="en-US" sz="1200" dirty="0"/>
          </a:p>
        </p:txBody>
      </p:sp>
      <p:sp>
        <p:nvSpPr>
          <p:cNvPr id="11" name="Text 9"/>
          <p:cNvSpPr/>
          <p:nvPr/>
        </p:nvSpPr>
        <p:spPr>
          <a:xfrm>
            <a:off x="8648700" y="2866231"/>
            <a:ext cx="281241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La rueda (wheel): lo que pip instala.</a:t>
            </a:r>
            <a:endParaRPr lang="en-US" sz="1200" dirty="0"/>
          </a:p>
        </p:txBody>
      </p:sp>
      <p:sp>
        <p:nvSpPr>
          <p:cNvPr id="12" name="Text 10"/>
          <p:cNvSpPr/>
          <p:nvPr/>
        </p:nvSpPr>
        <p:spPr>
          <a:xfrm>
            <a:off x="7366000" y="3244652"/>
            <a:ext cx="1079500" cy="289520"/>
          </a:xfrm>
          <a:prstGeom prst="roundRect">
            <a:avLst>
              <a:gd name="adj" fmla="val 17546"/>
            </a:avLst>
          </a:prstGeom>
          <a:solidFill>
            <a:srgbClr val="EFEBE1"/>
          </a:solidFill>
          <a:ln/>
        </p:spPr>
        <p:txBody>
          <a:bodyPr wrap="square" lIns="61321" tIns="23221" rIns="10521"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PASSED</a:t>
            </a:r>
            <a:endParaRPr lang="en-US" sz="1200" dirty="0"/>
          </a:p>
        </p:txBody>
      </p:sp>
      <p:sp>
        <p:nvSpPr>
          <p:cNvPr id="13" name="Text 11"/>
          <p:cNvSpPr/>
          <p:nvPr/>
        </p:nvSpPr>
        <p:spPr>
          <a:xfrm>
            <a:off x="8648700" y="3244652"/>
            <a:ext cx="281241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twine check aprobó los metadatos y el README.</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Todos los comandos se escriben en PowerShell, dentro de la carpeta del proyecto, con (.venv) activo</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Antes de subir: dos cuentas y dos tokens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6210300" cy="1995486"/>
        </p:xfrm>
        <a:graphic>
          <a:graphicData uri="http://schemas.openxmlformats.org/drawingml/2006/table">
            <a:tbl>
              <a:tblPr/>
              <a:tblGrid>
                <a:gridCol w="1242060">
                  <a:extLst>
                    <a:ext uri="{9D8B030D-6E8A-4147-A177-3AD203B41FA5}">
                      <a16:colId xmlns:a16="http://schemas.microsoft.com/office/drawing/2014/main" val="20000"/>
                    </a:ext>
                  </a:extLst>
                </a:gridCol>
                <a:gridCol w="2484120">
                  <a:extLst>
                    <a:ext uri="{9D8B030D-6E8A-4147-A177-3AD203B41FA5}">
                      <a16:colId xmlns:a16="http://schemas.microsoft.com/office/drawing/2014/main" val="20001"/>
                    </a:ext>
                  </a:extLst>
                </a:gridCol>
                <a:gridCol w="2484120">
                  <a:extLst>
                    <a:ext uri="{9D8B030D-6E8A-4147-A177-3AD203B41FA5}">
                      <a16:colId xmlns:a16="http://schemas.microsoft.com/office/drawing/2014/main" val="20002"/>
                    </a:ext>
                  </a:extLst>
                </a:gridCol>
              </a:tblGrid>
              <a:tr h="332581">
                <a:tc>
                  <a:txBody>
                    <a:bodyPr/>
                    <a:lstStyle/>
                    <a:p>
                      <a:pPr marL="0" indent="0">
                        <a:lnSpc>
                          <a:spcPts val="1680"/>
                        </a:lnSpc>
                        <a:buNone/>
                      </a:pP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TestPyPI · ensayo</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PyPI · real</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Sitio</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test.pypi.org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pypi.org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Cuenta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Registro propio</a:t>
                      </a:r>
                      <a:endParaRPr lang="en-US" sz="1200" dirty="0">
                        <a:latin typeface="IBM Plex Sans" charset="0"/>
                        <a:ea typeface="IBM Plex Sans" charset="0"/>
                        <a:cs typeface="IBM Plex Sans"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Otro registro, independiente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Seguridad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2FA obligatoria</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2FA obligatoria</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Token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Account settings → API tokens</a:t>
                      </a:r>
                      <a:endParaRPr lang="en-US" sz="1200" dirty="0">
                        <a:latin typeface="IBM Plex Sans" charset="0"/>
                        <a:ea typeface="IBM Plex Sans" charset="0"/>
                        <a:cs typeface="IBM Plex Sans"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Account settings → API tokens</a:t>
                      </a:r>
                      <a:endParaRPr lang="en-US" sz="1200" dirty="0">
                        <a:latin typeface="IBM Plex Sans" charset="0"/>
                        <a:ea typeface="IBM Plex Sans" charset="0"/>
                        <a:cs typeface="IBM Plex Sans" charset="0"/>
                      </a:endParaRPr>
                    </a:p>
                  </a:txBody>
                  <a:tcPr marL="53340" marR="53340" marT="53340" marB="5334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Alcance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1.ª vez: Entire account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IBM Plex Sans" pitchFamily="34" charset="0"/>
                          <a:ea typeface="IBM Plex Sans" pitchFamily="34" charset="-122"/>
                          <a:cs typeface="IBM Plex Sans" pitchFamily="34" charset="-120"/>
                        </a:rPr>
                        <a:t>1.ª vez: Entire account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7239000" y="1870670"/>
            <a:ext cx="42644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3"/>
                </a:solidFill>
                <a:latin typeface="IBM Plex Sans" pitchFamily="34" charset="0"/>
                <a:ea typeface="IBM Plex Sans" pitchFamily="34" charset="-122"/>
                <a:cs typeface="IBM Plex Sans" pitchFamily="34" charset="-120"/>
              </a:rPr>
              <a:t>DÓNDE SE GUARDAN LOS TOKENS</a:t>
            </a:r>
            <a:endParaRPr lang="en-US" sz="1200" dirty="0"/>
          </a:p>
        </p:txBody>
      </p:sp>
      <p:sp>
        <p:nvSpPr>
          <p:cNvPr id="6" name="Text 3"/>
          <p:cNvSpPr/>
          <p:nvPr/>
        </p:nvSpPr>
        <p:spPr>
          <a:xfrm>
            <a:off x="7239000" y="2185591"/>
            <a:ext cx="42644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C:\Users\Usuario\.pypirc</a:t>
            </a:r>
            <a:endParaRPr lang="en-US" sz="1200" dirty="0"/>
          </a:p>
        </p:txBody>
      </p:sp>
      <p:sp>
        <p:nvSpPr>
          <p:cNvPr id="7" name="Text 4"/>
          <p:cNvSpPr/>
          <p:nvPr/>
        </p:nvSpPr>
        <p:spPr>
          <a:xfrm>
            <a:off x="7239000" y="2500511"/>
            <a:ext cx="4140200" cy="1899642"/>
          </a:xfrm>
          <a:prstGeom prst="roundRect">
            <a:avLst>
              <a:gd name="adj" fmla="val 5348"/>
            </a:avLst>
          </a:prstGeom>
          <a:solidFill>
            <a:srgbClr val="14213D"/>
          </a:solidFill>
          <a:ln/>
        </p:spPr>
        <p:txBody>
          <a:bodyPr wrap="none" lIns="224242" tIns="173442" rIns="115276" bIns="148042" rtlCol="0" anchor="t">
            <a:normAutofit/>
          </a:bodyPr>
          <a:lstStyle/>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[testpypi]</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username = __token__</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password = pypi-AgENdGVzdC5weXBp...</a:t>
            </a:r>
            <a:endParaRPr lang="en-US" sz="1200" dirty="0"/>
          </a:p>
          <a:p>
            <a:pPr marL="0" indent="0" algn="l">
              <a:lnSpc>
                <a:spcPts val="1680"/>
              </a:lnSpc>
              <a:buNone/>
            </a:pP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[pypi]</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username = __token__</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password = pypi-AgEIcHlwaS5vcmc...</a:t>
            </a:r>
            <a:endParaRPr lang="en-US" sz="1200" dirty="0"/>
          </a:p>
        </p:txBody>
      </p:sp>
      <p:sp>
        <p:nvSpPr>
          <p:cNvPr id="8" name="Text 5"/>
          <p:cNvSpPr/>
          <p:nvPr/>
        </p:nvSpPr>
        <p:spPr>
          <a:xfrm>
            <a:off x="7239000" y="4501753"/>
            <a:ext cx="42644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Cada token va en su sección. Nunca suba este archivo a GitHub.</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Los tokens de ejemplo están recortados: los reales son mucho más largos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Pasos 4 y 5: ensayo en TestPyPI</a:t>
            </a:r>
            <a:endParaRPr lang="en-US" sz="3000" dirty="0"/>
          </a:p>
        </p:txBody>
      </p:sp>
      <p:sp>
        <p:nvSpPr>
          <p:cNvPr id="4" name="Text 2"/>
          <p:cNvSpPr/>
          <p:nvPr/>
        </p:nvSpPr>
        <p:spPr>
          <a:xfrm>
            <a:off x="812800" y="1870670"/>
            <a:ext cx="7048500" cy="2966244"/>
          </a:xfrm>
          <a:prstGeom prst="roundRect">
            <a:avLst>
              <a:gd name="adj" fmla="val 3425"/>
            </a:avLst>
          </a:prstGeom>
          <a:solidFill>
            <a:srgbClr val="14213D"/>
          </a:solidFill>
          <a:ln/>
        </p:spPr>
        <p:txBody>
          <a:bodyPr wrap="none" lIns="224242" tIns="173442" rIns="28027" bIns="148042" rtlCol="0" anchor="t">
            <a:normAutofit/>
          </a:bodyPr>
          <a:lstStyle/>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4. Subir al repositorio de ensayo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twine upload --repository testpypi dist/*</a:t>
            </a: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 https://test.pypi.org/project/circuitos-cuanticos-sunombre/</a:t>
            </a:r>
            <a:endParaRPr lang="en-US" sz="1200" dirty="0"/>
          </a:p>
          <a:p>
            <a:pPr marL="0" indent="0" algn="l">
              <a:lnSpc>
                <a:spcPts val="1680"/>
              </a:lnSpc>
              <a:buNone/>
            </a:pP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5. Probar en un entorno limpio, en otra carpeta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venv C:\temp\prueba</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C:\temp\prueba\Scripts\Activate.ps1</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pip install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--index-url https://test.pypi.org/simple/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--extra-index-url https://pypi.org/simple/ `</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    circuitos-cuanticos-sunombre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-c "</a:t>
            </a:r>
            <a:r>
              <a:rPr lang="en-US" sz="1200" dirty="0">
                <a:solidFill>
                  <a:srgbClr val="F0A35E"/>
                </a:solidFill>
                <a:latin typeface="JetBrains Mono" pitchFamily="49" charset="0"/>
                <a:ea typeface="JetBrains Mono" pitchFamily="49" charset="-122"/>
                <a:cs typeface="JetBrains Mono" pitchFamily="49" charset="-120"/>
              </a:rPr>
              <a:t>import</a:t>
            </a:r>
            <a:r>
              <a:rPr lang="en-US" sz="1200" dirty="0">
                <a:solidFill>
                  <a:srgbClr val="E8EDF5"/>
                </a:solidFill>
                <a:latin typeface="JetBrains Mono" pitchFamily="49" charset="0"/>
                <a:ea typeface="JetBrains Mono" pitchFamily="49" charset="-122"/>
                <a:cs typeface="JetBrains Mono" pitchFamily="49" charset="-120"/>
              </a:rPr>
              <a:t> circuitos_cuanticos as cc; print(cc.__version__)"</a:t>
            </a:r>
            <a:endParaRPr lang="en-US" sz="1200" dirty="0"/>
          </a:p>
        </p:txBody>
      </p:sp>
      <p:sp>
        <p:nvSpPr>
          <p:cNvPr id="5" name="Shape 3"/>
          <p:cNvSpPr/>
          <p:nvPr/>
        </p:nvSpPr>
        <p:spPr>
          <a:xfrm>
            <a:off x="8067675" y="1873845"/>
            <a:ext cx="3308350" cy="1144191"/>
          </a:xfrm>
          <a:prstGeom prst="roundRect">
            <a:avLst>
              <a:gd name="adj" fmla="val 8602"/>
            </a:avLst>
          </a:prstGeom>
          <a:solidFill>
            <a:srgbClr val="FDFCF8"/>
          </a:solidFill>
          <a:ln w="6350">
            <a:solidFill>
              <a:srgbClr val="E2DED3"/>
            </a:solidFill>
            <a:prstDash val="solid"/>
          </a:ln>
        </p:spPr>
      </p:sp>
      <p:sp>
        <p:nvSpPr>
          <p:cNvPr id="6" name="Text 4"/>
          <p:cNvSpPr/>
          <p:nvPr/>
        </p:nvSpPr>
        <p:spPr>
          <a:xfrm>
            <a:off x="8274050" y="2080220"/>
            <a:ext cx="29824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--repository testpypi</a:t>
            </a:r>
            <a:endParaRPr lang="en-US" sz="1500" dirty="0"/>
          </a:p>
        </p:txBody>
      </p:sp>
      <p:sp>
        <p:nvSpPr>
          <p:cNvPr id="7" name="Text 5"/>
          <p:cNvSpPr/>
          <p:nvPr/>
        </p:nvSpPr>
        <p:spPr>
          <a:xfrm>
            <a:off x="8274050" y="2385020"/>
            <a:ext cx="298246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Toma el token de la sección [testpypi] de .pypirc.</a:t>
            </a:r>
            <a:endParaRPr lang="en-US" sz="1200" dirty="0"/>
          </a:p>
        </p:txBody>
      </p:sp>
      <p:sp>
        <p:nvSpPr>
          <p:cNvPr id="8" name="Shape 6"/>
          <p:cNvSpPr/>
          <p:nvPr/>
        </p:nvSpPr>
        <p:spPr>
          <a:xfrm>
            <a:off x="8067675" y="3176786"/>
            <a:ext cx="3308350" cy="1144191"/>
          </a:xfrm>
          <a:prstGeom prst="roundRect">
            <a:avLst>
              <a:gd name="adj" fmla="val 8602"/>
            </a:avLst>
          </a:prstGeom>
          <a:solidFill>
            <a:srgbClr val="FDFCF8"/>
          </a:solidFill>
          <a:ln w="6350">
            <a:solidFill>
              <a:srgbClr val="E2DED3"/>
            </a:solidFill>
            <a:prstDash val="solid"/>
          </a:ln>
        </p:spPr>
      </p:sp>
      <p:sp>
        <p:nvSpPr>
          <p:cNvPr id="9" name="Text 7"/>
          <p:cNvSpPr/>
          <p:nvPr/>
        </p:nvSpPr>
        <p:spPr>
          <a:xfrm>
            <a:off x="8274050" y="3383161"/>
            <a:ext cx="29824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--extra-index-url</a:t>
            </a:r>
            <a:endParaRPr lang="en-US" sz="1500" dirty="0"/>
          </a:p>
        </p:txBody>
      </p:sp>
      <p:sp>
        <p:nvSpPr>
          <p:cNvPr id="10" name="Text 8"/>
          <p:cNvSpPr/>
          <p:nvPr/>
        </p:nvSpPr>
        <p:spPr>
          <a:xfrm>
            <a:off x="8274050" y="3687961"/>
            <a:ext cx="298246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NumPy no está en TestPyPI: pip lo descarga de PyPI.</a:t>
            </a:r>
            <a:endParaRPr lang="en-US" sz="1200" dirty="0"/>
          </a:p>
        </p:txBody>
      </p:sp>
      <p:sp>
        <p:nvSpPr>
          <p:cNvPr id="11" name="Shape 9"/>
          <p:cNvSpPr/>
          <p:nvPr/>
        </p:nvSpPr>
        <p:spPr>
          <a:xfrm>
            <a:off x="8064500" y="4476552"/>
            <a:ext cx="3314700" cy="1137841"/>
          </a:xfrm>
          <a:prstGeom prst="roundRect">
            <a:avLst>
              <a:gd name="adj" fmla="val 8929"/>
            </a:avLst>
          </a:prstGeom>
          <a:solidFill>
            <a:srgbClr val="14213D"/>
          </a:solidFill>
          <a:ln/>
        </p:spPr>
      </p:sp>
      <p:sp>
        <p:nvSpPr>
          <p:cNvPr id="12" name="Text 10"/>
          <p:cNvSpPr/>
          <p:nvPr/>
        </p:nvSpPr>
        <p:spPr>
          <a:xfrm>
            <a:off x="8267700" y="4679752"/>
            <a:ext cx="29955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El acento grave `</a:t>
            </a:r>
            <a:endParaRPr lang="en-US" sz="1500" dirty="0"/>
          </a:p>
        </p:txBody>
      </p:sp>
      <p:sp>
        <p:nvSpPr>
          <p:cNvPr id="13" name="Text 11"/>
          <p:cNvSpPr/>
          <p:nvPr/>
        </p:nvSpPr>
        <p:spPr>
          <a:xfrm>
            <a:off x="8267700" y="4984552"/>
            <a:ext cx="299554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Continúa el comando en la línea siguiente en PowerShell.</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TestPyPI se puede usar todas las veces que haga falta; también exige una versión nueva en cada subida</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1A"/>
                </a:solidFill>
                <a:latin typeface="IBM Plex Sans" pitchFamily="34" charset="0"/>
                <a:ea typeface="IBM Plex Sans" pitchFamily="34" charset="-122"/>
                <a:cs typeface="IBM Plex Sans" pitchFamily="34" charset="-120"/>
              </a:rPr>
              <a:t>ETAPA 8 · PYPI · 20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Paso 6: la versión final en PyPI</a:t>
            </a:r>
            <a:endParaRPr lang="en-US" sz="3000" dirty="0"/>
          </a:p>
        </p:txBody>
      </p:sp>
      <p:sp>
        <p:nvSpPr>
          <p:cNvPr id="4" name="Text 2"/>
          <p:cNvSpPr/>
          <p:nvPr/>
        </p:nvSpPr>
        <p:spPr>
          <a:xfrm>
            <a:off x="812800" y="1870670"/>
            <a:ext cx="6350000" cy="2752923"/>
          </a:xfrm>
          <a:prstGeom prst="roundRect">
            <a:avLst>
              <a:gd name="adj" fmla="val 3691"/>
            </a:avLst>
          </a:prstGeom>
          <a:solidFill>
            <a:srgbClr val="14213D"/>
          </a:solidFill>
          <a:ln/>
        </p:spPr>
        <p:txBody>
          <a:bodyPr wrap="none" lIns="224242" tIns="173442" rIns="48982" bIns="148042" rtlCol="0" anchor="t">
            <a:normAutofit/>
          </a:bodyPr>
          <a:lstStyle/>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Volver al entorno del proyecto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deactivate</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cd C:\Users\Usuario\proyectos\circuitos-cuanticos</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.\.venv\Scripts\Activate.ps1</a:t>
            </a:r>
            <a:endParaRPr lang="en-US" sz="1200" dirty="0"/>
          </a:p>
          <a:p>
            <a:pPr marL="0" indent="0" algn="l">
              <a:lnSpc>
                <a:spcPts val="1680"/>
              </a:lnSpc>
              <a:buNone/>
            </a:pP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6. Subir los MISMOS archivos de dist/ a PyPI</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python -m twine upload dist/*</a:t>
            </a: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 https://pypi.org/project/circuitos-cuanticos-sunombre/</a:t>
            </a:r>
            <a:endParaRPr lang="en-US" sz="1200" dirty="0"/>
          </a:p>
          <a:p>
            <a:pPr marL="0" indent="0" algn="l">
              <a:lnSpc>
                <a:spcPts val="1680"/>
              </a:lnSpc>
              <a:buNone/>
            </a:pPr>
            <a:endParaRPr lang="en-US" sz="1200" dirty="0"/>
          </a:p>
          <a:p>
            <a:pPr marL="0" indent="0" algn="l">
              <a:lnSpc>
                <a:spcPts val="1680"/>
              </a:lnSpc>
              <a:buNone/>
            </a:pPr>
            <a:r>
              <a:rPr lang="en-US" sz="1200" dirty="0">
                <a:solidFill>
                  <a:srgbClr val="8DA2BF"/>
                </a:solidFill>
                <a:latin typeface="JetBrains Mono" pitchFamily="49" charset="0"/>
                <a:ea typeface="JetBrains Mono" pitchFamily="49" charset="-122"/>
                <a:cs typeface="JetBrains Mono" pitchFamily="49" charset="-120"/>
              </a:rPr>
              <a:t># Desde ahora, cualquier persona puede instalarlo</a:t>
            </a:r>
            <a:endParaRPr lang="en-US" sz="1200" dirty="0"/>
          </a:p>
          <a:p>
            <a:pPr marL="0" indent="0" algn="l">
              <a:lnSpc>
                <a:spcPts val="1680"/>
              </a:lnSpc>
              <a:buNone/>
            </a:pPr>
            <a:r>
              <a:rPr lang="en-US" sz="1200" dirty="0">
                <a:solidFill>
                  <a:srgbClr val="E8EDF5"/>
                </a:solidFill>
                <a:latin typeface="JetBrains Mono" pitchFamily="49" charset="0"/>
                <a:ea typeface="JetBrains Mono" pitchFamily="49" charset="-122"/>
                <a:cs typeface="JetBrains Mono" pitchFamily="49" charset="-120"/>
              </a:rPr>
              <a:t>pip install "circuitos-cuanticos-sunombre[gui]"</a:t>
            </a:r>
            <a:endParaRPr lang="en-US" sz="1200" dirty="0"/>
          </a:p>
        </p:txBody>
      </p:sp>
      <p:sp>
        <p:nvSpPr>
          <p:cNvPr id="5" name="Shape 3"/>
          <p:cNvSpPr/>
          <p:nvPr/>
        </p:nvSpPr>
        <p:spPr>
          <a:xfrm>
            <a:off x="7369175" y="1873845"/>
            <a:ext cx="4006850" cy="1860550"/>
          </a:xfrm>
          <a:prstGeom prst="roundRect">
            <a:avLst>
              <a:gd name="adj" fmla="val 5290"/>
            </a:avLst>
          </a:prstGeom>
          <a:solidFill>
            <a:srgbClr val="FDFCF8"/>
          </a:solidFill>
          <a:ln w="6350">
            <a:solidFill>
              <a:srgbClr val="E2DED3"/>
            </a:solidFill>
            <a:prstDash val="solid"/>
          </a:ln>
        </p:spPr>
      </p:sp>
      <p:sp>
        <p:nvSpPr>
          <p:cNvPr id="6" name="Text 4"/>
          <p:cNvSpPr/>
          <p:nvPr/>
        </p:nvSpPr>
        <p:spPr>
          <a:xfrm>
            <a:off x="7575550" y="2080220"/>
            <a:ext cx="370192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Para la siguiente versión</a:t>
            </a:r>
            <a:endParaRPr lang="en-US" sz="1500" dirty="0"/>
          </a:p>
        </p:txBody>
      </p:sp>
      <p:sp>
        <p:nvSpPr>
          <p:cNvPr id="7" name="Text 5"/>
          <p:cNvSpPr/>
          <p:nvPr/>
        </p:nvSpPr>
        <p:spPr>
          <a:xfrm>
            <a:off x="7660580" y="2385020"/>
            <a:ext cx="3609273" cy="1168400"/>
          </a:xfrm>
          <a:prstGeom prst="rect">
            <a:avLst/>
          </a:prstGeom>
          <a:noFill/>
          <a:ln/>
        </p:spPr>
        <p:txBody>
          <a:bodyPr wrap="square" lIns="0" tIns="0" rIns="0" bIns="0" rtlCol="0" anchor="t">
            <a:normAutofit/>
          </a:bodyPr>
          <a:lstStyle/>
          <a:p>
            <a:pPr marL="168970" indent="-168970" algn="l">
              <a:lnSpc>
                <a:spcPts val="1800"/>
              </a:lnSpc>
              <a:buSzPct val="100000"/>
              <a:buFontTx/>
              <a:buAutoNum type="arabicPeriod"/>
            </a:pPr>
            <a:r>
              <a:rPr lang="en-US" sz="1200" dirty="0">
                <a:solidFill>
                  <a:srgbClr val="3E4A5C"/>
                </a:solidFill>
                <a:latin typeface="IBM Plex Sans" pitchFamily="34" charset="0"/>
                <a:ea typeface="IBM Plex Sans" pitchFamily="34" charset="-122"/>
                <a:cs typeface="IBM Plex Sans" pitchFamily="34" charset="-120"/>
              </a:rPr>
              <a:t>Subir la versión en pyproject.toml y __init__.py</a:t>
            </a:r>
            <a:endParaRPr lang="en-US" sz="1200" dirty="0"/>
          </a:p>
          <a:p>
            <a:pPr marL="168970" indent="-168970" algn="l">
              <a:lnSpc>
                <a:spcPts val="1800"/>
              </a:lnSpc>
              <a:buSzPct val="100000"/>
              <a:buFontTx/>
              <a:buAutoNum type="arabicPeriod"/>
            </a:pPr>
            <a:r>
              <a:rPr lang="en-US" sz="1200" dirty="0">
                <a:solidFill>
                  <a:srgbClr val="3E4A5C"/>
                </a:solidFill>
                <a:latin typeface="IBM Plex Sans" pitchFamily="34" charset="0"/>
                <a:ea typeface="IBM Plex Sans" pitchFamily="34" charset="-122"/>
                <a:cs typeface="IBM Plex Sans" pitchFamily="34" charset="-120"/>
              </a:rPr>
              <a:t>Borrar dist/</a:t>
            </a:r>
            <a:endParaRPr lang="en-US" sz="1200" dirty="0"/>
          </a:p>
          <a:p>
            <a:pPr marL="168970" indent="-168970" algn="l">
              <a:lnSpc>
                <a:spcPts val="1800"/>
              </a:lnSpc>
              <a:buSzPct val="100000"/>
              <a:buFontTx/>
              <a:buAutoNum type="arabicPeriod"/>
            </a:pPr>
            <a:r>
              <a:rPr lang="en-US" sz="1200" dirty="0">
                <a:solidFill>
                  <a:srgbClr val="3E4A5C"/>
                </a:solidFill>
                <a:latin typeface="IBM Plex Sans" pitchFamily="34" charset="0"/>
                <a:ea typeface="IBM Plex Sans" pitchFamily="34" charset="-122"/>
                <a:cs typeface="IBM Plex Sans" pitchFamily="34" charset="-120"/>
              </a:rPr>
              <a:t>python -m build y twine check</a:t>
            </a:r>
            <a:endParaRPr lang="en-US" sz="1200" dirty="0"/>
          </a:p>
          <a:p>
            <a:pPr marL="168970" indent="-168970" algn="l">
              <a:lnSpc>
                <a:spcPts val="1800"/>
              </a:lnSpc>
              <a:buSzPct val="100000"/>
              <a:buFontTx/>
              <a:buAutoNum type="arabicPeriod"/>
            </a:pPr>
            <a:r>
              <a:rPr lang="en-US" sz="1200" dirty="0">
                <a:solidFill>
                  <a:srgbClr val="3E4A5C"/>
                </a:solidFill>
                <a:latin typeface="IBM Plex Sans" pitchFamily="34" charset="0"/>
                <a:ea typeface="IBM Plex Sans" pitchFamily="34" charset="-122"/>
                <a:cs typeface="IBM Plex Sans" pitchFamily="34" charset="-120"/>
              </a:rPr>
              <a:t>Subir a TestPyPI y probar</a:t>
            </a:r>
            <a:endParaRPr lang="en-US" sz="1200" dirty="0"/>
          </a:p>
          <a:p>
            <a:pPr marL="168970" indent="-168970" algn="l">
              <a:lnSpc>
                <a:spcPts val="1800"/>
              </a:lnSpc>
              <a:buSzPct val="100000"/>
              <a:buFontTx/>
              <a:buAutoNum type="arabicPeriod"/>
            </a:pPr>
            <a:r>
              <a:rPr lang="en-US" sz="1200" dirty="0">
                <a:solidFill>
                  <a:srgbClr val="3E4A5C"/>
                </a:solidFill>
                <a:latin typeface="IBM Plex Sans" pitchFamily="34" charset="0"/>
                <a:ea typeface="IBM Plex Sans" pitchFamily="34" charset="-122"/>
                <a:cs typeface="IBM Plex Sans" pitchFamily="34" charset="-120"/>
              </a:rPr>
              <a:t>Subir a PyPI</a:t>
            </a:r>
            <a:endParaRPr lang="en-US" sz="1200" dirty="0"/>
          </a:p>
        </p:txBody>
      </p:sp>
      <p:sp>
        <p:nvSpPr>
          <p:cNvPr id="8" name="Shape 6"/>
          <p:cNvSpPr/>
          <p:nvPr/>
        </p:nvSpPr>
        <p:spPr>
          <a:xfrm>
            <a:off x="7366000" y="3889970"/>
            <a:ext cx="4013200" cy="1137841"/>
          </a:xfrm>
          <a:prstGeom prst="roundRect">
            <a:avLst>
              <a:gd name="adj" fmla="val 8929"/>
            </a:avLst>
          </a:prstGeom>
          <a:solidFill>
            <a:srgbClr val="14213D"/>
          </a:solidFill>
          <a:ln/>
        </p:spPr>
      </p:sp>
      <p:sp>
        <p:nvSpPr>
          <p:cNvPr id="9" name="Text 7"/>
          <p:cNvSpPr/>
          <p:nvPr/>
        </p:nvSpPr>
        <p:spPr>
          <a:xfrm>
            <a:off x="7569200" y="4093170"/>
            <a:ext cx="371500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Sin vuelta atrás</a:t>
            </a:r>
            <a:endParaRPr lang="en-US" sz="1500" dirty="0"/>
          </a:p>
        </p:txBody>
      </p:sp>
      <p:sp>
        <p:nvSpPr>
          <p:cNvPr id="10" name="Text 8"/>
          <p:cNvSpPr/>
          <p:nvPr/>
        </p:nvSpPr>
        <p:spPr>
          <a:xfrm>
            <a:off x="7569200" y="4397970"/>
            <a:ext cx="371500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PyPI no acepta dos veces la misma versión, ni siquiera después de borrarla.</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7"/>
                </a:solidFill>
                <a:latin typeface="IBM Plex Sans" pitchFamily="34" charset="0"/>
                <a:ea typeface="IBM Plex Sans" pitchFamily="34" charset="-122"/>
                <a:cs typeface="IBM Plex Sans" pitchFamily="34" charset="-120"/>
              </a:rPr>
              <a:t>Sin --repository, twine sube a PyPI · el import sigue siendo circuitos_cuanticos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35E"/>
                </a:solidFill>
                <a:latin typeface="IBM Plex Sans" pitchFamily="34" charset="0"/>
                <a:ea typeface="IBM Plex Sans" pitchFamily="34" charset="-122"/>
                <a:cs typeface="IBM Plex Sans" pitchFamily="34" charset="-120"/>
              </a:rPr>
              <a:t>CIERRE · 5 MIN</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F7F5EF"/>
                </a:solidFill>
                <a:latin typeface="Rubik" pitchFamily="34" charset="0"/>
                <a:ea typeface="Rubik" pitchFamily="34" charset="-122"/>
                <a:cs typeface="Rubik" pitchFamily="34" charset="-120"/>
              </a:rPr>
              <a:t>Retos para la próxima clase</a:t>
            </a:r>
            <a:endParaRPr lang="en-US" sz="3000" dirty="0"/>
          </a:p>
        </p:txBody>
      </p:sp>
      <p:sp>
        <p:nvSpPr>
          <p:cNvPr id="4" name="Shape 2"/>
          <p:cNvSpPr/>
          <p:nvPr/>
        </p:nvSpPr>
        <p:spPr>
          <a:xfrm>
            <a:off x="812800" y="1870670"/>
            <a:ext cx="5181600" cy="1239441"/>
          </a:xfrm>
          <a:prstGeom prst="roundRect">
            <a:avLst>
              <a:gd name="adj" fmla="val 8197"/>
            </a:avLst>
          </a:prstGeom>
          <a:solidFill>
            <a:srgbClr val="1E2E50"/>
          </a:solidFill>
          <a:ln/>
        </p:spPr>
      </p:sp>
      <p:sp>
        <p:nvSpPr>
          <p:cNvPr id="5" name="Text 3"/>
          <p:cNvSpPr/>
          <p:nvPr/>
        </p:nvSpPr>
        <p:spPr>
          <a:xfrm>
            <a:off x="1066800" y="2124670"/>
            <a:ext cx="48138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1. Deutsch-Jozsa</a:t>
            </a:r>
            <a:endParaRPr lang="en-US" sz="1500" dirty="0"/>
          </a:p>
        </p:txBody>
      </p:sp>
      <p:sp>
        <p:nvSpPr>
          <p:cNvPr id="6" name="Text 4"/>
          <p:cNvSpPr/>
          <p:nvPr/>
        </p:nvSpPr>
        <p:spPr>
          <a:xfrm>
            <a:off x="1066800" y="2429470"/>
            <a:ext cx="48138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Decidir si una función es constante o balanceada con una sola consulta.</a:t>
            </a:r>
            <a:endParaRPr lang="en-US" sz="1200" dirty="0"/>
          </a:p>
        </p:txBody>
      </p:sp>
      <p:sp>
        <p:nvSpPr>
          <p:cNvPr id="7" name="Shape 5"/>
          <p:cNvSpPr/>
          <p:nvPr/>
        </p:nvSpPr>
        <p:spPr>
          <a:xfrm>
            <a:off x="6197600" y="1870670"/>
            <a:ext cx="5181600" cy="1239441"/>
          </a:xfrm>
          <a:prstGeom prst="roundRect">
            <a:avLst>
              <a:gd name="adj" fmla="val 8197"/>
            </a:avLst>
          </a:prstGeom>
          <a:solidFill>
            <a:srgbClr val="1E2E50"/>
          </a:solidFill>
          <a:ln/>
        </p:spPr>
      </p:sp>
      <p:sp>
        <p:nvSpPr>
          <p:cNvPr id="8" name="Text 6"/>
          <p:cNvSpPr/>
          <p:nvPr/>
        </p:nvSpPr>
        <p:spPr>
          <a:xfrm>
            <a:off x="6451600" y="2124670"/>
            <a:ext cx="48138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2. Ruido</a:t>
            </a:r>
            <a:endParaRPr lang="en-US" sz="1500" dirty="0"/>
          </a:p>
        </p:txBody>
      </p:sp>
      <p:sp>
        <p:nvSpPr>
          <p:cNvPr id="9" name="Text 7"/>
          <p:cNvSpPr/>
          <p:nvPr/>
        </p:nvSpPr>
        <p:spPr>
          <a:xfrm>
            <a:off x="6451600" y="2429470"/>
            <a:ext cx="48138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Una puerta que aplica X al azar con probabilidad p: ¿cómo se degrada Bell?</a:t>
            </a:r>
            <a:endParaRPr lang="en-US" sz="1200" dirty="0"/>
          </a:p>
        </p:txBody>
      </p:sp>
      <p:sp>
        <p:nvSpPr>
          <p:cNvPr id="10" name="Shape 8"/>
          <p:cNvSpPr/>
          <p:nvPr/>
        </p:nvSpPr>
        <p:spPr>
          <a:xfrm>
            <a:off x="812800" y="3313311"/>
            <a:ext cx="5181600" cy="1239441"/>
          </a:xfrm>
          <a:prstGeom prst="roundRect">
            <a:avLst>
              <a:gd name="adj" fmla="val 8197"/>
            </a:avLst>
          </a:prstGeom>
          <a:solidFill>
            <a:srgbClr val="1E2E50"/>
          </a:solidFill>
          <a:ln/>
        </p:spPr>
      </p:sp>
      <p:sp>
        <p:nvSpPr>
          <p:cNvPr id="11" name="Text 9"/>
          <p:cNvSpPr/>
          <p:nvPr/>
        </p:nvSpPr>
        <p:spPr>
          <a:xfrm>
            <a:off x="1066800" y="3567311"/>
            <a:ext cx="48138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3. Fourier cuántica</a:t>
            </a:r>
            <a:endParaRPr lang="en-US" sz="1500" dirty="0"/>
          </a:p>
        </p:txBody>
      </p:sp>
      <p:sp>
        <p:nvSpPr>
          <p:cNvPr id="12" name="Text 10"/>
          <p:cNvSpPr/>
          <p:nvPr/>
        </p:nvSpPr>
        <p:spPr>
          <a:xfrm>
            <a:off x="1066800" y="3872111"/>
            <a:ext cx="48138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Construir la QFT con H y fases controladas: la base del algoritmo de Shor.</a:t>
            </a:r>
            <a:endParaRPr lang="en-US" sz="1200" dirty="0"/>
          </a:p>
        </p:txBody>
      </p:sp>
      <p:sp>
        <p:nvSpPr>
          <p:cNvPr id="13" name="Shape 11"/>
          <p:cNvSpPr/>
          <p:nvPr/>
        </p:nvSpPr>
        <p:spPr>
          <a:xfrm>
            <a:off x="6197600" y="3313311"/>
            <a:ext cx="5181600" cy="1239441"/>
          </a:xfrm>
          <a:prstGeom prst="roundRect">
            <a:avLst>
              <a:gd name="adj" fmla="val 8197"/>
            </a:avLst>
          </a:prstGeom>
          <a:solidFill>
            <a:srgbClr val="1E2E50"/>
          </a:solidFill>
          <a:ln/>
        </p:spPr>
      </p:sp>
      <p:sp>
        <p:nvSpPr>
          <p:cNvPr id="14" name="Text 12"/>
          <p:cNvSpPr/>
          <p:nvPr/>
        </p:nvSpPr>
        <p:spPr>
          <a:xfrm>
            <a:off x="6451600" y="3567311"/>
            <a:ext cx="48138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35E"/>
                </a:solidFill>
                <a:latin typeface="Rubik" pitchFamily="34" charset="0"/>
                <a:ea typeface="Rubik" pitchFamily="34" charset="-122"/>
                <a:cs typeface="Rubik" pitchFamily="34" charset="-120"/>
              </a:rPr>
              <a:t>4. Otra interfaz</a:t>
            </a:r>
            <a:endParaRPr lang="en-US" sz="1500" dirty="0"/>
          </a:p>
        </p:txBody>
      </p:sp>
      <p:sp>
        <p:nvSpPr>
          <p:cNvPr id="15" name="Text 13"/>
          <p:cNvSpPr/>
          <p:nvPr/>
        </p:nvSpPr>
        <p:spPr>
          <a:xfrm>
            <a:off x="6451600" y="3872111"/>
            <a:ext cx="4927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IBM Plex Sans" pitchFamily="34" charset="0"/>
                <a:ea typeface="IBM Plex Sans" pitchFamily="34" charset="-122"/>
                <a:cs typeface="IBM Plex Sans" pitchFamily="34" charset="-120"/>
              </a:rPr>
              <a:t>Un notebook de Jupyter o una línea de comandos, sin tocar core.py.</a:t>
            </a:r>
            <a:endParaRPr lang="en-US" sz="1200" dirty="0"/>
          </a:p>
        </p:txBody>
      </p:sp>
      <p:sp>
        <p:nvSpPr>
          <p:cNvPr id="16" name="Text 14"/>
          <p:cNvSpPr/>
          <p:nvPr/>
        </p:nvSpPr>
        <p:spPr>
          <a:xfrm>
            <a:off x="812800" y="475595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5EF"/>
                </a:solidFill>
                <a:latin typeface="IBM Plex Sans" pitchFamily="34" charset="0"/>
                <a:ea typeface="IBM Plex Sans" pitchFamily="34" charset="-122"/>
                <a:cs typeface="IBM Plex Sans" pitchFamily="34" charset="-120"/>
              </a:rPr>
              <a:t>Cada reto se entrega como una nueva versión del paquete: 0.2.0, 0.3.0…</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A2BF"/>
                </a:solidFill>
                <a:latin typeface="IBM Plex Sans" pitchFamily="34" charset="0"/>
                <a:ea typeface="IBM Plex Sans" pitchFamily="34" charset="-122"/>
                <a:cs typeface="IBM Plex Sans" pitchFamily="34" charset="-120"/>
              </a:rPr>
              <a:t>Circuitos cuánticos · de los qubits a PyPI</a:t>
            </a:r>
            <a:endParaRPr lang="en-US" sz="1200" dirty="0"/>
          </a:p>
        </p:txBody>
      </p:sp>
    </p:spTree>
  </p:cSld>
  <p:clrMapOvr>
    <a:masterClrMapping/>
  </p:clrMapOvr>
</p:sld>
</file>

<file path=ppt/theme/theme1.xml><?xml version="1.0" encoding="utf-8"?>
<a:theme xmlns:a="http://schemas.openxmlformats.org/drawingml/2006/main" name="Circuitos cuánticos: de los qubits a PyPI">
  <a:themeElements>
    <a:clrScheme name="Circuitos cuánticos: de los qubits a PyPI">
      <a:dk1>
        <a:srgbClr val="14213D"/>
      </a:dk1>
      <a:lt1>
        <a:srgbClr val="F7F5EF"/>
      </a:lt1>
      <a:dk2>
        <a:srgbClr val="4D566A"/>
      </a:dk2>
      <a:lt2>
        <a:srgbClr val="E0E0DD"/>
      </a:lt2>
      <a:accent1>
        <a:srgbClr val="B4531A"/>
      </a:accent1>
      <a:accent2>
        <a:srgbClr val="2F6FB3"/>
      </a:accent2>
      <a:accent3>
        <a:srgbClr val="F0A35E"/>
      </a:accent3>
      <a:accent4>
        <a:srgbClr val="8DA2BF"/>
      </a:accent4>
      <a:accent5>
        <a:srgbClr val="D85A30"/>
      </a:accent5>
      <a:accent6>
        <a:srgbClr val="3E4A5C"/>
      </a:accent6>
      <a:hlink>
        <a:srgbClr val="0563C1"/>
      </a:hlink>
      <a:folHlink>
        <a:srgbClr val="954F72"/>
      </a:folHlink>
    </a:clrScheme>
    <a:fontScheme name="Circuitos cuánticos: de los qubits a PyPI">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8257</Words>
  <Application>Microsoft Office PowerPoint</Application>
  <PresentationFormat>Panorámica</PresentationFormat>
  <Paragraphs>731</Paragraphs>
  <Slides>33</Slides>
  <Notes>33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33</vt:i4>
      </vt:variant>
    </vt:vector>
  </HeadingPairs>
  <TitlesOfParts>
    <vt:vector size="39" baseType="lpstr">
      <vt:lpstr>Rubik</vt:lpstr>
      <vt:lpstr>Arial</vt:lpstr>
      <vt:lpstr>IBM Plex Sans</vt:lpstr>
      <vt:lpstr>JetBrains Mono</vt:lpstr>
      <vt:lpstr>Calibri</vt:lpstr>
      <vt:lpstr>Circuitos cuánticos: de los qubits a PyPI</vt:lpstr>
      <vt:lpstr>Circuitos cuánticos</vt:lpstr>
      <vt:lpstr>Ocho etapas en 120 minutos</vt:lpstr>
      <vt:lpstr>Un qubit: dos amplitudes complejas</vt:lpstr>
      <vt:lpstr>Varios qubits: el vector crece como 2ⁿ</vt:lpstr>
      <vt:lpstr>Las puertas son matrices unitarias</vt:lpstr>
      <vt:lpstr>Separar la lógica de la interfaz</vt:lpstr>
      <vt:lpstr>Un circuito es una lista de órdenes</vt:lpstr>
      <vt:lpstr>Patrón Command: cada puerta es una orden</vt:lpstr>
      <vt:lpstr>¿Por qué Command y no otra cosa?</vt:lpstr>
      <vt:lpstr>Antes del código: el Python que vamos a leer</vt:lpstr>
      <vt:lpstr>La clase EstadoCuantico</vt:lpstr>
      <vt:lpstr>EstadoCuantico, paso a paso</vt:lpstr>
      <vt:lpstr>Medir: la regla de Born en código</vt:lpstr>
      <vt:lpstr>Las puertas son comandos</vt:lpstr>
      <vt:lpstr>Las puertas, en palabras</vt:lpstr>
      <vt:lpstr>El circuito es el invocador</vt:lpstr>
      <vt:lpstr>El estado de Bell, paso a paso</vt:lpstr>
      <vt:lpstr>Medir: la única orden irreversible</vt:lpstr>
      <vt:lpstr>Estado de Bell: dos qubits, un solo destino</vt:lpstr>
      <vt:lpstr>Teleportación: mover un estado sin moverlo</vt:lpstr>
      <vt:lpstr>Grover: buscar en √N pasos</vt:lpstr>
      <vt:lpstr>La ventana: construir, avanzar y medir</vt:lpstr>
      <vt:lpstr>La GUI, en lenguaje cotidiano</vt:lpstr>
      <vt:lpstr>Las pruebas comprueban la física</vt:lpstr>
      <vt:lpstr>La estructura que espera PyPI</vt:lpstr>
      <vt:lpstr>Instalar el proyecto como un profesional</vt:lpstr>
      <vt:lpstr>Seis pasos para publicar</vt:lpstr>
      <vt:lpstr>Paso 1: la información va en pyproject.toml</vt:lpstr>
      <vt:lpstr>Pasos 2 y 3: construir y revisar en consola</vt:lpstr>
      <vt:lpstr>Antes de subir: dos cuentas y dos tokens</vt:lpstr>
      <vt:lpstr>Pasos 4 y 5: ensayo en TestPyPI</vt:lpstr>
      <vt:lpstr>Paso 6: la versión final en PyPI</vt:lpstr>
      <vt:lpstr>Retos para la próxima clase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Circuitos cuánticos: de los qubits a PyPI</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Usuario</cp:lastModifiedBy>
  <cp:revision>2</cp:revision>
  <dcterms:created xsi:type="dcterms:W3CDTF">2026-10-27T16:49:13Z</dcterms:created>
  <dcterms:modified xsi:type="dcterms:W3CDTF">2026-10-27T16:51:48Z</dcterms:modified>
</cp:coreProperties>
</file>