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77" r:id="rId20"/>
    <p:sldId id="269" r:id="rId21"/>
    <p:sldId id="278" r:id="rId22"/>
    <p:sldId id="270" r:id="rId23"/>
    <p:sldId id="271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18038-56AA-4A32-97CD-5F97A3BD7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BCB757-3AAE-4CCE-867A-B73BC8574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CFCEF-ABC2-40B6-A584-DE5648B7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CEDB1-4142-42E1-B481-AEE11EAC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9FEBAD-ECB1-49A5-8484-75B8CE16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036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54F89-EAC7-4682-B137-048B5CD6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12A8C7-5FB5-4B7C-BAC1-FF8BE9FF8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98E1B0-39CA-4EF0-AB2F-15BEE168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B91A9-FE22-4759-9500-1374C326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8100B9-14FB-4B9F-8E3C-F725BE2C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615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55316-3CC4-42B0-BFA6-0273DB53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13FE0D-BD95-42B1-84D9-92EE7BFB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8A619E-5262-463B-A0BC-E810AB09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0F588-3A7D-44F9-BB11-706B97B8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E1FEA-15A8-4A4A-873D-3578984A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58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5D7F-2404-4247-87C5-3D7B76C1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F7E6D5-6F2D-4A3B-9867-476C14CBC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80B89D-95A4-46D7-9DAD-D42714D1A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5BC0E6-8EC9-4E10-AF2D-85518687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78D040-A038-4BE3-8B6B-661A47DB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5039AE-7FF8-4018-B2D0-4DD902C5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075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4D23A-0627-4592-BD70-4F9F4D3CA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922A42-4FB4-4CFB-8411-4EE5E3488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5F5E45-6597-4CD2-8B50-EEBBF9DB7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BA09DC-055B-4327-A6D5-3A5DE6F8D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93E705-95D0-4D40-BE7A-53DA5B8A1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7F5EC2-864B-4AF8-8B6A-84637660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16A243-8AA5-4552-A3B2-B0596FE1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9D9E0D-197C-4DF1-9969-C64F22A1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878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19FA4-1F0D-4355-852E-C0E29EE1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5333A2-DF68-4BBB-9707-181F8D42C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D024A6-8C30-4B27-816B-15116C66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D2A8B9-B445-4817-BE3E-2932EDD3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347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43AC6A-AA66-4D20-BA6F-3C02A2D9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617545-473F-4752-8CB0-25735F66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DEAFFA-B729-49B5-BD04-8C2B0660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194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CFECA-A396-4A17-A350-B6FC029C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D794A-CFF6-426A-8505-B68E2C7C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CF5123-74AC-49E7-B10C-ECD2C8F8F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6AA722-7FD0-474D-B334-9495CFD7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E0D532-BFEB-4C7B-AFA2-88CA1F79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517FE2-5645-469C-A679-7F80AFD7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933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EE25B-8596-4793-85D2-AA093C83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BBA5FC-89AF-4D81-840D-05F84EB21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14DB42-B4CA-4C9C-82BA-D4C792131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A9F9C6-2F5A-4938-A6B5-D2054C3C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01DE3C-0A49-46B4-AFD1-362BE083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CF7FD9-31C2-48C7-9435-36A811B1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71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E459C-10CB-4290-9DE1-67046EF3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FBED84-A3C2-4D21-B376-F2F19DE33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E63FC1-A1B3-46AE-95FD-FC2F08BE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F561B1-A172-4925-A468-7C1B83B5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8FAE2B-E464-4D6A-869C-FFDC54D70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816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B76311-C47F-402F-BCC9-8DA18C2F6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AD6DC8-0B66-4961-A037-3A8256388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F29AE7-18CE-4AB8-B286-6F4B13CB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A34780-518F-4BDE-ABF4-C9C047F6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22356-50A0-4A5A-A611-4599074C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507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C34590-E1C8-4F73-A3B7-E801A393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44B3B5-C350-430E-858D-CCAC27B5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D3AFD3-7FAF-49CA-9B0E-B70538851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B10F9-DDC1-41B7-9DF5-1EE482492C92}" type="datetimeFigureOut">
              <a:rPr lang="es-CO" smtClean="0"/>
              <a:t>21/09/2025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CD448-37E3-4267-AFA9-C20ED0A2F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2E4B75-1E20-4526-AA79-65608F087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2EE92-017A-45B0-A8B7-D16D3B5BC5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97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John_Vlissides" TargetMode="External"/><Relationship Id="rId3" Type="http://schemas.openxmlformats.org/officeDocument/2006/relationships/hyperlink" Target="https://profeuttec.yolasite.com/resources/Patrones%20de%20dise%C3%B1o%20-%20Erich%20Gamma.pdf" TargetMode="External"/><Relationship Id="rId7" Type="http://schemas.openxmlformats.org/officeDocument/2006/relationships/hyperlink" Target="http://en.wikipedia.org/wiki/Ralph_Johnson_%28computer_scientist%29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2.com/cgi/wiki?RichardHelm" TargetMode="External"/><Relationship Id="rId5" Type="http://schemas.openxmlformats.org/officeDocument/2006/relationships/hyperlink" Target="http://es.wikipedia.org/wiki/Erich_Gamma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hyperlink" Target="https://refactoring.guru/e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8C6A4-061A-45A3-B14A-F003BFD2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37" y="1765003"/>
            <a:ext cx="11841126" cy="2775099"/>
          </a:xfrm>
        </p:spPr>
        <p:txBody>
          <a:bodyPr>
            <a:noAutofit/>
          </a:bodyPr>
          <a:lstStyle/>
          <a:p>
            <a:r>
              <a:rPr lang="es-ES" sz="10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Desarrollo de Software Científico Colaborativo</a:t>
            </a:r>
            <a:endParaRPr lang="es-CO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120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DAD4ABC-7742-4669-B87F-497AA8823A29}"/>
              </a:ext>
            </a:extLst>
          </p:cNvPr>
          <p:cNvSpPr txBox="1"/>
          <p:nvPr/>
        </p:nvSpPr>
        <p:spPr>
          <a:xfrm>
            <a:off x="209993" y="384176"/>
            <a:ext cx="96676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4000" i="0" dirty="0">
                <a:effectLst/>
                <a:latin typeface="opensans-regular"/>
              </a:rPr>
              <a:t>Funcionamiento de una</a:t>
            </a:r>
          </a:p>
          <a:p>
            <a:pPr algn="l"/>
            <a:r>
              <a:rPr lang="es-ES" sz="4000" i="0" dirty="0">
                <a:effectLst/>
                <a:latin typeface="opensans-regular"/>
              </a:rPr>
              <a:t> calculadora clásica</a:t>
            </a:r>
          </a:p>
        </p:txBody>
      </p:sp>
      <p:pic>
        <p:nvPicPr>
          <p:cNvPr id="1026" name="Picture 2" descr="Cómo hacer una calculadora en Python">
            <a:extLst>
              <a:ext uri="{FF2B5EF4-FFF2-40B4-BE49-F238E27FC236}">
                <a16:creationId xmlns:a16="http://schemas.microsoft.com/office/drawing/2014/main" id="{D83DA02D-48CF-4D62-A417-6A086311B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266" y="285146"/>
            <a:ext cx="5765283" cy="202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422C715-5F97-4716-BC07-CA6B84C95837}"/>
              </a:ext>
            </a:extLst>
          </p:cNvPr>
          <p:cNvSpPr txBox="1"/>
          <p:nvPr/>
        </p:nvSpPr>
        <p:spPr>
          <a:xfrm>
            <a:off x="350873" y="2152969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Objetivo:</a:t>
            </a:r>
            <a:br>
              <a:rPr lang="es-ES" dirty="0"/>
            </a:br>
            <a:r>
              <a:rPr lang="es-ES" dirty="0"/>
              <a:t>Desarrollar una aplicación que simule el comportamiento de una calculadora física tradicional.</a:t>
            </a:r>
            <a:endParaRPr lang="es-CO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EBB70B9-2E82-4FA7-ACE2-8C085ED3BE2F}"/>
              </a:ext>
            </a:extLst>
          </p:cNvPr>
          <p:cNvSpPr txBox="1"/>
          <p:nvPr/>
        </p:nvSpPr>
        <p:spPr>
          <a:xfrm>
            <a:off x="350873" y="3265418"/>
            <a:ext cx="107388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Características clave: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Introducción </a:t>
            </a:r>
            <a:r>
              <a:rPr lang="es-ES" b="1" dirty="0"/>
              <a:t>secuencial de dígitos</a:t>
            </a:r>
            <a:r>
              <a:rPr lang="es-ES" dirty="0"/>
              <a:t> para construir números.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Uso de </a:t>
            </a:r>
            <a:r>
              <a:rPr lang="es-ES" b="1" dirty="0"/>
              <a:t>operadores básicos</a:t>
            </a:r>
            <a:r>
              <a:rPr lang="es-ES" dirty="0"/>
              <a:t> para realizar operaciones.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Visualización en una </a:t>
            </a:r>
            <a:r>
              <a:rPr lang="es-ES" b="1" dirty="0"/>
              <a:t>pantalla pequeña</a:t>
            </a:r>
            <a:r>
              <a:rPr lang="es-ES" dirty="0"/>
              <a:t> de números y resultados.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Funcionamiento </a:t>
            </a:r>
            <a:r>
              <a:rPr lang="es-ES" b="1" dirty="0"/>
              <a:t>paso a paso</a:t>
            </a:r>
            <a:r>
              <a:rPr lang="es-ES" dirty="0"/>
              <a:t> según se pulsan los botones (⚠️ </a:t>
            </a:r>
            <a:r>
              <a:rPr lang="es-ES" b="1" dirty="0"/>
              <a:t>no interpreta expresiones completas</a:t>
            </a:r>
            <a:r>
              <a:rPr lang="es-ES" dirty="0"/>
              <a:t>).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729CE80-DDEE-4DB3-90FA-2494B5B9B4E0}"/>
              </a:ext>
            </a:extLst>
          </p:cNvPr>
          <p:cNvSpPr txBox="1"/>
          <p:nvPr/>
        </p:nvSpPr>
        <p:spPr>
          <a:xfrm>
            <a:off x="350873" y="4931865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Meta del proyecto:</a:t>
            </a:r>
            <a:br>
              <a:rPr lang="es-ES" dirty="0"/>
            </a:br>
            <a:r>
              <a:rPr lang="es-ES" dirty="0"/>
              <a:t>Recrear el funcionamiento real de una calculadora…</a:t>
            </a:r>
            <a:br>
              <a:rPr lang="es-ES" dirty="0"/>
            </a:br>
            <a:r>
              <a:rPr lang="es-ES" dirty="0"/>
              <a:t>¡</a:t>
            </a:r>
            <a:r>
              <a:rPr lang="es-ES" b="1" dirty="0"/>
              <a:t>Tal como la usarías en la vida cotidiana!</a:t>
            </a:r>
            <a:r>
              <a:rPr lang="es-ES" dirty="0"/>
              <a:t> 💡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1832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E4EFFF0-FBE5-451D-A112-42053BEB3EDD}"/>
              </a:ext>
            </a:extLst>
          </p:cNvPr>
          <p:cNvSpPr txBox="1"/>
          <p:nvPr/>
        </p:nvSpPr>
        <p:spPr>
          <a:xfrm>
            <a:off x="241890" y="362635"/>
            <a:ext cx="9550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🧩 Arquitectura del Proyecto — Calculadora</a:t>
            </a:r>
          </a:p>
          <a:p>
            <a:r>
              <a:rPr lang="es-ES" b="1" dirty="0"/>
              <a:t>Antes de programar → análisis y diseño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B87CDD-81C3-4460-A5BB-3245252CF13E}"/>
              </a:ext>
            </a:extLst>
          </p:cNvPr>
          <p:cNvSpPr txBox="1"/>
          <p:nvPr/>
        </p:nvSpPr>
        <p:spPr>
          <a:xfrm>
            <a:off x="412011" y="1259086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🖥️ Interfaz de Usuario (Vista)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Recibe la entrada del usuario (dígitos y operadores)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Muestra los resultados en pantalla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Debe </a:t>
            </a:r>
            <a:r>
              <a:rPr lang="es-ES" b="1" dirty="0"/>
              <a:t>conocer al modelo</a:t>
            </a:r>
            <a:r>
              <a:rPr lang="es-ES" dirty="0"/>
              <a:t> para enviarle datos y mostrar resultados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C78C21-E9F0-41C4-9CCC-1DC2FE09B644}"/>
              </a:ext>
            </a:extLst>
          </p:cNvPr>
          <p:cNvSpPr txBox="1"/>
          <p:nvPr/>
        </p:nvSpPr>
        <p:spPr>
          <a:xfrm>
            <a:off x="5777910" y="2998083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⚙️ Modelo (Lógica)</a:t>
            </a:r>
          </a:p>
          <a:p>
            <a:r>
              <a:rPr lang="es-ES" dirty="0"/>
              <a:t>Mantiene el estado (números y operadores)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Realiza los cálculos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No debe conocer a la interfaz</a:t>
            </a:r>
            <a:r>
              <a:rPr lang="es-ES" dirty="0"/>
              <a:t>, para reducir acoplamiento y aumentar cohesión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39EA2B-23C2-4689-A228-F2DF2934D270}"/>
              </a:ext>
            </a:extLst>
          </p:cNvPr>
          <p:cNvSpPr txBox="1"/>
          <p:nvPr/>
        </p:nvSpPr>
        <p:spPr>
          <a:xfrm>
            <a:off x="587448" y="472553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📌 </a:t>
            </a:r>
            <a:r>
              <a:rPr lang="es-ES" b="1" dirty="0"/>
              <a:t>Relación entre componentes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Vista → comunica con Modelo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Modelo ⛔ no comunica con Vista</a:t>
            </a:r>
          </a:p>
          <a:p>
            <a:r>
              <a:rPr lang="es-ES" i="1" dirty="0"/>
              <a:t>(Esto permite cambiar la interfaz sin modificar la lógica)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4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B027BF4-517B-42D9-8821-804492269659}"/>
              </a:ext>
            </a:extLst>
          </p:cNvPr>
          <p:cNvSpPr txBox="1"/>
          <p:nvPr/>
        </p:nvSpPr>
        <p:spPr>
          <a:xfrm>
            <a:off x="412012" y="44797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🧠 Diseño de la Calculadora — Patrón Estado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CBAF32-2D8C-497C-AD46-98FCA2276C52}"/>
              </a:ext>
            </a:extLst>
          </p:cNvPr>
          <p:cNvSpPr txBox="1"/>
          <p:nvPr/>
        </p:nvSpPr>
        <p:spPr>
          <a:xfrm>
            <a:off x="850604" y="1115957"/>
            <a:ext cx="56591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⚡ El reto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Muchas acciones posibles: dígitos, operadores, borrar, resultado…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Acciones en </a:t>
            </a:r>
            <a:r>
              <a:rPr lang="es-ES" b="1" dirty="0"/>
              <a:t>cualquier orden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Calculadora pasa por </a:t>
            </a:r>
            <a:r>
              <a:rPr lang="es-ES" b="1" dirty="0"/>
              <a:t>estados internos</a:t>
            </a:r>
            <a:r>
              <a:rPr lang="es-ES" dirty="0"/>
              <a:t>: inicial, introduciendo operando, error,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Esto genera </a:t>
            </a:r>
            <a:r>
              <a:rPr lang="es-ES" b="1" dirty="0"/>
              <a:t>código complejo, lleno de condicionales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428D95-B434-4035-B5BA-84C63222E03E}"/>
              </a:ext>
            </a:extLst>
          </p:cNvPr>
          <p:cNvSpPr txBox="1"/>
          <p:nvPr/>
        </p:nvSpPr>
        <p:spPr>
          <a:xfrm>
            <a:off x="6509784" y="2033178"/>
            <a:ext cx="50881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💡 La solución: Patrón Estado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Cambia el </a:t>
            </a:r>
            <a:r>
              <a:rPr lang="es-ES" b="1" dirty="0"/>
              <a:t>comportamiento según el estado actual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estado define cómo responder a las acciones del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Simplifica el código → más </a:t>
            </a:r>
            <a:r>
              <a:rPr lang="es-ES" b="1" dirty="0"/>
              <a:t>legible, mantenible y escalable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Permite </a:t>
            </a:r>
            <a:r>
              <a:rPr lang="es-ES" b="1" dirty="0"/>
              <a:t>añadir nuevos estados sin romper el resto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B10619F-49A9-4722-8DCF-45963FFE7A75}"/>
              </a:ext>
            </a:extLst>
          </p:cNvPr>
          <p:cNvSpPr txBox="1"/>
          <p:nvPr/>
        </p:nvSpPr>
        <p:spPr>
          <a:xfrm>
            <a:off x="6096000" y="5280378"/>
            <a:ext cx="4845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📌 </a:t>
            </a:r>
            <a:r>
              <a:rPr lang="es-ES" b="1" dirty="0"/>
              <a:t>Claves del diseño de software: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Analizar y diseñar antes de programar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Usar patrones para resolver problemas comunes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5D3200-DCB3-4BC8-AE76-A9000A3914C3}"/>
              </a:ext>
            </a:extLst>
          </p:cNvPr>
          <p:cNvSpPr txBox="1"/>
          <p:nvPr/>
        </p:nvSpPr>
        <p:spPr>
          <a:xfrm>
            <a:off x="594092" y="4165915"/>
            <a:ext cx="4415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💡 </a:t>
            </a:r>
            <a:r>
              <a:rPr lang="es-ES" b="1" dirty="0"/>
              <a:t>Tip:</a:t>
            </a:r>
            <a:r>
              <a:rPr lang="es-ES" dirty="0"/>
              <a:t> Este patrón está descrito en el libro </a:t>
            </a:r>
            <a:r>
              <a:rPr lang="es-ES" i="1" dirty="0"/>
              <a:t>Patrones de Diseño</a:t>
            </a:r>
            <a:r>
              <a:rPr lang="es-ES" dirty="0"/>
              <a:t> — lectura recomendada para todo desarrollador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2867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n de la publicación">
            <a:extLst>
              <a:ext uri="{FF2B5EF4-FFF2-40B4-BE49-F238E27FC236}">
                <a16:creationId xmlns:a16="http://schemas.microsoft.com/office/drawing/2014/main" id="{F5E8D3FF-989A-482D-AA8A-1EB3D84892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0" b="11473"/>
          <a:stretch/>
        </p:blipFill>
        <p:spPr bwMode="auto">
          <a:xfrm>
            <a:off x="-1" y="0"/>
            <a:ext cx="7591647" cy="686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hlinkClick r:id="rId3"/>
            <a:extLst>
              <a:ext uri="{FF2B5EF4-FFF2-40B4-BE49-F238E27FC236}">
                <a16:creationId xmlns:a16="http://schemas.microsoft.com/office/drawing/2014/main" id="{1971AFBA-C700-42A2-AF17-E6E8541E9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352" y="91504"/>
            <a:ext cx="4342070" cy="289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42C54CB-5E45-4539-8324-5979C8873078}"/>
              </a:ext>
            </a:extLst>
          </p:cNvPr>
          <p:cNvSpPr txBox="1"/>
          <p:nvPr/>
        </p:nvSpPr>
        <p:spPr>
          <a:xfrm>
            <a:off x="8996473" y="2986217"/>
            <a:ext cx="17158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5"/>
              </a:rPr>
              <a:t>ErichGamma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6"/>
              </a:rPr>
              <a:t>RichardHelm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7"/>
              </a:rPr>
              <a:t>RalphJohnson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u="sng" dirty="0" err="1">
                <a:solidFill>
                  <a:srgbClr val="2C313F"/>
                </a:solidFill>
                <a:effectLst/>
                <a:latin typeface="Lato" panose="020F0502020204030203" pitchFamily="34" charset="0"/>
                <a:hlinkClick r:id="rId8"/>
              </a:rPr>
              <a:t>JohnVlissides</a:t>
            </a:r>
            <a:endParaRPr lang="es-CO" b="0" i="0" dirty="0">
              <a:solidFill>
                <a:srgbClr val="73757D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3078" name="Picture 6" descr="Refactoring.Guru">
            <a:hlinkClick r:id="rId9"/>
            <a:extLst>
              <a:ext uri="{FF2B5EF4-FFF2-40B4-BE49-F238E27FC236}">
                <a16:creationId xmlns:a16="http://schemas.microsoft.com/office/drawing/2014/main" id="{4C513567-6C23-4E6A-8073-A85088DC9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473" y="4395481"/>
            <a:ext cx="19050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06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1EDAF36-50B1-4975-A0FB-94DE27DBC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4165"/>
            <a:ext cx="12192000" cy="578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72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97" y="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371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583896-727C-4F8A-8A00-A4AFD26DBF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3" t="29168" r="71086" b="8385"/>
          <a:stretch/>
        </p:blipFill>
        <p:spPr>
          <a:xfrm>
            <a:off x="155719" y="799549"/>
            <a:ext cx="3922642" cy="570726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79812E5-B3A3-4AF7-928B-70ED320DE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506"/>
            <a:ext cx="4356649" cy="523220"/>
          </a:xfrm>
          <a:prstGeom prst="rect">
            <a:avLst/>
          </a:prstGeom>
          <a:solidFill>
            <a:srgbClr val="DCF0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calculadora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_modelo.py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.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2477304-DDDA-42F1-B177-BEE60385A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649" y="63552"/>
            <a:ext cx="7513983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Clase abstracta de la calculadora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 define una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clase abstracta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que establece el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contrato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de qué operaciones deben implementarse (binarias y unarias).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Las subclases concretas se encargan de usar los diccionarios de operadores para ejecutar la lógica matemática.</a:t>
            </a:r>
          </a:p>
          <a:p>
            <a:b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Esto garantiza un diseño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modular, extensible y mantenible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Definición de operaciones matemáticas en la calculadora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Antes de crear las clases de la calculadora, definimos las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funciones matemáticas básicas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(suma, resta, multiplicación, división y raíz cuadrada).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Estas funciones se organizan en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dos diccionarios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Operadores binarios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funciones que requieren 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dos operandos 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(ej. a + b).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Operadores unarios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funciones que requieren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 solo operando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(ej. √a).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Asociar un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símbolo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(+, -, √) a una función permite invocarla de manera sencilla y flexible en la implementación de la calculadora.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029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97" y="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60339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9847E53-0289-437F-999D-59C51EEAF0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61" t="22982" r="58261" b="13025"/>
          <a:stretch/>
        </p:blipFill>
        <p:spPr>
          <a:xfrm>
            <a:off x="0" y="809035"/>
            <a:ext cx="4386947" cy="554228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D1C17F5-144D-4B51-AF4F-1D60FC6C6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539" y="456246"/>
            <a:ext cx="7381461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alt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Clase Calculadora y el Patrón Estado</a:t>
            </a:r>
          </a:p>
          <a:p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La clase Calculadora parece vacía, porque delegamos los comportamientos en los estados.</a:t>
            </a:r>
          </a:p>
          <a:p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Atributos: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Solo tiene uno: _estado, que guarda la referencia al estado actual.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Los demás datos se almacenan en los objetos estado.</a:t>
            </a:r>
          </a:p>
          <a:p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Inicialización: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Al crear un objeto Calculadora, se invoca </a:t>
            </a:r>
            <a:r>
              <a:rPr lang="es-CO" alt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(), que coloca la calculadora en el </a:t>
            </a:r>
            <a:r>
              <a:rPr lang="es-CO" alt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EstadoInicial</a:t>
            </a: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Cambiar de estado: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El método </a:t>
            </a:r>
            <a:r>
              <a:rPr lang="es-CO" alt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cambiar_estado</a:t>
            </a: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() permite que los propios estados realicen las transiciones cuando sea necesario.</a:t>
            </a:r>
          </a:p>
          <a:p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Delegación de operaciones: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Todas las operaciones se ejecutan llamando al método del estado actual.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Algunas funciones usan try/</a:t>
            </a:r>
            <a:r>
              <a:rPr lang="es-CO" alt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para capturar errores (operador inválido, división entre cero, raíz negativa, etc.).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Ante un error, la calculadora pasa automáticamente al </a:t>
            </a:r>
            <a:r>
              <a:rPr lang="es-CO" altLang="es-CO"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EstadoError</a:t>
            </a:r>
            <a:r>
              <a:rPr lang="es-CO" alt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1E77B9-1A63-4404-9D02-1AADB8B8B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6947" cy="584775"/>
          </a:xfrm>
          <a:prstGeom prst="rect">
            <a:avLst/>
          </a:prstGeom>
          <a:solidFill>
            <a:srgbClr val="DCF0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clase 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Calculadora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: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9304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97" y="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6A4DE-9EF4-4A22-9312-C1863E1AD0CA}"/>
              </a:ext>
            </a:extLst>
          </p:cNvPr>
          <p:cNvSpPr txBox="1"/>
          <p:nvPr/>
        </p:nvSpPr>
        <p:spPr>
          <a:xfrm>
            <a:off x="6483394" y="0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414583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47785D0-5BB7-4399-B491-2BA1B43FD8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6" t="30715" r="58697" b="5485"/>
          <a:stretch/>
        </p:blipFill>
        <p:spPr>
          <a:xfrm>
            <a:off x="0" y="763656"/>
            <a:ext cx="5847603" cy="533068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1304EB1-1A4C-445C-80FB-DB1E07C2C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64380" cy="523220"/>
          </a:xfrm>
          <a:prstGeom prst="rect">
            <a:avLst/>
          </a:prstGeom>
          <a:solidFill>
            <a:srgbClr val="DCF0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>
                <a:ln>
                  <a:noFill/>
                </a:ln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clase padre abstracta </a:t>
            </a:r>
            <a:r>
              <a:rPr kumimoji="0" lang="es-CO" altLang="es-CO" sz="28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EstadoCalculadora</a:t>
            </a:r>
            <a:r>
              <a:rPr kumimoji="0" lang="es-CO" altLang="es-CO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89FB531-96F6-4627-9E6D-4BEE352BB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478" y="528002"/>
            <a:ext cx="595022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Clase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EstadoCalculadora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(Abstracta)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Herencia: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Extiende de ABC (librería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→ no se puede instanciar directamente.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Inicialización (__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__):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Guarda en _calculadora la referencia al objeto Calculadora.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Esto permite que los estados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cambien el estado actual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la calculadora.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Métodos: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valor_actual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método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abstracto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obliga a cada subclase a implementar cómo mostrar el valor en pantalla.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introducir_digito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introducir_operador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calcular → no hacen nada en esta clase.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redefinen en los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estados concretos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ya que el comportamiento varía.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resto de operaciones tienen comportamiento por defecto = “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hacer nada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Ejemplo: en el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EstadoInicial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si presionamos =, no ocurre nada.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05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84" y="14289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6A4DE-9EF4-4A22-9312-C1863E1AD0CA}"/>
              </a:ext>
            </a:extLst>
          </p:cNvPr>
          <p:cNvSpPr txBox="1"/>
          <p:nvPr/>
        </p:nvSpPr>
        <p:spPr>
          <a:xfrm>
            <a:off x="6483394" y="0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F05DB0-C695-4A5D-94E3-73C65B4EB8DC}"/>
              </a:ext>
            </a:extLst>
          </p:cNvPr>
          <p:cNvSpPr txBox="1"/>
          <p:nvPr/>
        </p:nvSpPr>
        <p:spPr>
          <a:xfrm>
            <a:off x="639033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576225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5CD3F28-62AB-49B7-87C2-64397CB431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7" t="27429" r="29130" b="17858"/>
          <a:stretch/>
        </p:blipFill>
        <p:spPr>
          <a:xfrm>
            <a:off x="29176" y="8690"/>
            <a:ext cx="8004313" cy="375036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CDCAF30-8260-43E5-A0EE-1C21DC756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3489" y="0"/>
            <a:ext cx="4158511" cy="646331"/>
          </a:xfrm>
          <a:prstGeom prst="rect">
            <a:avLst/>
          </a:prstGeom>
          <a:solidFill>
            <a:srgbClr val="DCF0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clase </a:t>
            </a:r>
            <a:r>
              <a:rPr kumimoji="0" lang="es-CO" altLang="es-CO" sz="3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EstadoInicial</a:t>
            </a:r>
            <a:r>
              <a:rPr kumimoji="0" lang="es-CO" altLang="es-CO" sz="3600" b="0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. 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79079EE-54E2-402A-822D-C55DDB3BF9F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04314" y="655021"/>
            <a:ext cx="415851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Inicialización (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Recibe la calculadora y un número inicial (mostrado en pantalla).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Guarda el número en un atributo.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 al constructor de la clase padre con 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super().__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__(calculadora)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3A7E1E-EA89-4294-8655-E5B9F7369FDF}"/>
              </a:ext>
            </a:extLst>
          </p:cNvPr>
          <p:cNvSpPr txBox="1"/>
          <p:nvPr/>
        </p:nvSpPr>
        <p:spPr>
          <a:xfrm>
            <a:off x="-1" y="3767745"/>
            <a:ext cx="1206462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Operaciones: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valor_actual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devuelve el número almacenado.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introducir_digito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cambia al estado 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EstadoIntroducirPrimerOperando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(según el diagrama).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introducir_operador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Operador unario → se calcula directamente usando el diccionario de operadores unarios. El estado no cambia (permanece en 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EstadoInicial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Operador binario → se cambia al estado 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EstadoResultadoParcial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guardando:</a:t>
            </a: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 operando,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 a mostrar,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operador.</a:t>
            </a:r>
          </a:p>
        </p:txBody>
      </p:sp>
    </p:spTree>
    <p:extLst>
      <p:ext uri="{BB962C8B-B14F-4D97-AF65-F5344CB8AC3E}">
        <p14:creationId xmlns:p14="http://schemas.microsoft.com/office/powerpoint/2010/main" val="184129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84" y="14289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6A4DE-9EF4-4A22-9312-C1863E1AD0CA}"/>
              </a:ext>
            </a:extLst>
          </p:cNvPr>
          <p:cNvSpPr txBox="1"/>
          <p:nvPr/>
        </p:nvSpPr>
        <p:spPr>
          <a:xfrm>
            <a:off x="6483394" y="0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F05DB0-C695-4A5D-94E3-73C65B4EB8DC}"/>
              </a:ext>
            </a:extLst>
          </p:cNvPr>
          <p:cNvSpPr txBox="1"/>
          <p:nvPr/>
        </p:nvSpPr>
        <p:spPr>
          <a:xfrm>
            <a:off x="639033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983C47-977D-419F-9004-FB53B1ACBB38}"/>
              </a:ext>
            </a:extLst>
          </p:cNvPr>
          <p:cNvSpPr txBox="1"/>
          <p:nvPr/>
        </p:nvSpPr>
        <p:spPr>
          <a:xfrm>
            <a:off x="4230524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636648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9E7A596-A30A-4ADB-A047-53C7E13BF0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6" t="29749" r="49745" b="19212"/>
          <a:stretch/>
        </p:blipFill>
        <p:spPr>
          <a:xfrm>
            <a:off x="0" y="441344"/>
            <a:ext cx="5168347" cy="636572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2E8BBC1-736C-4E01-AFBB-812BA019F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010"/>
            <a:ext cx="5660524" cy="523220"/>
          </a:xfrm>
          <a:prstGeom prst="rect">
            <a:avLst/>
          </a:prstGeom>
          <a:solidFill>
            <a:srgbClr val="DCF0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EstadoIntroducirPrimerOperando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BBD4A5-A63F-4787-8F85-043049A95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375" y="-79653"/>
            <a:ext cx="686462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Inicialización (__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__):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Los dígitos introducidos por el usuario se almacenan en una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lista de caracteres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(ej. ['1', '2', '.', '3']).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Esto facilita validaciones y la construcción del número completo.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método protegido _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get_numero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convierte la lista de dígitos en un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número real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cuando se necesita.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Introducción de dígitos: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controla que solo pueda existir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 punto decimal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 hay un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cero inicial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introducir un nuevo cero no lo duplica.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 se introduce un punto con un cero inicial, se transforma en "0." en lugar de reemplazarlo.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Introducción de operadores: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 unario: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construye el número a partir de la lista.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aplica la operación unaria.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Transición al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EstadoInicial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 binario: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construye el número a partir de la lista.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transita a </a:t>
            </a:r>
            <a:r>
              <a:rPr kumimoji="0" lang="es-CO" altLang="es-CO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EstadoResultadoParcial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guardando: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Primer operando.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Número en pantalla.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Operador.</a:t>
            </a:r>
          </a:p>
        </p:txBody>
      </p:sp>
    </p:spTree>
    <p:extLst>
      <p:ext uri="{BB962C8B-B14F-4D97-AF65-F5344CB8AC3E}">
        <p14:creationId xmlns:p14="http://schemas.microsoft.com/office/powerpoint/2010/main" val="393285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84" y="14289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6A4DE-9EF4-4A22-9312-C1863E1AD0CA}"/>
              </a:ext>
            </a:extLst>
          </p:cNvPr>
          <p:cNvSpPr txBox="1"/>
          <p:nvPr/>
        </p:nvSpPr>
        <p:spPr>
          <a:xfrm>
            <a:off x="6483394" y="0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F05DB0-C695-4A5D-94E3-73C65B4EB8DC}"/>
              </a:ext>
            </a:extLst>
          </p:cNvPr>
          <p:cNvSpPr txBox="1"/>
          <p:nvPr/>
        </p:nvSpPr>
        <p:spPr>
          <a:xfrm>
            <a:off x="639033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983C47-977D-419F-9004-FB53B1ACBB38}"/>
              </a:ext>
            </a:extLst>
          </p:cNvPr>
          <p:cNvSpPr txBox="1"/>
          <p:nvPr/>
        </p:nvSpPr>
        <p:spPr>
          <a:xfrm>
            <a:off x="4230524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8DA572-07D6-41AF-80D9-E705196A5263}"/>
              </a:ext>
            </a:extLst>
          </p:cNvPr>
          <p:cNvSpPr txBox="1"/>
          <p:nvPr/>
        </p:nvSpPr>
        <p:spPr>
          <a:xfrm>
            <a:off x="8067028" y="4721522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838332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6C8BB3C-FB52-431E-8464-27EFAC61D865}"/>
              </a:ext>
            </a:extLst>
          </p:cNvPr>
          <p:cNvSpPr txBox="1"/>
          <p:nvPr/>
        </p:nvSpPr>
        <p:spPr>
          <a:xfrm>
            <a:off x="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CO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stado de Resultado </a:t>
            </a:r>
            <a:r>
              <a:rPr lang="es-CO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CO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arcial</a:t>
            </a:r>
            <a:endParaRPr lang="es-CO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DADA482-68AB-45A2-B1AE-65ED20B4EC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708008"/>
            <a:ext cx="5287617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Contexto: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Representa el momento en el que se ha introducido un primer operando y un operador binario, pero aún no hay segundo operando.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D6F4CA-ACBE-42DD-8204-1A76A35602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39" t="30715" r="41848" b="5292"/>
          <a:stretch/>
        </p:blipFill>
        <p:spPr>
          <a:xfrm>
            <a:off x="5287617" y="-1"/>
            <a:ext cx="6904383" cy="507855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386CA1C-BD8A-49D2-8AB8-943B66BAE0C1}"/>
              </a:ext>
            </a:extLst>
          </p:cNvPr>
          <p:cNvSpPr txBox="1"/>
          <p:nvPr/>
        </p:nvSpPr>
        <p:spPr>
          <a:xfrm>
            <a:off x="0" y="2433262"/>
            <a:ext cx="1168841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Operaciones destacadas: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Realiza la operación binaria usando: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primer operando.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número actualmente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mostrado en pantalla.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Devuelve el resultado.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Transita hacia el </a:t>
            </a:r>
            <a:r>
              <a:rPr kumimoji="0" lang="es-CO" altLang="es-CO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EstadoInicial</a:t>
            </a: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mostrando el resultado como nuevo valor.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Otros aspectos: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lógica es similar a los estados previos.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diferencia clave es que aquí la calculadora ya tiene información previa (primer operando + operador) y decide qué hacer si se presiona = antes de introducir un segundo número.</a:t>
            </a:r>
          </a:p>
        </p:txBody>
      </p:sp>
    </p:spTree>
    <p:extLst>
      <p:ext uri="{BB962C8B-B14F-4D97-AF65-F5344CB8AC3E}">
        <p14:creationId xmlns:p14="http://schemas.microsoft.com/office/powerpoint/2010/main" val="4185708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84" y="14289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6A4DE-9EF4-4A22-9312-C1863E1AD0CA}"/>
              </a:ext>
            </a:extLst>
          </p:cNvPr>
          <p:cNvSpPr txBox="1"/>
          <p:nvPr/>
        </p:nvSpPr>
        <p:spPr>
          <a:xfrm>
            <a:off x="6483394" y="0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F05DB0-C695-4A5D-94E3-73C65B4EB8DC}"/>
              </a:ext>
            </a:extLst>
          </p:cNvPr>
          <p:cNvSpPr txBox="1"/>
          <p:nvPr/>
        </p:nvSpPr>
        <p:spPr>
          <a:xfrm>
            <a:off x="639033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983C47-977D-419F-9004-FB53B1ACBB38}"/>
              </a:ext>
            </a:extLst>
          </p:cNvPr>
          <p:cNvSpPr txBox="1"/>
          <p:nvPr/>
        </p:nvSpPr>
        <p:spPr>
          <a:xfrm>
            <a:off x="4230524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8DA572-07D6-41AF-80D9-E705196A5263}"/>
              </a:ext>
            </a:extLst>
          </p:cNvPr>
          <p:cNvSpPr txBox="1"/>
          <p:nvPr/>
        </p:nvSpPr>
        <p:spPr>
          <a:xfrm>
            <a:off x="8067028" y="4721522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B581D3-9AEB-4A7F-9A67-22C7D349E158}"/>
              </a:ext>
            </a:extLst>
          </p:cNvPr>
          <p:cNvSpPr txBox="1"/>
          <p:nvPr/>
        </p:nvSpPr>
        <p:spPr>
          <a:xfrm>
            <a:off x="3843129" y="5032078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71707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8EC110C-B027-4DD1-8D03-76AA01F64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74"/>
            <a:ext cx="7598555" cy="584775"/>
          </a:xfrm>
          <a:prstGeom prst="rect">
            <a:avLst/>
          </a:prstGeom>
          <a:solidFill>
            <a:srgbClr val="DCF0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</a:rPr>
              <a:t>EstadoIntroduciendoSegundoOperando</a:t>
            </a:r>
            <a:r>
              <a:rPr kumimoji="0" lang="es-CO" altLang="es-CO" sz="3200" b="0" i="0" u="none" strike="noStrike" cap="none" normalizeH="0" baseline="0" dirty="0">
                <a:ln>
                  <a:noFill/>
                </a:ln>
                <a:solidFill>
                  <a:srgbClr val="2C2C2C"/>
                </a:solidFill>
                <a:effectLst/>
                <a:latin typeface="opensans-regular"/>
              </a:rPr>
              <a:t>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altLang="es-CO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9F4358-009E-45F2-93E2-EBDA11403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12" y="1498426"/>
            <a:ext cx="394914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Comportamiento: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introducir_operador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encadenar operaciones (usando el número ya introducido como nuevo operando).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transitar a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EstadoResultadoParcial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Ejecuta la operación binaria con: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 operando.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Segundo operando (obtenido de la lista de dígitos).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Devuelve el resultado y transita a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EstadoInicial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6FB8B2-F221-4915-B931-01C399268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04" t="29362" r="40888" b="18052"/>
          <a:stretch/>
        </p:blipFill>
        <p:spPr>
          <a:xfrm>
            <a:off x="4002157" y="1741645"/>
            <a:ext cx="8136831" cy="50319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2B87041-94EA-4BBC-8E5F-1A2641FA1288}"/>
              </a:ext>
            </a:extLst>
          </p:cNvPr>
          <p:cNvSpPr txBox="1"/>
          <p:nvPr/>
        </p:nvSpPr>
        <p:spPr>
          <a:xfrm>
            <a:off x="7598555" y="-12681"/>
            <a:ext cx="48187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Diferencias principales: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Solo redefine: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introducir_operador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calcular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 lo relacionado con la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entrada de dígitos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reutiliza de la clase padre.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CDD9E6-14FE-4CE9-B76C-25CE958771E2}"/>
              </a:ext>
            </a:extLst>
          </p:cNvPr>
          <p:cNvSpPr txBox="1"/>
          <p:nvPr/>
        </p:nvSpPr>
        <p:spPr>
          <a:xfrm>
            <a:off x="53012" y="571860"/>
            <a:ext cx="6288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Herencia: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Extiende de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EstadoIntroducirPrimerOperando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Comparte la lógica de gestión de dígitos y atributos.</a:t>
            </a:r>
          </a:p>
        </p:txBody>
      </p:sp>
    </p:spTree>
    <p:extLst>
      <p:ext uri="{BB962C8B-B14F-4D97-AF65-F5344CB8AC3E}">
        <p14:creationId xmlns:p14="http://schemas.microsoft.com/office/powerpoint/2010/main" val="3106872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mo hacer una calculadora en Python – Diagrama de Clases">
            <a:extLst>
              <a:ext uri="{FF2B5EF4-FFF2-40B4-BE49-F238E27FC236}">
                <a16:creationId xmlns:a16="http://schemas.microsoft.com/office/drawing/2014/main" id="{538D7BB9-DE06-47A5-899D-55100EDE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84" y="142890"/>
            <a:ext cx="10887431" cy="684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C4A5F7-8CAB-4D1C-9EA6-531B40E931FA}"/>
              </a:ext>
            </a:extLst>
          </p:cNvPr>
          <p:cNvSpPr txBox="1"/>
          <p:nvPr/>
        </p:nvSpPr>
        <p:spPr>
          <a:xfrm>
            <a:off x="1285461" y="19964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6A4DE-9EF4-4A22-9312-C1863E1AD0CA}"/>
              </a:ext>
            </a:extLst>
          </p:cNvPr>
          <p:cNvSpPr txBox="1"/>
          <p:nvPr/>
        </p:nvSpPr>
        <p:spPr>
          <a:xfrm>
            <a:off x="6483394" y="0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F05DB0-C695-4A5D-94E3-73C65B4EB8DC}"/>
              </a:ext>
            </a:extLst>
          </p:cNvPr>
          <p:cNvSpPr txBox="1"/>
          <p:nvPr/>
        </p:nvSpPr>
        <p:spPr>
          <a:xfrm>
            <a:off x="639033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983C47-977D-419F-9004-FB53B1ACBB38}"/>
              </a:ext>
            </a:extLst>
          </p:cNvPr>
          <p:cNvSpPr txBox="1"/>
          <p:nvPr/>
        </p:nvSpPr>
        <p:spPr>
          <a:xfrm>
            <a:off x="4230524" y="2816087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8DA572-07D6-41AF-80D9-E705196A5263}"/>
              </a:ext>
            </a:extLst>
          </p:cNvPr>
          <p:cNvSpPr txBox="1"/>
          <p:nvPr/>
        </p:nvSpPr>
        <p:spPr>
          <a:xfrm>
            <a:off x="8067028" y="4721522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B581D3-9AEB-4A7F-9A67-22C7D349E158}"/>
              </a:ext>
            </a:extLst>
          </p:cNvPr>
          <p:cNvSpPr txBox="1"/>
          <p:nvPr/>
        </p:nvSpPr>
        <p:spPr>
          <a:xfrm>
            <a:off x="3843129" y="5032078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7FBD88-7917-4726-9FE3-5905A3E44338}"/>
              </a:ext>
            </a:extLst>
          </p:cNvPr>
          <p:cNvSpPr txBox="1"/>
          <p:nvPr/>
        </p:nvSpPr>
        <p:spPr>
          <a:xfrm>
            <a:off x="8454423" y="2505531"/>
            <a:ext cx="225287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3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4015719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20C5D31-C34D-4BA3-B307-CD60C0D47B42}"/>
              </a:ext>
            </a:extLst>
          </p:cNvPr>
          <p:cNvSpPr txBox="1"/>
          <p:nvPr/>
        </p:nvSpPr>
        <p:spPr>
          <a:xfrm>
            <a:off x="-26503" y="0"/>
            <a:ext cx="4253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800" dirty="0">
                <a:solidFill>
                  <a:srgbClr val="FF0000"/>
                </a:solidFill>
                <a:latin typeface="opensans-regular"/>
              </a:rPr>
              <a:t>E</a:t>
            </a:r>
            <a:r>
              <a:rPr lang="es-CO" sz="4800" b="0" i="0" dirty="0">
                <a:solidFill>
                  <a:srgbClr val="FF0000"/>
                </a:solidFill>
                <a:effectLst/>
                <a:latin typeface="opensans-regular"/>
              </a:rPr>
              <a:t>stado de Error:</a:t>
            </a:r>
            <a:endParaRPr lang="es-CO" sz="4800" dirty="0">
              <a:solidFill>
                <a:srgbClr val="FF000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3CB810-BDCA-487A-AC73-52D51137A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65" y="830997"/>
            <a:ext cx="475090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más sencilla de todas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redefine los métodos de la clase padre → hereda los comportamientos por defecto (no hacer nada).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Esto es intencional: en estado de error la calculadora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debe responder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nuevas entradas.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Obligación: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Implementar el método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valor_actual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Devuelve un </a:t>
            </a: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mensaje de error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mostrar en pantalla (ej. "ERROR").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4D4552-A2B7-4E42-B121-B60D3F1492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22" t="36708" r="67717" b="42992"/>
          <a:stretch/>
        </p:blipFill>
        <p:spPr>
          <a:xfrm>
            <a:off x="5267738" y="384312"/>
            <a:ext cx="5711686" cy="3139933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F111666-22DD-4CEE-A9B6-F9E67FB71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491" y="4808040"/>
            <a:ext cx="683811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Ventajas del patrón Estado:</a:t>
            </a: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repartir responsabilidades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varias clases.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 un código lleno de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condicionales anidados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modular, extensible y mantenible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626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ADC3F-6AE2-4D9C-BBFD-1EE96BE2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7776"/>
            <a:ext cx="12191999" cy="955329"/>
          </a:xfrm>
        </p:spPr>
        <p:txBody>
          <a:bodyPr>
            <a:noAutofit/>
          </a:bodyPr>
          <a:lstStyle/>
          <a:p>
            <a:pPr algn="ctr"/>
            <a:r>
              <a:rPr lang="es-ES" sz="5000" b="1" dirty="0">
                <a:solidFill>
                  <a:srgbClr val="FF0000"/>
                </a:solidFill>
              </a:rPr>
              <a:t>Test de la Calculadora &lt;-&gt; En terminal de Python</a:t>
            </a:r>
            <a:endParaRPr lang="es-CO" sz="5000" b="1" dirty="0">
              <a:solidFill>
                <a:srgbClr val="FF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17FC17-54B1-410E-A380-9630EE671ABD}"/>
              </a:ext>
            </a:extLst>
          </p:cNvPr>
          <p:cNvSpPr txBox="1"/>
          <p:nvPr/>
        </p:nvSpPr>
        <p:spPr>
          <a:xfrm>
            <a:off x="823292" y="1435383"/>
            <a:ext cx="416118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 err="1"/>
              <a:t>from</a:t>
            </a:r>
            <a:r>
              <a:rPr lang="es-CO" sz="2000" dirty="0"/>
              <a:t> calculadora </a:t>
            </a:r>
            <a:r>
              <a:rPr lang="es-CO" sz="2000" dirty="0" err="1"/>
              <a:t>import</a:t>
            </a:r>
            <a:r>
              <a:rPr lang="es-CO" sz="2000" dirty="0"/>
              <a:t> Calculadora</a:t>
            </a:r>
          </a:p>
          <a:p>
            <a:br>
              <a:rPr lang="es-CO" sz="2000" dirty="0"/>
            </a:br>
            <a:r>
              <a:rPr lang="es-CO" sz="2000" dirty="0"/>
              <a:t># Creamos una calculadora</a:t>
            </a:r>
          </a:p>
          <a:p>
            <a:r>
              <a:rPr lang="es-CO" sz="2000" dirty="0"/>
              <a:t>c = Calculadora()</a:t>
            </a:r>
          </a:p>
          <a:p>
            <a:endParaRPr lang="es-CO" sz="2000" dirty="0"/>
          </a:p>
          <a:p>
            <a:r>
              <a:rPr lang="es-CO" sz="2000" dirty="0" err="1">
                <a:solidFill>
                  <a:srgbClr val="FF0000"/>
                </a:solidFill>
              </a:rPr>
              <a:t>print</a:t>
            </a:r>
            <a:r>
              <a:rPr lang="es-CO" sz="2000" dirty="0">
                <a:solidFill>
                  <a:srgbClr val="FF0000"/>
                </a:solidFill>
              </a:rPr>
              <a:t>("=== TEST 1: -34 + √4 ===")</a:t>
            </a:r>
          </a:p>
          <a:p>
            <a:r>
              <a:rPr lang="es-CO" sz="2000" dirty="0" err="1"/>
              <a:t>c.introducir_digito</a:t>
            </a:r>
            <a:r>
              <a:rPr lang="es-CO" sz="2000" dirty="0"/>
              <a:t>("-")</a:t>
            </a:r>
          </a:p>
          <a:p>
            <a:r>
              <a:rPr lang="es-CO" sz="2000" dirty="0" err="1"/>
              <a:t>c.introducir_digito</a:t>
            </a:r>
            <a:r>
              <a:rPr lang="es-CO" sz="2000" dirty="0"/>
              <a:t>("3")</a:t>
            </a:r>
          </a:p>
          <a:p>
            <a:r>
              <a:rPr lang="es-CO" sz="2000" dirty="0" err="1"/>
              <a:t>c.introducir_digito</a:t>
            </a:r>
            <a:r>
              <a:rPr lang="es-CO" sz="2000" dirty="0"/>
              <a:t>("4")</a:t>
            </a:r>
          </a:p>
          <a:p>
            <a:r>
              <a:rPr lang="es-CO" sz="2000" dirty="0" err="1"/>
              <a:t>print</a:t>
            </a:r>
            <a:r>
              <a:rPr lang="es-CO" sz="2000" dirty="0"/>
              <a:t>("Pantalla:", </a:t>
            </a:r>
            <a:r>
              <a:rPr lang="es-CO" sz="2000" dirty="0" err="1"/>
              <a:t>c.mostrar</a:t>
            </a:r>
            <a:r>
              <a:rPr lang="es-CO" sz="2000" dirty="0"/>
              <a:t>())   # -34</a:t>
            </a:r>
          </a:p>
          <a:p>
            <a:endParaRPr lang="es-CO" sz="2000" dirty="0"/>
          </a:p>
          <a:p>
            <a:r>
              <a:rPr lang="es-CO" sz="2000" dirty="0" err="1"/>
              <a:t>c.introducir_operador</a:t>
            </a:r>
            <a:r>
              <a:rPr lang="es-CO" sz="2000" dirty="0"/>
              <a:t>("+")</a:t>
            </a:r>
          </a:p>
          <a:p>
            <a:r>
              <a:rPr lang="es-CO" sz="2000" dirty="0" err="1"/>
              <a:t>print</a:t>
            </a:r>
            <a:r>
              <a:rPr lang="es-CO" sz="2000" dirty="0"/>
              <a:t>("Pantalla:", </a:t>
            </a:r>
            <a:r>
              <a:rPr lang="es-CO" sz="2000" dirty="0" err="1"/>
              <a:t>c.mostrar</a:t>
            </a:r>
            <a:r>
              <a:rPr lang="es-CO" sz="2000" dirty="0"/>
              <a:t>())   # -34</a:t>
            </a:r>
          </a:p>
          <a:p>
            <a:endParaRPr lang="es-CO" sz="2000" dirty="0"/>
          </a:p>
          <a:p>
            <a:r>
              <a:rPr lang="es-CO" sz="2000" dirty="0" err="1"/>
              <a:t>c.introducir_operador</a:t>
            </a:r>
            <a:r>
              <a:rPr lang="es-CO" sz="2000" dirty="0"/>
              <a:t>("√")</a:t>
            </a:r>
          </a:p>
          <a:p>
            <a:r>
              <a:rPr lang="es-CO" sz="2000" dirty="0" err="1"/>
              <a:t>c.introducir_digito</a:t>
            </a:r>
            <a:r>
              <a:rPr lang="es-CO" sz="2000" dirty="0"/>
              <a:t>("4")</a:t>
            </a:r>
          </a:p>
          <a:p>
            <a:r>
              <a:rPr lang="es-CO" sz="2000" dirty="0" err="1"/>
              <a:t>print</a:t>
            </a:r>
            <a:r>
              <a:rPr lang="es-CO" sz="2000" dirty="0"/>
              <a:t>("Pantalla:", </a:t>
            </a:r>
            <a:r>
              <a:rPr lang="es-CO" sz="2000" dirty="0" err="1"/>
              <a:t>c.mostrar</a:t>
            </a:r>
            <a:r>
              <a:rPr lang="es-CO" sz="2000" dirty="0"/>
              <a:t>())   # 2.0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1DF215-E069-4855-AD10-0AEE50347E26}"/>
              </a:ext>
            </a:extLst>
          </p:cNvPr>
          <p:cNvSpPr txBox="1"/>
          <p:nvPr/>
        </p:nvSpPr>
        <p:spPr>
          <a:xfrm>
            <a:off x="5595729" y="1419994"/>
            <a:ext cx="61291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 err="1"/>
              <a:t>c.calcular</a:t>
            </a:r>
            <a:r>
              <a:rPr lang="es-CO" sz="1800" dirty="0"/>
              <a:t>()</a:t>
            </a:r>
          </a:p>
          <a:p>
            <a:r>
              <a:rPr lang="es-CO" sz="1800" dirty="0" err="1"/>
              <a:t>print</a:t>
            </a:r>
            <a:r>
              <a:rPr lang="es-CO" sz="1800" dirty="0"/>
              <a:t>("Resultado final:", </a:t>
            </a:r>
            <a:r>
              <a:rPr lang="es-CO" sz="1800" dirty="0" err="1"/>
              <a:t>c.mostrar</a:t>
            </a:r>
            <a:r>
              <a:rPr lang="es-CO" sz="1800" dirty="0"/>
              <a:t>())</a:t>
            </a:r>
          </a:p>
          <a:p>
            <a:endParaRPr lang="es-CO" dirty="0"/>
          </a:p>
          <a:p>
            <a:r>
              <a:rPr lang="es-CO" dirty="0" err="1">
                <a:solidFill>
                  <a:srgbClr val="FF0000"/>
                </a:solidFill>
              </a:rPr>
              <a:t>print</a:t>
            </a:r>
            <a:r>
              <a:rPr lang="es-CO" dirty="0">
                <a:solidFill>
                  <a:srgbClr val="FF0000"/>
                </a:solidFill>
              </a:rPr>
              <a:t>("\n=== TEST 2: 5 + 7 ===")</a:t>
            </a:r>
          </a:p>
          <a:p>
            <a:r>
              <a:rPr lang="es-CO" dirty="0"/>
              <a:t>c = Calculadora()</a:t>
            </a:r>
          </a:p>
          <a:p>
            <a:r>
              <a:rPr lang="es-CO" dirty="0" err="1"/>
              <a:t>c.introducir_digito</a:t>
            </a:r>
            <a:r>
              <a:rPr lang="es-CO" dirty="0"/>
              <a:t>("5")</a:t>
            </a:r>
          </a:p>
          <a:p>
            <a:r>
              <a:rPr lang="es-CO" dirty="0" err="1"/>
              <a:t>c.introducir_operador</a:t>
            </a:r>
            <a:r>
              <a:rPr lang="es-CO" dirty="0"/>
              <a:t>("+")</a:t>
            </a:r>
          </a:p>
          <a:p>
            <a:r>
              <a:rPr lang="es-CO" dirty="0" err="1"/>
              <a:t>c.introducir_digito</a:t>
            </a:r>
            <a:r>
              <a:rPr lang="es-CO" dirty="0"/>
              <a:t>("7")</a:t>
            </a:r>
          </a:p>
          <a:p>
            <a:r>
              <a:rPr lang="es-CO" dirty="0" err="1"/>
              <a:t>c.calcular</a:t>
            </a:r>
            <a:r>
              <a:rPr lang="es-CO" dirty="0"/>
              <a:t>()</a:t>
            </a:r>
          </a:p>
          <a:p>
            <a:r>
              <a:rPr lang="es-CO" dirty="0" err="1"/>
              <a:t>print</a:t>
            </a:r>
            <a:r>
              <a:rPr lang="es-CO" dirty="0"/>
              <a:t>("Resultado final:", </a:t>
            </a:r>
            <a:r>
              <a:rPr lang="es-CO" dirty="0" err="1"/>
              <a:t>c.mostrar</a:t>
            </a:r>
            <a:r>
              <a:rPr lang="es-CO" dirty="0"/>
              <a:t>())   # 12.0 </a:t>
            </a:r>
          </a:p>
          <a:p>
            <a:endParaRPr lang="es-CO" dirty="0"/>
          </a:p>
          <a:p>
            <a:endParaRPr lang="es-CO" dirty="0"/>
          </a:p>
          <a:p>
            <a:r>
              <a:rPr lang="es-CO" dirty="0" err="1">
                <a:solidFill>
                  <a:srgbClr val="FF0000"/>
                </a:solidFill>
              </a:rPr>
              <a:t>print</a:t>
            </a:r>
            <a:r>
              <a:rPr lang="es-CO" dirty="0">
                <a:solidFill>
                  <a:srgbClr val="FF0000"/>
                </a:solidFill>
              </a:rPr>
              <a:t>("\n=== TEST 3: 8 / 0 ===")</a:t>
            </a:r>
          </a:p>
          <a:p>
            <a:r>
              <a:rPr lang="es-CO" dirty="0"/>
              <a:t>c = Calculadora()</a:t>
            </a:r>
          </a:p>
          <a:p>
            <a:r>
              <a:rPr lang="es-CO" dirty="0" err="1"/>
              <a:t>c.introducir_digito</a:t>
            </a:r>
            <a:r>
              <a:rPr lang="es-CO" dirty="0"/>
              <a:t>("8")</a:t>
            </a:r>
          </a:p>
          <a:p>
            <a:r>
              <a:rPr lang="es-CO" dirty="0" err="1"/>
              <a:t>c.introducir_operador</a:t>
            </a:r>
            <a:r>
              <a:rPr lang="es-CO" dirty="0"/>
              <a:t>("/")</a:t>
            </a:r>
          </a:p>
          <a:p>
            <a:r>
              <a:rPr lang="es-CO" dirty="0" err="1"/>
              <a:t>c.introducir_digito</a:t>
            </a:r>
            <a:r>
              <a:rPr lang="es-CO" dirty="0"/>
              <a:t>("0")</a:t>
            </a:r>
          </a:p>
          <a:p>
            <a:r>
              <a:rPr lang="es-CO" dirty="0" err="1"/>
              <a:t>c.calcular</a:t>
            </a:r>
            <a:r>
              <a:rPr lang="es-CO" dirty="0"/>
              <a:t>()</a:t>
            </a:r>
          </a:p>
          <a:p>
            <a:r>
              <a:rPr lang="es-CO" dirty="0" err="1"/>
              <a:t>print</a:t>
            </a:r>
            <a:r>
              <a:rPr lang="es-CO" dirty="0"/>
              <a:t>("Resultado final:", </a:t>
            </a:r>
            <a:r>
              <a:rPr lang="es-CO" dirty="0" err="1"/>
              <a:t>c.mostrar</a:t>
            </a:r>
            <a:r>
              <a:rPr lang="es-CO" dirty="0"/>
              <a:t>()) </a:t>
            </a:r>
          </a:p>
        </p:txBody>
      </p:sp>
    </p:spTree>
    <p:extLst>
      <p:ext uri="{BB962C8B-B14F-4D97-AF65-F5344CB8AC3E}">
        <p14:creationId xmlns:p14="http://schemas.microsoft.com/office/powerpoint/2010/main" val="3630643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1589</Words>
  <Application>Microsoft Office PowerPoint</Application>
  <PresentationFormat>Panorámica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Arial Unicode MS</vt:lpstr>
      <vt:lpstr>Calibri</vt:lpstr>
      <vt:lpstr>Calibri Light</vt:lpstr>
      <vt:lpstr>Lato</vt:lpstr>
      <vt:lpstr>opensans-regular</vt:lpstr>
      <vt:lpstr>Tema de Office</vt:lpstr>
      <vt:lpstr>Desarrollo de Software Científico Colaborativo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Test de la Calculadora &lt;-&gt; En terminal de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Software Científico Colaborativo</dc:title>
  <dc:creator>CARLOS ANDRES GOMEZ VASCO</dc:creator>
  <cp:lastModifiedBy>CARLOS ANDRES GOMEZ VASCO</cp:lastModifiedBy>
  <cp:revision>19</cp:revision>
  <dcterms:created xsi:type="dcterms:W3CDTF">2025-09-16T16:53:44Z</dcterms:created>
  <dcterms:modified xsi:type="dcterms:W3CDTF">2025-09-21T18:33:39Z</dcterms:modified>
</cp:coreProperties>
</file>